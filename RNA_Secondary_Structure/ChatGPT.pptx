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17"/>
  </p:notesMasterIdLst>
  <p:handoutMasterIdLst>
    <p:handoutMasterId r:id="rId18"/>
  </p:handoutMasterIdLst>
  <p:sldIdLst>
    <p:sldId id="262" r:id="rId5"/>
    <p:sldId id="259" r:id="rId6"/>
    <p:sldId id="263" r:id="rId7"/>
    <p:sldId id="265" r:id="rId8"/>
    <p:sldId id="266" r:id="rId9"/>
    <p:sldId id="258" r:id="rId10"/>
    <p:sldId id="268" r:id="rId11"/>
    <p:sldId id="267" r:id="rId12"/>
    <p:sldId id="269" r:id="rId13"/>
    <p:sldId id="270" r:id="rId14"/>
    <p:sldId id="271" r:id="rId15"/>
    <p:sldId id="260" r:id="rId16"/>
  </p:sldIdLst>
  <p:sldSz cx="12192000" cy="6858000"/>
  <p:notesSz cx="6858000" cy="9144000"/>
  <p:defaultTextStyle>
    <a:defPPr rtl="0">
      <a:defRPr lang="el-G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Προεπιλεγμένη ενότητα" id="{60DBA4F8-E2C7-4E63-BDD2-11FB1314AAA1}">
          <p14:sldIdLst>
            <p14:sldId id="262"/>
            <p14:sldId id="259"/>
            <p14:sldId id="263"/>
            <p14:sldId id="265"/>
            <p14:sldId id="266"/>
            <p14:sldId id="258"/>
            <p14:sldId id="268"/>
            <p14:sldId id="267"/>
            <p14:sldId id="269"/>
            <p14:sldId id="270"/>
            <p14:sldId id="271"/>
            <p14:sldId id="26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160"/>
    <a:srgbClr val="3D3D3D"/>
    <a:srgbClr val="585858"/>
    <a:srgbClr val="1C3565"/>
    <a:srgbClr val="1D3565"/>
    <a:srgbClr val="193262"/>
    <a:srgbClr val="193160"/>
    <a:srgbClr val="19315F"/>
    <a:srgbClr val="193362"/>
    <a:srgbClr val="193464"/>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6" autoAdjust="0"/>
    <p:restoredTop sz="84536" autoAdjust="0"/>
  </p:normalViewPr>
  <p:slideViewPr>
    <p:cSldViewPr snapToGrid="0">
      <p:cViewPr>
        <p:scale>
          <a:sx n="100" d="100"/>
          <a:sy n="100" d="100"/>
        </p:scale>
        <p:origin x="1032" y="3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296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en-US" noProof="0" dirty="0"/>
            <a:t>Use on Projects</a:t>
          </a:r>
          <a:endParaRPr lang="el-GR" noProof="0" dirty="0"/>
        </a:p>
      </dgm:t>
    </dgm:pt>
    <dgm:pt modelId="{720680DC-AAA4-4434-A582-60EBCC5BA355}" type="parTrans" cxnId="{0B5DAE5F-BCDC-4BF7-A6E7-CF856886A64D}">
      <dgm:prSet/>
      <dgm:spPr/>
      <dgm:t>
        <a:bodyPr rtlCol="0"/>
        <a:lstStyle/>
        <a:p>
          <a:pPr rtl="0"/>
          <a:endParaRPr lang="el-GR" noProof="0" dirty="0"/>
        </a:p>
      </dgm:t>
    </dgm:pt>
    <dgm:pt modelId="{CA077D98-8478-47EA-B6A9-99ACE60C64D4}" type="sibTrans" cxnId="{0B5DAE5F-BCDC-4BF7-A6E7-CF856886A64D}">
      <dgm:prSet/>
      <dgm:spPr/>
      <dgm:t>
        <a:bodyPr rtlCol="0"/>
        <a:lstStyle/>
        <a:p>
          <a:pPr rtl="0"/>
          <a:endParaRPr lang="el-GR" noProof="0" dirty="0"/>
        </a:p>
      </dgm:t>
    </dgm:pt>
    <dgm:pt modelId="{0BEF68B8-1228-47BB-83B5-7B9CD1E3F84E}">
      <dgm:prSet phldrT="[Text]"/>
      <dgm:spPr/>
      <dgm:t>
        <a:bodyPr rtlCol="0"/>
        <a:lstStyle/>
        <a:p>
          <a:pPr rtl="0">
            <a:lnSpc>
              <a:spcPct val="100000"/>
            </a:lnSpc>
          </a:pPr>
          <a:r>
            <a:rPr lang="en-US" noProof="0" dirty="0"/>
            <a:t>Functionality of Results</a:t>
          </a:r>
          <a:endParaRPr lang="el-GR" noProof="0" dirty="0"/>
        </a:p>
      </dgm:t>
    </dgm:pt>
    <dgm:pt modelId="{ED3A4BC2-B75A-4952-A38B-A42B5995DF05}" type="parTrans" cxnId="{EDEF4F82-1237-4639-A0F7-385C1897CE66}">
      <dgm:prSet/>
      <dgm:spPr/>
      <dgm:t>
        <a:bodyPr rtlCol="0"/>
        <a:lstStyle/>
        <a:p>
          <a:pPr rtl="0"/>
          <a:endParaRPr lang="el-GR" noProof="0" dirty="0"/>
        </a:p>
      </dgm:t>
    </dgm:pt>
    <dgm:pt modelId="{FD949706-EDCC-4ADC-8EDF-8EDA49C92325}" type="sibTrans" cxnId="{EDEF4F82-1237-4639-A0F7-385C1897CE66}">
      <dgm:prSet/>
      <dgm:spPr/>
      <dgm:t>
        <a:bodyPr rtlCol="0"/>
        <a:lstStyle/>
        <a:p>
          <a:pPr rtl="0"/>
          <a:endParaRPr lang="el-GR" noProof="0" dirty="0"/>
        </a:p>
      </dgm:t>
    </dgm:pt>
    <dgm:pt modelId="{5605D28D-2CE6-4513-8566-952984E21E14}">
      <dgm:prSet phldrT="[Text]"/>
      <dgm:spPr/>
      <dgm:t>
        <a:bodyPr rtlCol="0"/>
        <a:lstStyle/>
        <a:p>
          <a:pPr rtl="0">
            <a:lnSpc>
              <a:spcPct val="100000"/>
            </a:lnSpc>
          </a:pPr>
          <a:r>
            <a:rPr lang="en-US" noProof="0" dirty="0"/>
            <a:t>Quality of Results</a:t>
          </a:r>
          <a:endParaRPr lang="el-GR" noProof="0" dirty="0"/>
        </a:p>
      </dgm:t>
    </dgm:pt>
    <dgm:pt modelId="{EB15AB98-362B-4E70-A3DA-995FC3E8BA79}" type="parTrans" cxnId="{FAF3F884-F0CF-440F-8CB1-B7648AB1B138}">
      <dgm:prSet/>
      <dgm:spPr/>
      <dgm:t>
        <a:bodyPr rtlCol="0"/>
        <a:lstStyle/>
        <a:p>
          <a:pPr rtl="0"/>
          <a:endParaRPr lang="el-GR" noProof="0" dirty="0"/>
        </a:p>
      </dgm:t>
    </dgm:pt>
    <dgm:pt modelId="{823D1971-2C4D-4EC5-A874-2F463DE37109}" type="sibTrans" cxnId="{FAF3F884-F0CF-440F-8CB1-B7648AB1B138}">
      <dgm:prSet/>
      <dgm:spPr/>
      <dgm:t>
        <a:bodyPr rtlCol="0"/>
        <a:lstStyle/>
        <a:p>
          <a:pPr rtl="0"/>
          <a:endParaRPr lang="el-GR" noProof="0" dirty="0"/>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3"/>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3"/>
      <dgm:spPr/>
    </dgm:pt>
    <dgm:pt modelId="{429CABD1-4116-474B-81BF-735E2CA9DD00}" type="pres">
      <dgm:prSet presAssocID="{7E5AA53B-3EEE-4DE4-BB81-9044890C2946}" presName="dstNode" presStyleLbl="node1" presStyleIdx="0" presStyleCnt="3"/>
      <dgm:spPr/>
    </dgm:pt>
    <dgm:pt modelId="{58319267-C71E-43C9-94E1-827D0616C7A7}" type="pres">
      <dgm:prSet presAssocID="{6750AC01-D39D-4F3A-9DC8-2A211EE986A2}" presName="text_1" presStyleLbl="node1" presStyleIdx="0" presStyleCnt="3">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3"/>
      <dgm:spPr/>
    </dgm:pt>
    <dgm:pt modelId="{95DE6538-27BD-44AF-A1A8-CA8F6B10FDD2}" type="pres">
      <dgm:prSet presAssocID="{0BEF68B8-1228-47BB-83B5-7B9CD1E3F84E}" presName="text_2" presStyleLbl="node1" presStyleIdx="1" presStyleCnt="3">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3"/>
      <dgm:spPr/>
    </dgm:pt>
    <dgm:pt modelId="{E131CE4A-9776-44F4-BC03-867682E21374}" type="pres">
      <dgm:prSet presAssocID="{5605D28D-2CE6-4513-8566-952984E21E14}" presName="text_3" presStyleLbl="node1" presStyleIdx="2" presStyleCnt="3">
        <dgm:presLayoutVars>
          <dgm:bulletEnabled val="1"/>
        </dgm:presLayoutVars>
      </dgm:prSet>
      <dgm:spPr/>
    </dgm:pt>
    <dgm:pt modelId="{AC9A216A-8375-48F9-A4E6-8E0B64C0209B}"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3"/>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29DA474E-5DFA-4C66-882F-319C49ABBB19}" type="presOf" srcId="{6750AC01-D39D-4F3A-9DC8-2A211EE986A2}" destId="{58319267-C71E-43C9-94E1-827D0616C7A7}" srcOrd="0" destOrd="0" presId="urn:microsoft.com/office/officeart/2008/layout/VerticalCurvedList"/>
    <dgm:cxn modelId="{7084AA77-BACB-46CB-AE4A-77B62D3ED1AF}" type="presOf" srcId="{5605D28D-2CE6-4513-8566-952984E21E14}" destId="{E131CE4A-9776-44F4-BC03-867682E21374}"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987EB7C0-CA3E-4874-85E0-01E9060A2D35}" type="presParOf" srcId="{90561C55-3C6E-4D53-85E1-2C50BCDDA392}" destId="{E131CE4A-9776-44F4-BC03-867682E21374}" srcOrd="5" destOrd="0" presId="urn:microsoft.com/office/officeart/2008/layout/VerticalCurvedList"/>
    <dgm:cxn modelId="{91E55363-8DCA-455E-A203-06A9410994CB}" type="presParOf" srcId="{90561C55-3C6E-4D53-85E1-2C50BCDDA392}" destId="{AC9A216A-8375-48F9-A4E6-8E0B64C0209B}" srcOrd="6" destOrd="0" presId="urn:microsoft.com/office/officeart/2008/layout/VerticalCurvedList"/>
    <dgm:cxn modelId="{D866D586-1293-4049-B6E3-B467C1D5ED64}" type="presParOf" srcId="{AC9A216A-8375-48F9-A4E6-8E0B64C0209B}" destId="{A965097E-32F1-4AB8-8C4E-2814A7596B2F}"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96568" y="356393"/>
          <a:ext cx="10385235"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6360" rIns="86360" bIns="86360" numCol="1" spcCol="1270" rtlCol="0" anchor="ctr" anchorCtr="0">
          <a:noAutofit/>
        </a:bodyPr>
        <a:lstStyle/>
        <a:p>
          <a:pPr marL="0" lvl="0" indent="0" algn="l" defTabSz="1511300" rtl="0">
            <a:lnSpc>
              <a:spcPct val="100000"/>
            </a:lnSpc>
            <a:spcBef>
              <a:spcPct val="0"/>
            </a:spcBef>
            <a:spcAft>
              <a:spcPct val="35000"/>
            </a:spcAft>
            <a:buNone/>
          </a:pPr>
          <a:r>
            <a:rPr lang="en-US" sz="3400" kern="1200" noProof="0" dirty="0"/>
            <a:t>Use on Projects</a:t>
          </a:r>
          <a:endParaRPr lang="el-GR" sz="3400" kern="1200" noProof="0" dirty="0"/>
        </a:p>
      </dsp:txBody>
      <dsp:txXfrm>
        <a:off x="496568" y="356393"/>
        <a:ext cx="10385235" cy="712787"/>
      </dsp:txXfrm>
    </dsp:sp>
    <dsp:sp modelId="{07CB3071-D555-47DA-A36A-69EB91531FD8}">
      <dsp:nvSpPr>
        <dsp:cNvPr id="0" name=""/>
        <dsp:cNvSpPr/>
      </dsp:nvSpPr>
      <dsp:spPr>
        <a:xfrm>
          <a:off x="51076" y="267295"/>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755666" y="1425575"/>
          <a:ext cx="10126136"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6360" rIns="86360" bIns="86360" numCol="1" spcCol="1270" rtlCol="0" anchor="ctr" anchorCtr="0">
          <a:noAutofit/>
        </a:bodyPr>
        <a:lstStyle/>
        <a:p>
          <a:pPr marL="0" lvl="0" indent="0" algn="l" defTabSz="1511300" rtl="0">
            <a:lnSpc>
              <a:spcPct val="100000"/>
            </a:lnSpc>
            <a:spcBef>
              <a:spcPct val="0"/>
            </a:spcBef>
            <a:spcAft>
              <a:spcPct val="35000"/>
            </a:spcAft>
            <a:buNone/>
          </a:pPr>
          <a:r>
            <a:rPr lang="en-US" sz="3400" kern="1200" noProof="0" dirty="0"/>
            <a:t>Functionality of Results</a:t>
          </a:r>
          <a:endParaRPr lang="el-GR" sz="3400" kern="1200" noProof="0" dirty="0"/>
        </a:p>
      </dsp:txBody>
      <dsp:txXfrm>
        <a:off x="755666" y="1425575"/>
        <a:ext cx="10126136" cy="712787"/>
      </dsp:txXfrm>
    </dsp:sp>
    <dsp:sp modelId="{3F8116AC-FAC3-4E95-9865-93CCFEB191B9}">
      <dsp:nvSpPr>
        <dsp:cNvPr id="0" name=""/>
        <dsp:cNvSpPr/>
      </dsp:nvSpPr>
      <dsp:spPr>
        <a:xfrm>
          <a:off x="310174" y="1336476"/>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131CE4A-9776-44F4-BC03-867682E21374}">
      <dsp:nvSpPr>
        <dsp:cNvPr id="0" name=""/>
        <dsp:cNvSpPr/>
      </dsp:nvSpPr>
      <dsp:spPr>
        <a:xfrm>
          <a:off x="496568" y="2494756"/>
          <a:ext cx="10385235" cy="712787"/>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65775" tIns="86360" rIns="86360" bIns="86360" numCol="1" spcCol="1270" rtlCol="0" anchor="ctr" anchorCtr="0">
          <a:noAutofit/>
        </a:bodyPr>
        <a:lstStyle/>
        <a:p>
          <a:pPr marL="0" lvl="0" indent="0" algn="l" defTabSz="1511300" rtl="0">
            <a:lnSpc>
              <a:spcPct val="100000"/>
            </a:lnSpc>
            <a:spcBef>
              <a:spcPct val="0"/>
            </a:spcBef>
            <a:spcAft>
              <a:spcPct val="35000"/>
            </a:spcAft>
            <a:buNone/>
          </a:pPr>
          <a:r>
            <a:rPr lang="en-US" sz="3400" kern="1200" noProof="0" dirty="0"/>
            <a:t>Quality of Results</a:t>
          </a:r>
          <a:endParaRPr lang="el-GR" sz="3400" kern="1200" noProof="0" dirty="0"/>
        </a:p>
      </dsp:txBody>
      <dsp:txXfrm>
        <a:off x="496568" y="2494756"/>
        <a:ext cx="10385235" cy="712787"/>
      </dsp:txXfrm>
    </dsp:sp>
    <dsp:sp modelId="{A965097E-32F1-4AB8-8C4E-2814A7596B2F}">
      <dsp:nvSpPr>
        <dsp:cNvPr id="0" name=""/>
        <dsp:cNvSpPr/>
      </dsp:nvSpPr>
      <dsp:spPr>
        <a:xfrm>
          <a:off x="51076" y="2405658"/>
          <a:ext cx="890984" cy="890984"/>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a:p>
        </p:txBody>
      </p:sp>
      <p:sp>
        <p:nvSpPr>
          <p:cNvPr id="3" name="Θέση ημερομηνίας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989CEA1-E749-494C-AD44-096A79C0D099}" type="datetime1">
              <a:rPr lang="el-GR" smtClean="0"/>
              <a:t>25/5/2023</a:t>
            </a:fld>
            <a:endParaRPr lang="el-GR"/>
          </a:p>
        </p:txBody>
      </p:sp>
      <p:sp>
        <p:nvSpPr>
          <p:cNvPr id="4" name="Θέση υποσέλιδου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a:p>
        </p:txBody>
      </p:sp>
      <p:sp>
        <p:nvSpPr>
          <p:cNvPr id="5" name="Θέση αριθμού διαφάνειας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el-GR" smtClean="0"/>
              <a:t>‹#›</a:t>
            </a:fld>
            <a:endParaRPr lang="el-G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noProof="0"/>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821F92E-8357-45A9-A750-682B497434C8}" type="datetime1">
              <a:rPr lang="el-GR" noProof="0" smtClean="0"/>
              <a:t>25/5/2023</a:t>
            </a:fld>
            <a:endParaRPr lang="el-GR" noProof="0"/>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l-GR" noProof="0"/>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l-GR" noProof="0"/>
              <a:t>Στυλ υποδείγματος κειμένου</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noProof="0"/>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el-GR" noProof="0" smtClean="0"/>
              <a:t>‹#›</a:t>
            </a:fld>
            <a:endParaRPr lang="el-GR"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rtlCol="0"/>
          <a:lstStyle/>
          <a:p>
            <a:pPr rtl="0"/>
            <a:endParaRPr lang="el-GR" dirty="0"/>
          </a:p>
        </p:txBody>
      </p:sp>
      <p:sp>
        <p:nvSpPr>
          <p:cNvPr id="4" name="Θέση αριθμού διαφάνειας 3"/>
          <p:cNvSpPr>
            <a:spLocks noGrp="1"/>
          </p:cNvSpPr>
          <p:nvPr>
            <p:ph type="sldNum" sz="quarter" idx="5"/>
          </p:nvPr>
        </p:nvSpPr>
        <p:spPr/>
        <p:txBody>
          <a:bodyPr rtlCol="0"/>
          <a:lstStyle/>
          <a:p>
            <a:pPr rtl="0"/>
            <a:fld id="{C6B3AB32-59DF-41F1-9618-EDFBF5049629}" type="slidenum">
              <a:rPr lang="el-GR" smtClean="0"/>
              <a:t>2</a:t>
            </a:fld>
            <a:endParaRPr lang="el-GR"/>
          </a:p>
        </p:txBody>
      </p:sp>
    </p:spTree>
    <p:extLst>
      <p:ext uri="{BB962C8B-B14F-4D97-AF65-F5344CB8AC3E}">
        <p14:creationId xmlns:p14="http://schemas.microsoft.com/office/powerpoint/2010/main" val="3505115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First Request for both:</a:t>
            </a:r>
            <a:r>
              <a:rPr lang="en-US" sz="1200" dirty="0"/>
              <a:t> “Complete the function </a:t>
            </a:r>
            <a:r>
              <a:rPr lang="en-US" sz="1200" dirty="0" err="1"/>
              <a:t>can_pair</a:t>
            </a:r>
            <a:r>
              <a:rPr lang="en-US" sz="1200" dirty="0"/>
              <a:t>(base_1:str, base_2:str)-&gt;bool which will take 2 </a:t>
            </a:r>
            <a:r>
              <a:rPr lang="en-US" sz="1200" dirty="0" err="1"/>
              <a:t>nuclabases</a:t>
            </a:r>
            <a:r>
              <a:rPr lang="en-US" sz="1200" dirty="0"/>
              <a:t> as arguments and return 1 if they can create a bond or 0 if they cannot.”</a:t>
            </a:r>
            <a:endParaRPr lang="el-GR" sz="1200" dirty="0"/>
          </a:p>
          <a:p>
            <a:endParaRPr lang="el-GR" dirty="0"/>
          </a:p>
        </p:txBody>
      </p:sp>
      <p:sp>
        <p:nvSpPr>
          <p:cNvPr id="4" name="Θέση αριθμού διαφάνειας 3"/>
          <p:cNvSpPr>
            <a:spLocks noGrp="1"/>
          </p:cNvSpPr>
          <p:nvPr>
            <p:ph type="sldNum" sz="quarter" idx="5"/>
          </p:nvPr>
        </p:nvSpPr>
        <p:spPr/>
        <p:txBody>
          <a:bodyPr/>
          <a:lstStyle/>
          <a:p>
            <a:pPr rtl="0"/>
            <a:fld id="{C6B3AB32-59DF-41F1-9618-EDFBF5049629}" type="slidenum">
              <a:rPr lang="el-GR" noProof="0" smtClean="0"/>
              <a:t>4</a:t>
            </a:fld>
            <a:endParaRPr lang="el-GR" noProof="0"/>
          </a:p>
        </p:txBody>
      </p:sp>
    </p:spTree>
    <p:extLst>
      <p:ext uri="{BB962C8B-B14F-4D97-AF65-F5344CB8AC3E}">
        <p14:creationId xmlns:p14="http://schemas.microsoft.com/office/powerpoint/2010/main" val="2144195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n-US" dirty="0"/>
              <a:t>After Requests like:</a:t>
            </a:r>
          </a:p>
          <a:p>
            <a:pPr marL="0" indent="0">
              <a:buNone/>
            </a:pPr>
            <a:r>
              <a:rPr lang="en-US" sz="1200" dirty="0"/>
              <a:t>“Check your function for mistake.”</a:t>
            </a:r>
          </a:p>
          <a:p>
            <a:pPr marL="0" indent="0">
              <a:buNone/>
            </a:pPr>
            <a:r>
              <a:rPr lang="en-US" sz="1200" dirty="0"/>
              <a:t>“Which lines were wrong then?”</a:t>
            </a:r>
          </a:p>
          <a:p>
            <a:pPr marL="0" indent="0">
              <a:buNone/>
            </a:pPr>
            <a:r>
              <a:rPr lang="en-US" sz="1200" dirty="0"/>
              <a:t>“If before we define the function </a:t>
            </a:r>
            <a:r>
              <a:rPr lang="en-US" sz="1200" dirty="0" err="1"/>
              <a:t>can_pair</a:t>
            </a:r>
            <a:r>
              <a:rPr lang="en-US" sz="1200" dirty="0"/>
              <a:t>(base_1:str, base_2:str)-&gt;bool there is the following block of code, how should the function be written? </a:t>
            </a:r>
            <a:r>
              <a:rPr lang="en-US" sz="1200" dirty="0" err="1"/>
              <a:t>Valid_pairs</a:t>
            </a:r>
            <a:r>
              <a:rPr lang="en-US" sz="1200" dirty="0"/>
              <a:t> = …”</a:t>
            </a:r>
          </a:p>
          <a:p>
            <a:pPr marL="0" indent="0">
              <a:buNone/>
            </a:pPr>
            <a:endParaRPr lang="en-US" sz="1200" dirty="0"/>
          </a:p>
          <a:p>
            <a:pPr marL="0" indent="0">
              <a:buNone/>
            </a:pPr>
            <a:r>
              <a:rPr lang="en-US" sz="1200" dirty="0"/>
              <a:t>Problem -&gt; Ignores fully the global list, which was given, with the two sets of valid pairings.</a:t>
            </a:r>
          </a:p>
          <a:p>
            <a:endParaRPr lang="el-GR" dirty="0"/>
          </a:p>
        </p:txBody>
      </p:sp>
      <p:sp>
        <p:nvSpPr>
          <p:cNvPr id="4" name="Θέση αριθμού διαφάνειας 3"/>
          <p:cNvSpPr>
            <a:spLocks noGrp="1"/>
          </p:cNvSpPr>
          <p:nvPr>
            <p:ph type="sldNum" sz="quarter" idx="5"/>
          </p:nvPr>
        </p:nvSpPr>
        <p:spPr/>
        <p:txBody>
          <a:bodyPr/>
          <a:lstStyle/>
          <a:p>
            <a:pPr rtl="0"/>
            <a:fld id="{C6B3AB32-59DF-41F1-9618-EDFBF5049629}" type="slidenum">
              <a:rPr lang="el-GR" noProof="0" smtClean="0"/>
              <a:t>5</a:t>
            </a:fld>
            <a:endParaRPr lang="el-GR" noProof="0"/>
          </a:p>
        </p:txBody>
      </p:sp>
    </p:spTree>
    <p:extLst>
      <p:ext uri="{BB962C8B-B14F-4D97-AF65-F5344CB8AC3E}">
        <p14:creationId xmlns:p14="http://schemas.microsoft.com/office/powerpoint/2010/main" val="2979262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Για απλές συναρτήσεις το </a:t>
            </a:r>
            <a:r>
              <a:rPr lang="en-US" dirty="0" err="1"/>
              <a:t>ChatGPT</a:t>
            </a:r>
            <a:r>
              <a:rPr lang="en-US" dirty="0"/>
              <a:t> </a:t>
            </a:r>
            <a:r>
              <a:rPr lang="el-GR" dirty="0"/>
              <a:t>είναι ικανό να καταλήξει σε λειτουργικό αποτέλεσμα απλά στέλνοντας μία οδηγία, παίρνοντας την απάντηση και αναλύοντας την. Αν δεν τρέχει ο κώδικας με τα επιθυμητά αποτελέσματα στέλνουμε μία νέα οδηγία με διορθώσεις για τον προηγούμενο κώδικα.</a:t>
            </a:r>
          </a:p>
          <a:p>
            <a:endParaRPr lang="el-GR" dirty="0"/>
          </a:p>
          <a:p>
            <a:r>
              <a:rPr lang="el-GR" dirty="0"/>
              <a:t>Αν τρέχει ο κώδικας δεν σημαίνει ότι η λύση που δόθηκε είναι η βέλτιστη δυνατή, ούτε καν ότι την πλησιάζει.</a:t>
            </a:r>
          </a:p>
        </p:txBody>
      </p:sp>
      <p:sp>
        <p:nvSpPr>
          <p:cNvPr id="4" name="Θέση αριθμού διαφάνειας 3"/>
          <p:cNvSpPr>
            <a:spLocks noGrp="1"/>
          </p:cNvSpPr>
          <p:nvPr>
            <p:ph type="sldNum" sz="quarter" idx="5"/>
          </p:nvPr>
        </p:nvSpPr>
        <p:spPr/>
        <p:txBody>
          <a:bodyPr/>
          <a:lstStyle/>
          <a:p>
            <a:pPr rtl="0"/>
            <a:fld id="{C6B3AB32-59DF-41F1-9618-EDFBF5049629}" type="slidenum">
              <a:rPr lang="el-GR" smtClean="0"/>
              <a:t>6</a:t>
            </a:fld>
            <a:endParaRPr lang="el-GR"/>
          </a:p>
        </p:txBody>
      </p:sp>
    </p:spTree>
    <p:extLst>
      <p:ext uri="{BB962C8B-B14F-4D97-AF65-F5344CB8AC3E}">
        <p14:creationId xmlns:p14="http://schemas.microsoft.com/office/powerpoint/2010/main" val="3650380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n-US" b="1" dirty="0"/>
              <a:t>Memory</a:t>
            </a:r>
          </a:p>
          <a:p>
            <a:r>
              <a:rPr lang="el-GR" b="0" dirty="0"/>
              <a:t>Μετά από μερικά μηνύματα αρχίζει να αγνοεί προηγούμενες οδηγίες. Αν του γίνει παρατήρηση ορισμένες φορές ζητάει να του ξαναδοθούν.</a:t>
            </a:r>
          </a:p>
          <a:p>
            <a:endParaRPr lang="el-GR" b="0" dirty="0"/>
          </a:p>
          <a:p>
            <a:r>
              <a:rPr lang="en-US" b="1" dirty="0"/>
              <a:t>Consistency</a:t>
            </a:r>
          </a:p>
          <a:p>
            <a:r>
              <a:rPr lang="el-GR" b="0" dirty="0"/>
              <a:t>Αν, σε νέα συζήτηση κάθε φορά, κάνω την ίδια ερώτηση για την δημιουργία συνάρτησης μπορεί να πάρω δύο αρκετά διαφορετικές απαντήσεις.</a:t>
            </a:r>
          </a:p>
          <a:p>
            <a:endParaRPr lang="el-GR" b="0" dirty="0"/>
          </a:p>
          <a:p>
            <a:r>
              <a:rPr lang="en-US" b="1" dirty="0"/>
              <a:t>Firmness</a:t>
            </a:r>
          </a:p>
          <a:p>
            <a:r>
              <a:rPr lang="el-GR" b="0" dirty="0"/>
              <a:t>Αν, αφού μου δώσει μία συνάρτηση, ρωτήσω αν δουλεύει, απλά την διορθώνει χωρίς να κάνει κάποιον έλεγχο.</a:t>
            </a:r>
          </a:p>
          <a:p>
            <a:endParaRPr lang="el-GR" b="0" dirty="0"/>
          </a:p>
          <a:p>
            <a:r>
              <a:rPr lang="en-US" b="1" dirty="0"/>
              <a:t>Initiative</a:t>
            </a:r>
          </a:p>
          <a:p>
            <a:r>
              <a:rPr lang="el-GR" b="0" dirty="0"/>
              <a:t>Αρκετές φορές σε απάντηση σε μήνυμα αγνοεί κάποιες από τις απαιτήσεις που του έγιναν γιατί διευκολύνεται να δώσει απάντηση.</a:t>
            </a:r>
          </a:p>
          <a:p>
            <a:endParaRPr lang="el-GR" b="0" dirty="0"/>
          </a:p>
          <a:p>
            <a:r>
              <a:rPr lang="en-US" b="1" dirty="0"/>
              <a:t>Mistakes</a:t>
            </a:r>
          </a:p>
          <a:p>
            <a:r>
              <a:rPr lang="el-GR" b="0" dirty="0"/>
              <a:t>Κάποιες φορές κάνει πολύ σοβαρά σφάλματα. Πχ </a:t>
            </a:r>
            <a:r>
              <a:rPr lang="en-US" b="0" dirty="0"/>
              <a:t>G-U</a:t>
            </a:r>
            <a:endParaRPr lang="el-GR" b="0" dirty="0"/>
          </a:p>
        </p:txBody>
      </p:sp>
      <p:sp>
        <p:nvSpPr>
          <p:cNvPr id="4" name="Θέση αριθμού διαφάνειας 3"/>
          <p:cNvSpPr>
            <a:spLocks noGrp="1"/>
          </p:cNvSpPr>
          <p:nvPr>
            <p:ph type="sldNum" sz="quarter" idx="5"/>
          </p:nvPr>
        </p:nvSpPr>
        <p:spPr/>
        <p:txBody>
          <a:bodyPr/>
          <a:lstStyle/>
          <a:p>
            <a:pPr rtl="0"/>
            <a:fld id="{C6B3AB32-59DF-41F1-9618-EDFBF5049629}" type="slidenum">
              <a:rPr lang="el-GR" smtClean="0"/>
              <a:t>7</a:t>
            </a:fld>
            <a:endParaRPr lang="el-GR"/>
          </a:p>
        </p:txBody>
      </p:sp>
    </p:spTree>
    <p:extLst>
      <p:ext uri="{BB962C8B-B14F-4D97-AF65-F5344CB8AC3E}">
        <p14:creationId xmlns:p14="http://schemas.microsoft.com/office/powerpoint/2010/main" val="2633222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indent="0">
              <a:spcAft>
                <a:spcPts val="0"/>
              </a:spcAft>
              <a:buNone/>
            </a:pPr>
            <a:r>
              <a:rPr lang="en-US" sz="1200" b="1" dirty="0"/>
              <a:t>First Request: </a:t>
            </a:r>
            <a:r>
              <a:rPr lang="en-US" sz="1200" dirty="0"/>
              <a:t>“Next function is  </a:t>
            </a:r>
            <a:r>
              <a:rPr lang="en-US" sz="1200" dirty="0" err="1"/>
              <a:t>get_opt_val</a:t>
            </a:r>
            <a:r>
              <a:rPr lang="en-US" sz="1200" dirty="0"/>
              <a:t>(</a:t>
            </a:r>
            <a:r>
              <a:rPr lang="en-US" sz="1200" dirty="0" err="1"/>
              <a:t>sequence:str</a:t>
            </a:r>
            <a:r>
              <a:rPr lang="en-US" sz="1200" dirty="0"/>
              <a:t>, n:int, </a:t>
            </a:r>
            <a:r>
              <a:rPr lang="en-US" sz="1200" dirty="0" err="1"/>
              <a:t>opt_val</a:t>
            </a:r>
            <a:r>
              <a:rPr lang="en-US" sz="1200" dirty="0"/>
              <a:t>, </a:t>
            </a:r>
            <a:r>
              <a:rPr lang="en-US" sz="1200" dirty="0" err="1"/>
              <a:t>opt_val_pairs</a:t>
            </a:r>
            <a:r>
              <a:rPr lang="en-US" sz="1200" dirty="0"/>
              <a:t>, i:int, j:int)-&gt;int . Sequence will be a string with a RNA sequence, n will the length of the sequence, </a:t>
            </a:r>
            <a:r>
              <a:rPr lang="en-US" sz="1200" dirty="0" err="1"/>
              <a:t>opt_val</a:t>
            </a:r>
            <a:r>
              <a:rPr lang="en-US" sz="1200" dirty="0"/>
              <a:t> will be an array that will have the biggest possible number of bonds between nucleobases of the sequence from the kth </a:t>
            </a:r>
            <a:r>
              <a:rPr lang="en-US" sz="1200" dirty="0" err="1"/>
              <a:t>nucleobasis</a:t>
            </a:r>
            <a:r>
              <a:rPr lang="en-US" sz="1200" dirty="0"/>
              <a:t> to the </a:t>
            </a:r>
            <a:r>
              <a:rPr lang="en-US" sz="1200" dirty="0" err="1"/>
              <a:t>zth</a:t>
            </a:r>
            <a:r>
              <a:rPr lang="en-US" sz="1200" dirty="0"/>
              <a:t> </a:t>
            </a:r>
            <a:r>
              <a:rPr lang="en-US" sz="1200" dirty="0" err="1"/>
              <a:t>nucleobasis</a:t>
            </a:r>
            <a:r>
              <a:rPr lang="en-US" sz="1200" dirty="0"/>
              <a:t> where k is the index of the row and z the index of the column. </a:t>
            </a:r>
            <a:r>
              <a:rPr lang="en-US" sz="1200" dirty="0" err="1"/>
              <a:t>i</a:t>
            </a:r>
            <a:r>
              <a:rPr lang="en-US" sz="1200" dirty="0"/>
              <a:t> and j will be the index of the starting </a:t>
            </a:r>
            <a:r>
              <a:rPr lang="en-US" sz="1200" dirty="0" err="1"/>
              <a:t>nucleobasis</a:t>
            </a:r>
            <a:r>
              <a:rPr lang="en-US" sz="1200" dirty="0"/>
              <a:t> and j of the finishing </a:t>
            </a:r>
            <a:r>
              <a:rPr lang="en-US" sz="1200" dirty="0" err="1"/>
              <a:t>nucleobasis</a:t>
            </a:r>
            <a:r>
              <a:rPr lang="en-US" sz="1200" dirty="0"/>
              <a:t>.</a:t>
            </a:r>
          </a:p>
          <a:p>
            <a:pPr marL="0" indent="0">
              <a:spcAft>
                <a:spcPts val="0"/>
              </a:spcAft>
              <a:buNone/>
            </a:pPr>
            <a:r>
              <a:rPr lang="en-US" sz="1200" dirty="0"/>
              <a:t>I want you to complete the function in order to find the biggest possible number of bonds for the sequence from the </a:t>
            </a:r>
            <a:r>
              <a:rPr lang="en-US" sz="1200" dirty="0" err="1"/>
              <a:t>i</a:t>
            </a:r>
            <a:r>
              <a:rPr lang="en-US" sz="1200" dirty="0"/>
              <a:t> </a:t>
            </a:r>
            <a:r>
              <a:rPr lang="en-US" sz="1200" dirty="0" err="1"/>
              <a:t>nucleobasis</a:t>
            </a:r>
            <a:r>
              <a:rPr lang="en-US" sz="1200" dirty="0"/>
              <a:t> to the j </a:t>
            </a:r>
            <a:r>
              <a:rPr lang="en-US" sz="1200" dirty="0" err="1"/>
              <a:t>nucleobasis</a:t>
            </a:r>
            <a:r>
              <a:rPr lang="en-US" sz="1200" dirty="0"/>
              <a:t> and put in the position </a:t>
            </a:r>
            <a:r>
              <a:rPr lang="en-US" sz="1200" dirty="0" err="1"/>
              <a:t>i,j</a:t>
            </a:r>
            <a:r>
              <a:rPr lang="en-US" sz="1200" dirty="0"/>
              <a:t> of the array </a:t>
            </a:r>
            <a:r>
              <a:rPr lang="en-US" sz="1200" dirty="0" err="1"/>
              <a:t>opt_val</a:t>
            </a:r>
            <a:r>
              <a:rPr lang="en-US" sz="1200"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First Review: </a:t>
            </a:r>
            <a:r>
              <a:rPr lang="en-US" sz="1200" dirty="0"/>
              <a:t>It checks if k-</a:t>
            </a:r>
            <a:r>
              <a:rPr lang="en-US" sz="1200" dirty="0" err="1"/>
              <a:t>th</a:t>
            </a:r>
            <a:r>
              <a:rPr lang="en-US" sz="1200" dirty="0"/>
              <a:t> and j-</a:t>
            </a:r>
            <a:r>
              <a:rPr lang="en-US" sz="1200" dirty="0" err="1"/>
              <a:t>th</a:t>
            </a:r>
            <a:r>
              <a:rPr lang="en-US" sz="1200" dirty="0"/>
              <a:t> can pair and adds the right part and left part.</a:t>
            </a:r>
          </a:p>
          <a:p>
            <a:endParaRPr lang="en-US" b="1" dirty="0"/>
          </a:p>
          <a:p>
            <a:endParaRPr lang="el-GR" dirty="0"/>
          </a:p>
          <a:p>
            <a:endParaRPr lang="el-GR" dirty="0"/>
          </a:p>
          <a:p>
            <a:r>
              <a:rPr lang="en-US" dirty="0"/>
              <a:t>Problem 1 -&gt; </a:t>
            </a:r>
            <a:r>
              <a:rPr lang="el-GR" dirty="0"/>
              <a:t>Μεγεθύνεται λόγω της αναδρομικής φύσης της συνάρτησης</a:t>
            </a:r>
          </a:p>
        </p:txBody>
      </p:sp>
      <p:sp>
        <p:nvSpPr>
          <p:cNvPr id="4" name="Θέση αριθμού διαφάνειας 3"/>
          <p:cNvSpPr>
            <a:spLocks noGrp="1"/>
          </p:cNvSpPr>
          <p:nvPr>
            <p:ph type="sldNum" sz="quarter" idx="5"/>
          </p:nvPr>
        </p:nvSpPr>
        <p:spPr/>
        <p:txBody>
          <a:bodyPr/>
          <a:lstStyle/>
          <a:p>
            <a:pPr rtl="0"/>
            <a:fld id="{C6B3AB32-59DF-41F1-9618-EDFBF5049629}" type="slidenum">
              <a:rPr lang="el-GR" noProof="0" smtClean="0"/>
              <a:t>8</a:t>
            </a:fld>
            <a:endParaRPr lang="el-GR" noProof="0"/>
          </a:p>
        </p:txBody>
      </p:sp>
    </p:spTree>
    <p:extLst>
      <p:ext uri="{BB962C8B-B14F-4D97-AF65-F5344CB8AC3E}">
        <p14:creationId xmlns:p14="http://schemas.microsoft.com/office/powerpoint/2010/main" val="476751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Δεν λειτουργεί για όλες τις ακολουθίες. Σε ορισμένες εμφανίζει </a:t>
            </a:r>
            <a:r>
              <a:rPr lang="el-GR" dirty="0" err="1"/>
              <a:t>νουκλεοτίδιο</a:t>
            </a:r>
            <a:r>
              <a:rPr lang="el-GR" dirty="0"/>
              <a:t> σε 2 δεσμούς + </a:t>
            </a:r>
            <a:r>
              <a:rPr lang="en-US" dirty="0"/>
              <a:t>Crossing</a:t>
            </a:r>
          </a:p>
          <a:p>
            <a:endParaRPr lang="en-US" dirty="0"/>
          </a:p>
          <a:p>
            <a:r>
              <a:rPr lang="en-US" b="1" dirty="0"/>
              <a:t>First Review:</a:t>
            </a:r>
          </a:p>
          <a:p>
            <a:pPr marL="0" indent="0">
              <a:buNone/>
            </a:pPr>
            <a:r>
              <a:rPr lang="en-US" sz="1200" dirty="0"/>
              <a:t>It checks if k-</a:t>
            </a:r>
            <a:r>
              <a:rPr lang="en-US" sz="1200" dirty="0" err="1"/>
              <a:t>th</a:t>
            </a:r>
            <a:r>
              <a:rPr lang="en-US" sz="1200" dirty="0"/>
              <a:t> and j-</a:t>
            </a:r>
            <a:r>
              <a:rPr lang="en-US" sz="1200" dirty="0" err="1"/>
              <a:t>th</a:t>
            </a:r>
            <a:r>
              <a:rPr lang="en-US" sz="1200" dirty="0"/>
              <a:t> can pair and adds the right part and left part.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Does not work </a:t>
            </a:r>
            <a:r>
              <a:rPr lang="en-US" sz="1200" b="1" dirty="0" err="1">
                <a:solidFill>
                  <a:schemeClr val="tx1"/>
                </a:solidFill>
              </a:rPr>
              <a:t>extactly</a:t>
            </a:r>
            <a:r>
              <a:rPr lang="en-US" sz="1200" b="1" dirty="0">
                <a:solidFill>
                  <a:schemeClr val="tx1"/>
                </a:solidFill>
              </a:rPr>
              <a:t> how I want</a:t>
            </a:r>
            <a:endParaRPr lang="el-GR" sz="1200" b="1" dirty="0">
              <a:solidFill>
                <a:schemeClr val="tx1"/>
              </a:solidFill>
            </a:endParaRPr>
          </a:p>
        </p:txBody>
      </p:sp>
      <p:sp>
        <p:nvSpPr>
          <p:cNvPr id="4" name="Θέση αριθμού διαφάνειας 3"/>
          <p:cNvSpPr>
            <a:spLocks noGrp="1"/>
          </p:cNvSpPr>
          <p:nvPr>
            <p:ph type="sldNum" sz="quarter" idx="5"/>
          </p:nvPr>
        </p:nvSpPr>
        <p:spPr/>
        <p:txBody>
          <a:bodyPr/>
          <a:lstStyle/>
          <a:p>
            <a:pPr rtl="0"/>
            <a:fld id="{C6B3AB32-59DF-41F1-9618-EDFBF5049629}" type="slidenum">
              <a:rPr lang="el-GR" noProof="0" smtClean="0"/>
              <a:t>9</a:t>
            </a:fld>
            <a:endParaRPr lang="el-GR" noProof="0"/>
          </a:p>
        </p:txBody>
      </p:sp>
    </p:spTree>
    <p:extLst>
      <p:ext uri="{BB962C8B-B14F-4D97-AF65-F5344CB8AC3E}">
        <p14:creationId xmlns:p14="http://schemas.microsoft.com/office/powerpoint/2010/main" val="489290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n-US" b="1" dirty="0"/>
              <a:t>Analyze</a:t>
            </a:r>
            <a:endParaRPr lang="el-GR" b="1" dirty="0"/>
          </a:p>
          <a:p>
            <a:r>
              <a:rPr lang="el-GR" dirty="0"/>
              <a:t>Στη συγκεκριμένη εργασία προσπάθησα να οδηγήσω το </a:t>
            </a:r>
            <a:r>
              <a:rPr lang="en-US" dirty="0" err="1"/>
              <a:t>ChatGPT</a:t>
            </a:r>
            <a:r>
              <a:rPr lang="en-US" dirty="0"/>
              <a:t> </a:t>
            </a:r>
            <a:r>
              <a:rPr lang="el-GR" dirty="0"/>
              <a:t>στην λύση, οπότε αν του έδινα έτοιμη την λύση θα χανόταν το νόημα.</a:t>
            </a:r>
          </a:p>
          <a:p>
            <a:r>
              <a:rPr lang="el-GR" dirty="0"/>
              <a:t>Δοκίμασα σε διαφορετική εργασία να του δώσω κομμάτι του δικού μου κώδικα. Εκεί ήταν σε θέση να τον αναλύσει και να μου δώσει μία εξήγηση για το τι κάνει.</a:t>
            </a:r>
          </a:p>
          <a:p>
            <a:endParaRPr lang="en-US" dirty="0"/>
          </a:p>
          <a:p>
            <a:r>
              <a:rPr lang="en-US" b="1" dirty="0"/>
              <a:t>Review</a:t>
            </a:r>
            <a:endParaRPr lang="el-GR" b="1" dirty="0"/>
          </a:p>
          <a:p>
            <a:r>
              <a:rPr lang="el-GR" dirty="0"/>
              <a:t>Αν υπήρχε λάθος στον κώδικα μου ήταν σε θέσει να μου το αναφέρει και έκανε μία προσπάθεια να το διορθώσει.</a:t>
            </a:r>
          </a:p>
          <a:p>
            <a:endParaRPr lang="en-US" dirty="0"/>
          </a:p>
          <a:p>
            <a:r>
              <a:rPr lang="en-US" b="1" dirty="0"/>
              <a:t>Create part of code</a:t>
            </a:r>
            <a:endParaRPr lang="el-GR" b="1" dirty="0"/>
          </a:p>
          <a:p>
            <a:r>
              <a:rPr lang="el-GR" dirty="0"/>
              <a:t>Σε περιπτώσεις που είχα την δυνατότητα λόγω μεγάλης έκτασης προβλημάτων, μπορούσα να ζητήσω κάτι πολύ απλό και να πάρω μία υλοποίηση και να την τροποποιήσω στα δικά μου μέτρα.</a:t>
            </a:r>
          </a:p>
          <a:p>
            <a:endParaRPr lang="en-US" dirty="0"/>
          </a:p>
          <a:p>
            <a:r>
              <a:rPr lang="en-US" b="1" dirty="0"/>
              <a:t>Suggest Ideas &amp; Sources</a:t>
            </a:r>
            <a:endParaRPr lang="el-GR" b="1" dirty="0"/>
          </a:p>
          <a:p>
            <a:r>
              <a:rPr lang="el-GR" dirty="0"/>
              <a:t>Σε κώδικα στον οποίο παρατηρείς κάποια αδυναμία μπορείς να του ζητήσεις προτάσεις βελτίωσης, όχι μόνο σε κώδικα, αλλά και θεωρητικές. Σε αυτή την περίπτωση μπορείς να του ζητήσεις και πηγές για να μελετήσεις τις βελτιώσεις ή τον αλγόριθμο που σου προτείνει.</a:t>
            </a:r>
          </a:p>
        </p:txBody>
      </p:sp>
      <p:sp>
        <p:nvSpPr>
          <p:cNvPr id="4" name="Θέση αριθμού διαφάνειας 3"/>
          <p:cNvSpPr>
            <a:spLocks noGrp="1"/>
          </p:cNvSpPr>
          <p:nvPr>
            <p:ph type="sldNum" sz="quarter" idx="5"/>
          </p:nvPr>
        </p:nvSpPr>
        <p:spPr/>
        <p:txBody>
          <a:bodyPr/>
          <a:lstStyle/>
          <a:p>
            <a:pPr rtl="0"/>
            <a:fld id="{C6B3AB32-59DF-41F1-9618-EDFBF5049629}" type="slidenum">
              <a:rPr lang="el-GR" smtClean="0"/>
              <a:t>10</a:t>
            </a:fld>
            <a:endParaRPr lang="el-GR"/>
          </a:p>
        </p:txBody>
      </p:sp>
    </p:spTree>
    <p:extLst>
      <p:ext uri="{BB962C8B-B14F-4D97-AF65-F5344CB8AC3E}">
        <p14:creationId xmlns:p14="http://schemas.microsoft.com/office/powerpoint/2010/main" val="2843979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a:p>
        </p:txBody>
      </p:sp>
      <p:sp>
        <p:nvSpPr>
          <p:cNvPr id="4" name="Θέση αριθμού διαφάνειας 3"/>
          <p:cNvSpPr>
            <a:spLocks noGrp="1"/>
          </p:cNvSpPr>
          <p:nvPr>
            <p:ph type="sldNum" sz="quarter" idx="5"/>
          </p:nvPr>
        </p:nvSpPr>
        <p:spPr/>
        <p:txBody>
          <a:bodyPr/>
          <a:lstStyle/>
          <a:p>
            <a:pPr rtl="0"/>
            <a:fld id="{C6B3AB32-59DF-41F1-9618-EDFBF5049629}" type="slidenum">
              <a:rPr lang="el-GR" smtClean="0"/>
              <a:t>11</a:t>
            </a:fld>
            <a:endParaRPr lang="el-GR"/>
          </a:p>
        </p:txBody>
      </p:sp>
    </p:spTree>
    <p:extLst>
      <p:ext uri="{BB962C8B-B14F-4D97-AF65-F5344CB8AC3E}">
        <p14:creationId xmlns:p14="http://schemas.microsoft.com/office/powerpoint/2010/main" val="486225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rtlCol="0"/>
          <a:lstStyle/>
          <a:p>
            <a:pPr rtl="0"/>
            <a:endParaRPr lang="el-GR" dirty="0"/>
          </a:p>
        </p:txBody>
      </p:sp>
      <p:sp>
        <p:nvSpPr>
          <p:cNvPr id="4" name="Θέση αριθμού διαφάνειας 3"/>
          <p:cNvSpPr>
            <a:spLocks noGrp="1"/>
          </p:cNvSpPr>
          <p:nvPr>
            <p:ph type="sldNum" sz="quarter" idx="5"/>
          </p:nvPr>
        </p:nvSpPr>
        <p:spPr/>
        <p:txBody>
          <a:bodyPr rtlCol="0"/>
          <a:lstStyle/>
          <a:p>
            <a:pPr rtl="0"/>
            <a:fld id="{C6B3AB32-59DF-41F1-9618-EDFBF5049629}" type="slidenum">
              <a:rPr lang="el-GR" smtClean="0"/>
              <a:t>12</a:t>
            </a:fld>
            <a:endParaRPr lang="el-GR"/>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7" name="Ορθογώνιο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Τίτλος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l-GR" noProof="0"/>
              <a:t>Κάντε κλικ για να επεξεργαστείτε το Στυλ κύριου τίτλου</a:t>
            </a:r>
          </a:p>
        </p:txBody>
      </p:sp>
      <p:sp>
        <p:nvSpPr>
          <p:cNvPr id="3" name="Υπότιτλος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l-GR" noProof="0"/>
              <a:t>Κάντε κλικ για να επεξεργαστείτε τον υπότιτλο του υποδείγματος</a:t>
            </a:r>
          </a:p>
        </p:txBody>
      </p:sp>
      <p:sp>
        <p:nvSpPr>
          <p:cNvPr id="4" name="Θέση ημερομηνίας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782BF959-9F1D-442A-B1B3-D30FE43F2A8E}" type="datetime1">
              <a:rPr lang="el-GR" noProof="0" smtClean="0"/>
              <a:t>25/5/2023</a:t>
            </a:fld>
            <a:endParaRPr lang="el-GR" noProof="0"/>
          </a:p>
        </p:txBody>
      </p:sp>
      <p:sp>
        <p:nvSpPr>
          <p:cNvPr id="5" name="Θέση υποσέλιδου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l-GR" noProof="0"/>
          </a:p>
        </p:txBody>
      </p:sp>
      <p:sp>
        <p:nvSpPr>
          <p:cNvPr id="6" name="Θέση αριθμού διαφάνειας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7" name="Ορθογώνιο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Τίτλος 1"/>
          <p:cNvSpPr>
            <a:spLocks noGrp="1"/>
          </p:cNvSpPr>
          <p:nvPr>
            <p:ph type="title" hasCustomPrompt="1"/>
          </p:nvPr>
        </p:nvSpPr>
        <p:spPr>
          <a:xfrm>
            <a:off x="581192" y="702156"/>
            <a:ext cx="11029616" cy="1013800"/>
          </a:xfrm>
        </p:spPr>
        <p:txBody>
          <a:bodyPr rtlCol="0"/>
          <a:lstStyle/>
          <a:p>
            <a:pPr rtl="0"/>
            <a:r>
              <a:rPr lang="el-GR" noProof="0"/>
              <a:t>Κάντε κλικ για να επεξεργαστείτε το Στυλ κύριου τίτλου</a:t>
            </a:r>
          </a:p>
        </p:txBody>
      </p:sp>
      <p:sp>
        <p:nvSpPr>
          <p:cNvPr id="3" name="Θέση περιεχομένου 2"/>
          <p:cNvSpPr>
            <a:spLocks noGrp="1"/>
          </p:cNvSpPr>
          <p:nvPr>
            <p:ph idx="1" hasCustomPrompt="1"/>
          </p:nvPr>
        </p:nvSpPr>
        <p:spPr>
          <a:xfrm>
            <a:off x="581192" y="2180496"/>
            <a:ext cx="11029615" cy="3678303"/>
          </a:xfrm>
        </p:spPr>
        <p:txBody>
          <a:bodyPr rtlCol="0"/>
          <a:lstStyle/>
          <a:p>
            <a:pPr lvl="0" rtl="0"/>
            <a:r>
              <a:rPr lang="el-GR" noProof="0"/>
              <a:t>Επεξεργασία στυλ κειμένου υποδείγματος</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4" name="Θέση ημερομηνίας 3"/>
          <p:cNvSpPr>
            <a:spLocks noGrp="1"/>
          </p:cNvSpPr>
          <p:nvPr>
            <p:ph type="dt" sz="half" idx="10"/>
          </p:nvPr>
        </p:nvSpPr>
        <p:spPr/>
        <p:txBody>
          <a:bodyPr rtlCol="0"/>
          <a:lstStyle/>
          <a:p>
            <a:pPr rtl="0"/>
            <a:fld id="{70C65874-BBEE-4786-940F-8886DF266E9A}" type="datetime1">
              <a:rPr lang="el-GR" noProof="0" smtClean="0"/>
              <a:t>25/5/2023</a:t>
            </a:fld>
            <a:endParaRPr lang="el-GR" noProof="0"/>
          </a:p>
        </p:txBody>
      </p:sp>
      <p:sp>
        <p:nvSpPr>
          <p:cNvPr id="5" name="Θέση υποσέλιδου 4"/>
          <p:cNvSpPr>
            <a:spLocks noGrp="1"/>
          </p:cNvSpPr>
          <p:nvPr>
            <p:ph type="ftr" sz="quarter" idx="11"/>
          </p:nvPr>
        </p:nvSpPr>
        <p:spPr/>
        <p:txBody>
          <a:bodyPr rtlCol="0"/>
          <a:lstStyle/>
          <a:p>
            <a:pPr rtl="0"/>
            <a:endParaRPr lang="el-GR" noProof="0"/>
          </a:p>
        </p:txBody>
      </p:sp>
      <p:sp>
        <p:nvSpPr>
          <p:cNvPr id="6" name="Θέση αριθμού διαφάνειας 5"/>
          <p:cNvSpPr>
            <a:spLocks noGrp="1"/>
          </p:cNvSpPr>
          <p:nvPr>
            <p:ph type="sldNum" sz="quarter" idx="12"/>
          </p:nvPr>
        </p:nvSpPr>
        <p:spPr>
          <a:xfrm>
            <a:off x="10558300" y="5956137"/>
            <a:ext cx="1052508" cy="365125"/>
          </a:xfrm>
        </p:spPr>
        <p:txBody>
          <a:bodyPr rtlCol="0"/>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8" name="Ορθογώνιο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Τίτλος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l-GR" noProof="0"/>
              <a:t>Κάντε κλικ για να επεξεργαστείτε το Στυλ κύριου τίτλου</a:t>
            </a:r>
          </a:p>
        </p:txBody>
      </p:sp>
      <p:sp>
        <p:nvSpPr>
          <p:cNvPr id="3" name="Θέση κειμένου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l-GR" noProof="0"/>
              <a:t>Επεξεργασία στυλ κειμένου υποδείγματος</a:t>
            </a:r>
          </a:p>
        </p:txBody>
      </p:sp>
      <p:sp>
        <p:nvSpPr>
          <p:cNvPr id="4" name="Θέση ημερομηνίας 3"/>
          <p:cNvSpPr>
            <a:spLocks noGrp="1"/>
          </p:cNvSpPr>
          <p:nvPr>
            <p:ph type="dt" sz="half" idx="10"/>
          </p:nvPr>
        </p:nvSpPr>
        <p:spPr/>
        <p:txBody>
          <a:bodyPr rtlCol="0"/>
          <a:lstStyle>
            <a:lvl1pPr>
              <a:defRPr>
                <a:solidFill>
                  <a:schemeClr val="accent1">
                    <a:lumMod val="75000"/>
                    <a:lumOff val="25000"/>
                  </a:schemeClr>
                </a:solidFill>
              </a:defRPr>
            </a:lvl1pPr>
          </a:lstStyle>
          <a:p>
            <a:pPr rtl="0"/>
            <a:fld id="{BAE92C03-DC0A-4F93-ABD3-719702CA1AA1}" type="datetime1">
              <a:rPr lang="el-GR" noProof="0" smtClean="0"/>
              <a:t>25/5/2023</a:t>
            </a:fld>
            <a:endParaRPr lang="el-GR" noProof="0"/>
          </a:p>
        </p:txBody>
      </p:sp>
      <p:sp>
        <p:nvSpPr>
          <p:cNvPr id="5" name="Θέση υποσέλιδου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l-GR" noProof="0"/>
          </a:p>
        </p:txBody>
      </p:sp>
      <p:sp>
        <p:nvSpPr>
          <p:cNvPr id="6" name="Θέση αριθμού διαφάνειας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8" name="Ορθογώνιο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Τίτλος 1"/>
          <p:cNvSpPr>
            <a:spLocks noGrp="1"/>
          </p:cNvSpPr>
          <p:nvPr>
            <p:ph type="title" hasCustomPrompt="1"/>
          </p:nvPr>
        </p:nvSpPr>
        <p:spPr>
          <a:xfrm>
            <a:off x="581193" y="729658"/>
            <a:ext cx="11029616" cy="988332"/>
          </a:xfrm>
        </p:spPr>
        <p:txBody>
          <a:bodyPr rtlCol="0"/>
          <a:lstStyle/>
          <a:p>
            <a:pPr rtl="0"/>
            <a:r>
              <a:rPr lang="el-GR" noProof="0"/>
              <a:t>Κάντε κλικ για να επεξεργαστείτε το Στυλ κύριου τίτλου</a:t>
            </a:r>
          </a:p>
        </p:txBody>
      </p:sp>
      <p:sp>
        <p:nvSpPr>
          <p:cNvPr id="3" name="Θέση περιεχομένου 2"/>
          <p:cNvSpPr>
            <a:spLocks noGrp="1"/>
          </p:cNvSpPr>
          <p:nvPr>
            <p:ph sz="half" idx="1" hasCustomPrompt="1"/>
          </p:nvPr>
        </p:nvSpPr>
        <p:spPr>
          <a:xfrm>
            <a:off x="581193" y="2228003"/>
            <a:ext cx="5422390" cy="3633047"/>
          </a:xfrm>
        </p:spPr>
        <p:txBody>
          <a:bodyPr rtlCol="0">
            <a:normAutofit/>
          </a:bodyPr>
          <a:lstStyle/>
          <a:p>
            <a:pPr lvl="0" rtl="0"/>
            <a:r>
              <a:rPr lang="el-GR" noProof="0"/>
              <a:t>Επεξεργασία στυλ κειμένου υποδείγματος</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4" name="Θέση περιεχομένου 3"/>
          <p:cNvSpPr>
            <a:spLocks noGrp="1"/>
          </p:cNvSpPr>
          <p:nvPr>
            <p:ph sz="half" idx="2" hasCustomPrompt="1"/>
          </p:nvPr>
        </p:nvSpPr>
        <p:spPr>
          <a:xfrm>
            <a:off x="6188417" y="2228003"/>
            <a:ext cx="5422392" cy="3633047"/>
          </a:xfrm>
        </p:spPr>
        <p:txBody>
          <a:bodyPr rtlCol="0">
            <a:normAutofit/>
          </a:bodyPr>
          <a:lstStyle/>
          <a:p>
            <a:pPr lvl="0" rtl="0"/>
            <a:r>
              <a:rPr lang="el-GR" noProof="0"/>
              <a:t>Επεξεργασία στυλ κειμένου υποδείγματος</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5" name="Θέση ημερομηνίας 4"/>
          <p:cNvSpPr>
            <a:spLocks noGrp="1"/>
          </p:cNvSpPr>
          <p:nvPr>
            <p:ph type="dt" sz="half" idx="10"/>
          </p:nvPr>
        </p:nvSpPr>
        <p:spPr/>
        <p:txBody>
          <a:bodyPr rtlCol="0"/>
          <a:lstStyle/>
          <a:p>
            <a:pPr rtl="0"/>
            <a:fld id="{89FB7F7F-200D-4E06-9708-36F5C2BBCB8C}" type="datetime1">
              <a:rPr lang="el-GR" noProof="0" smtClean="0"/>
              <a:t>25/5/2023</a:t>
            </a:fld>
            <a:endParaRPr lang="el-GR" noProof="0"/>
          </a:p>
        </p:txBody>
      </p:sp>
      <p:sp>
        <p:nvSpPr>
          <p:cNvPr id="6" name="Θέση υποσέλιδου 5"/>
          <p:cNvSpPr>
            <a:spLocks noGrp="1"/>
          </p:cNvSpPr>
          <p:nvPr>
            <p:ph type="ftr" sz="quarter" idx="11"/>
          </p:nvPr>
        </p:nvSpPr>
        <p:spPr/>
        <p:txBody>
          <a:bodyPr rtlCol="0"/>
          <a:lstStyle/>
          <a:p>
            <a:pPr rtl="0"/>
            <a:endParaRPr lang="el-GR" noProof="0"/>
          </a:p>
        </p:txBody>
      </p:sp>
      <p:sp>
        <p:nvSpPr>
          <p:cNvPr id="7" name="Θέση αριθμού διαφάνειας 6"/>
          <p:cNvSpPr>
            <a:spLocks noGrp="1"/>
          </p:cNvSpPr>
          <p:nvPr>
            <p:ph type="sldNum" sz="quarter" idx="12"/>
          </p:nvPr>
        </p:nvSpPr>
        <p:spPr/>
        <p:txBody>
          <a:bodyPr rtlCol="0"/>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11" name="Ορθογώνιο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Τίτλος 1"/>
          <p:cNvSpPr>
            <a:spLocks noGrp="1"/>
          </p:cNvSpPr>
          <p:nvPr>
            <p:ph type="title" hasCustomPrompt="1"/>
          </p:nvPr>
        </p:nvSpPr>
        <p:spPr>
          <a:xfrm>
            <a:off x="581193" y="729658"/>
            <a:ext cx="11029616" cy="988332"/>
          </a:xfrm>
        </p:spPr>
        <p:txBody>
          <a:bodyPr rtlCol="0"/>
          <a:lstStyle/>
          <a:p>
            <a:pPr rtl="0"/>
            <a:r>
              <a:rPr lang="el-GR" noProof="0"/>
              <a:t>Κάντε κλικ για να επεξεργαστείτε το Στυλ κύριου τίτλου</a:t>
            </a:r>
          </a:p>
        </p:txBody>
      </p:sp>
      <p:sp>
        <p:nvSpPr>
          <p:cNvPr id="3" name="Θέση κειμένου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l-GR" noProof="0"/>
              <a:t>Επεξεργασία στυλ κειμένου υποδείγματος</a:t>
            </a:r>
          </a:p>
        </p:txBody>
      </p:sp>
      <p:sp>
        <p:nvSpPr>
          <p:cNvPr id="4" name="Θέση περιεχομένου 3"/>
          <p:cNvSpPr>
            <a:spLocks noGrp="1"/>
          </p:cNvSpPr>
          <p:nvPr>
            <p:ph sz="half" idx="2" hasCustomPrompt="1"/>
          </p:nvPr>
        </p:nvSpPr>
        <p:spPr>
          <a:xfrm>
            <a:off x="581194" y="2926052"/>
            <a:ext cx="5393100" cy="2934999"/>
          </a:xfrm>
        </p:spPr>
        <p:txBody>
          <a:bodyPr rtlCol="0" anchor="t">
            <a:normAutofit/>
          </a:bodyPr>
          <a:lstStyle/>
          <a:p>
            <a:pPr lvl="0" rtl="0"/>
            <a:r>
              <a:rPr lang="el-GR" noProof="0"/>
              <a:t>Επεξεργασία στυλ κειμένου υποδείγματος</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5" name="Θέση κειμένου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l-GR" noProof="0"/>
              <a:t>Επεξεργασία στυλ κειμένου υποδείγματος</a:t>
            </a:r>
          </a:p>
        </p:txBody>
      </p:sp>
      <p:sp>
        <p:nvSpPr>
          <p:cNvPr id="6" name="Θέση περιεχομένου 5"/>
          <p:cNvSpPr>
            <a:spLocks noGrp="1"/>
          </p:cNvSpPr>
          <p:nvPr>
            <p:ph sz="quarter" idx="4" hasCustomPrompt="1"/>
          </p:nvPr>
        </p:nvSpPr>
        <p:spPr>
          <a:xfrm>
            <a:off x="6217709" y="2926052"/>
            <a:ext cx="5393100" cy="2934999"/>
          </a:xfrm>
        </p:spPr>
        <p:txBody>
          <a:bodyPr rtlCol="0" anchor="t">
            <a:normAutofit/>
          </a:bodyPr>
          <a:lstStyle/>
          <a:p>
            <a:pPr lvl="0" rtl="0"/>
            <a:r>
              <a:rPr lang="el-GR" noProof="0"/>
              <a:t>Επεξεργασία στυλ κειμένου υποδείγματος</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7" name="Θέση ημερομηνίας 6"/>
          <p:cNvSpPr>
            <a:spLocks noGrp="1"/>
          </p:cNvSpPr>
          <p:nvPr>
            <p:ph type="dt" sz="half" idx="10"/>
          </p:nvPr>
        </p:nvSpPr>
        <p:spPr/>
        <p:txBody>
          <a:bodyPr rtlCol="0"/>
          <a:lstStyle/>
          <a:p>
            <a:pPr rtl="0"/>
            <a:fld id="{A0DB36A7-F304-4C43-9713-854E8FD8E66E}" type="datetime1">
              <a:rPr lang="el-GR" noProof="0" smtClean="0"/>
              <a:t>25/5/2023</a:t>
            </a:fld>
            <a:endParaRPr lang="el-GR" noProof="0"/>
          </a:p>
        </p:txBody>
      </p:sp>
      <p:sp>
        <p:nvSpPr>
          <p:cNvPr id="8" name="Θέση υποσέλιδου 7"/>
          <p:cNvSpPr>
            <a:spLocks noGrp="1"/>
          </p:cNvSpPr>
          <p:nvPr>
            <p:ph type="ftr" sz="quarter" idx="11"/>
          </p:nvPr>
        </p:nvSpPr>
        <p:spPr/>
        <p:txBody>
          <a:bodyPr rtlCol="0"/>
          <a:lstStyle/>
          <a:p>
            <a:pPr rtl="0"/>
            <a:endParaRPr lang="el-GR" noProof="0"/>
          </a:p>
        </p:txBody>
      </p:sp>
      <p:sp>
        <p:nvSpPr>
          <p:cNvPr id="9" name="Θέση αριθμού διαφάνειας 8"/>
          <p:cNvSpPr>
            <a:spLocks noGrp="1"/>
          </p:cNvSpPr>
          <p:nvPr>
            <p:ph type="sldNum" sz="quarter" idx="12"/>
          </p:nvPr>
        </p:nvSpPr>
        <p:spPr/>
        <p:txBody>
          <a:bodyPr rtlCol="0"/>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3" name="Θέση ημερομηνίας 2"/>
          <p:cNvSpPr>
            <a:spLocks noGrp="1"/>
          </p:cNvSpPr>
          <p:nvPr>
            <p:ph type="dt" sz="half" idx="10"/>
          </p:nvPr>
        </p:nvSpPr>
        <p:spPr/>
        <p:txBody>
          <a:bodyPr rtlCol="0"/>
          <a:lstStyle/>
          <a:p>
            <a:pPr rtl="0"/>
            <a:fld id="{722CCC3C-F87B-4D2A-BF51-F22AC7A9A790}" type="datetime1">
              <a:rPr lang="el-GR" noProof="0" smtClean="0"/>
              <a:t>25/5/2023</a:t>
            </a:fld>
            <a:endParaRPr lang="el-GR" noProof="0"/>
          </a:p>
        </p:txBody>
      </p:sp>
      <p:sp>
        <p:nvSpPr>
          <p:cNvPr id="4" name="Θέση υποσέλιδου 3"/>
          <p:cNvSpPr>
            <a:spLocks noGrp="1"/>
          </p:cNvSpPr>
          <p:nvPr>
            <p:ph type="ftr" sz="quarter" idx="11"/>
          </p:nvPr>
        </p:nvSpPr>
        <p:spPr/>
        <p:txBody>
          <a:bodyPr rtlCol="0"/>
          <a:lstStyle/>
          <a:p>
            <a:pPr rtl="0"/>
            <a:endParaRPr lang="el-GR" noProof="0"/>
          </a:p>
        </p:txBody>
      </p:sp>
      <p:sp>
        <p:nvSpPr>
          <p:cNvPr id="5" name="Θέση αριθμού διαφάνειας 4"/>
          <p:cNvSpPr>
            <a:spLocks noGrp="1"/>
          </p:cNvSpPr>
          <p:nvPr>
            <p:ph type="sldNum" sz="quarter" idx="12"/>
          </p:nvPr>
        </p:nvSpPr>
        <p:spPr/>
        <p:txBody>
          <a:bodyPr rtlCol="0"/>
          <a:lstStyle/>
          <a:p>
            <a:pPr rtl="0"/>
            <a:fld id="{D57F1E4F-1CFF-5643-939E-217C01CDF565}" type="slidenum">
              <a:rPr lang="el-GR" noProof="0" smtClean="0"/>
              <a:pPr/>
              <a:t>‹#›</a:t>
            </a:fld>
            <a:endParaRPr lang="el-GR" noProof="0"/>
          </a:p>
        </p:txBody>
      </p:sp>
      <p:sp>
        <p:nvSpPr>
          <p:cNvPr id="7" name="Ορθογώνιο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Τίτλος 1"/>
          <p:cNvSpPr>
            <a:spLocks noGrp="1"/>
          </p:cNvSpPr>
          <p:nvPr>
            <p:ph type="title" hasCustomPrompt="1"/>
          </p:nvPr>
        </p:nvSpPr>
        <p:spPr>
          <a:xfrm>
            <a:off x="575894" y="729658"/>
            <a:ext cx="11029616" cy="988332"/>
          </a:xfrm>
        </p:spPr>
        <p:txBody>
          <a:bodyPr rtlCol="0"/>
          <a:lstStyle/>
          <a:p>
            <a:pPr rtl="0"/>
            <a:r>
              <a:rPr lang="el-GR" noProof="0"/>
              <a:t>Κάντε κλικ για να επεξεργαστείτε το Στυλ κύριου τίτλου</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rtlCol="0"/>
          <a:lstStyle/>
          <a:p>
            <a:pPr rtl="0"/>
            <a:fld id="{A933C5AD-5A5D-4BE4-A3AF-A1F44AA1602F}" type="datetime1">
              <a:rPr lang="el-GR" noProof="0" smtClean="0"/>
              <a:t>25/5/2023</a:t>
            </a:fld>
            <a:endParaRPr lang="el-GR" noProof="0"/>
          </a:p>
        </p:txBody>
      </p:sp>
      <p:sp>
        <p:nvSpPr>
          <p:cNvPr id="3" name="Θέση υποσέλιδου 2"/>
          <p:cNvSpPr>
            <a:spLocks noGrp="1"/>
          </p:cNvSpPr>
          <p:nvPr>
            <p:ph type="ftr" sz="quarter" idx="11"/>
          </p:nvPr>
        </p:nvSpPr>
        <p:spPr/>
        <p:txBody>
          <a:bodyPr rtlCol="0"/>
          <a:lstStyle/>
          <a:p>
            <a:pPr rtl="0"/>
            <a:endParaRPr lang="el-GR" noProof="0"/>
          </a:p>
        </p:txBody>
      </p:sp>
      <p:sp>
        <p:nvSpPr>
          <p:cNvPr id="4" name="Θέση αριθμού διαφάνειας 3"/>
          <p:cNvSpPr>
            <a:spLocks noGrp="1"/>
          </p:cNvSpPr>
          <p:nvPr>
            <p:ph type="sldNum" sz="quarter" idx="12"/>
          </p:nvPr>
        </p:nvSpPr>
        <p:spPr/>
        <p:txBody>
          <a:bodyPr rtlCol="0"/>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9" name="Ορθογώνιο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Τίτλος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l-GR" noProof="0"/>
              <a:t>Κάντε κλικ για να επεξεργαστείτε το Στυλ κύριου τίτλου</a:t>
            </a:r>
          </a:p>
        </p:txBody>
      </p:sp>
      <p:sp>
        <p:nvSpPr>
          <p:cNvPr id="3" name="Θέση περιεχομένου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l-GR" noProof="0"/>
              <a:t>Επεξεργασία στυλ κειμένου υποδείγματος</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4" name="Θέση κειμένου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l-GR" noProof="0"/>
              <a:t>Επεξεργασία στυλ κειμένου υποδείγματος</a:t>
            </a:r>
          </a:p>
        </p:txBody>
      </p:sp>
      <p:sp>
        <p:nvSpPr>
          <p:cNvPr id="5" name="Θέση ημερομηνίας 4"/>
          <p:cNvSpPr>
            <a:spLocks noGrp="1"/>
          </p:cNvSpPr>
          <p:nvPr>
            <p:ph type="dt" sz="half" idx="10"/>
          </p:nvPr>
        </p:nvSpPr>
        <p:spPr/>
        <p:txBody>
          <a:bodyPr rtlCol="0"/>
          <a:lstStyle>
            <a:lvl1pPr>
              <a:defRPr>
                <a:solidFill>
                  <a:schemeClr val="accent1">
                    <a:lumMod val="75000"/>
                    <a:lumOff val="25000"/>
                  </a:schemeClr>
                </a:solidFill>
              </a:defRPr>
            </a:lvl1pPr>
          </a:lstStyle>
          <a:p>
            <a:pPr rtl="0"/>
            <a:fld id="{BD281C95-C7DA-4379-BA13-55CE6B660E4D}" type="datetime1">
              <a:rPr lang="el-GR" noProof="0" smtClean="0"/>
              <a:t>25/5/2023</a:t>
            </a:fld>
            <a:endParaRPr lang="el-GR" noProof="0"/>
          </a:p>
        </p:txBody>
      </p:sp>
      <p:sp>
        <p:nvSpPr>
          <p:cNvPr id="6" name="Θέση υποσέλιδου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l-GR" noProof="0"/>
          </a:p>
        </p:txBody>
      </p:sp>
      <p:sp>
        <p:nvSpPr>
          <p:cNvPr id="7" name="Θέση αριθμού διαφάνειας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el-GR" noProof="0"/>
              <a:t>Κάντε κλικ για να επεξεργαστείτε το Στυλ κύριου τίτλου</a:t>
            </a:r>
          </a:p>
        </p:txBody>
      </p:sp>
      <p:sp>
        <p:nvSpPr>
          <p:cNvPr id="3" name="Θέση εικόνας 2"/>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l-GR" noProof="0"/>
              <a:t>Κάντε κλικ στο εικονίδιο για να προσθέσετε μια εικόνα</a:t>
            </a:r>
          </a:p>
        </p:txBody>
      </p:sp>
      <p:sp>
        <p:nvSpPr>
          <p:cNvPr id="4" name="Θέση κειμένου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l-GR" noProof="0"/>
              <a:t>Επεξεργασία στυλ κειμένου υποδείγματος</a:t>
            </a:r>
          </a:p>
        </p:txBody>
      </p:sp>
      <p:sp>
        <p:nvSpPr>
          <p:cNvPr id="5" name="Θέση ημερομηνίας 4"/>
          <p:cNvSpPr>
            <a:spLocks noGrp="1"/>
          </p:cNvSpPr>
          <p:nvPr>
            <p:ph type="dt" sz="half" idx="10"/>
          </p:nvPr>
        </p:nvSpPr>
        <p:spPr/>
        <p:txBody>
          <a:bodyPr rtlCol="0"/>
          <a:lstStyle/>
          <a:p>
            <a:pPr rtl="0"/>
            <a:fld id="{37B00D55-54B2-4D84-9E21-6F24818E2801}" type="datetime1">
              <a:rPr lang="el-GR" noProof="0" smtClean="0"/>
              <a:t>25/5/2023</a:t>
            </a:fld>
            <a:endParaRPr lang="el-GR" noProof="0"/>
          </a:p>
        </p:txBody>
      </p:sp>
      <p:sp>
        <p:nvSpPr>
          <p:cNvPr id="6" name="Θέση υποσέλιδου 5"/>
          <p:cNvSpPr>
            <a:spLocks noGrp="1"/>
          </p:cNvSpPr>
          <p:nvPr>
            <p:ph type="ftr" sz="quarter" idx="11"/>
          </p:nvPr>
        </p:nvSpPr>
        <p:spPr/>
        <p:txBody>
          <a:bodyPr rtlCol="0"/>
          <a:lstStyle/>
          <a:p>
            <a:pPr rtl="0"/>
            <a:endParaRPr lang="el-GR" noProof="0"/>
          </a:p>
        </p:txBody>
      </p:sp>
      <p:sp>
        <p:nvSpPr>
          <p:cNvPr id="7" name="Θέση αριθμού διαφάνειας 6"/>
          <p:cNvSpPr>
            <a:spLocks noGrp="1"/>
          </p:cNvSpPr>
          <p:nvPr>
            <p:ph type="sldNum" sz="quarter" idx="12"/>
          </p:nvPr>
        </p:nvSpPr>
        <p:spPr/>
        <p:txBody>
          <a:bodyPr rtlCol="0"/>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8" name="Ορθογώνιο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Τίτλος 1"/>
          <p:cNvSpPr>
            <a:spLocks noGrp="1"/>
          </p:cNvSpPr>
          <p:nvPr>
            <p:ph type="title" hasCustomPrompt="1"/>
          </p:nvPr>
        </p:nvSpPr>
        <p:spPr>
          <a:xfrm>
            <a:off x="581192" y="702156"/>
            <a:ext cx="11029616" cy="1013800"/>
          </a:xfrm>
        </p:spPr>
        <p:txBody>
          <a:bodyPr rtlCol="0"/>
          <a:lstStyle/>
          <a:p>
            <a:pPr rtl="0"/>
            <a:r>
              <a:rPr lang="el-GR" noProof="0"/>
              <a:t>Κάντε κλικ για να επεξεργαστείτε το Στυλ κύριου τίτλου</a:t>
            </a:r>
          </a:p>
        </p:txBody>
      </p:sp>
      <p:sp>
        <p:nvSpPr>
          <p:cNvPr id="3" name="Σύμβολο κράτησης θέσης κατακόρυφου κειμένου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el-GR" noProof="0"/>
              <a:t>Επεξεργασία στυλ κειμένου υποδείγματος</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4" name="Θέση ημερομηνίας 3"/>
          <p:cNvSpPr>
            <a:spLocks noGrp="1"/>
          </p:cNvSpPr>
          <p:nvPr>
            <p:ph type="dt" sz="half" idx="10"/>
          </p:nvPr>
        </p:nvSpPr>
        <p:spPr/>
        <p:txBody>
          <a:bodyPr rtlCol="0"/>
          <a:lstStyle/>
          <a:p>
            <a:pPr rtl="0"/>
            <a:fld id="{1C64ADB0-84A2-4632-A109-B776CF25AF76}" type="datetime1">
              <a:rPr lang="el-GR" noProof="0" smtClean="0"/>
              <a:t>25/5/2023</a:t>
            </a:fld>
            <a:endParaRPr lang="el-GR" noProof="0"/>
          </a:p>
        </p:txBody>
      </p:sp>
      <p:sp>
        <p:nvSpPr>
          <p:cNvPr id="5" name="Θέση υποσέλιδου 4"/>
          <p:cNvSpPr>
            <a:spLocks noGrp="1"/>
          </p:cNvSpPr>
          <p:nvPr>
            <p:ph type="ftr" sz="quarter" idx="11"/>
          </p:nvPr>
        </p:nvSpPr>
        <p:spPr/>
        <p:txBody>
          <a:bodyPr rtlCol="0"/>
          <a:lstStyle/>
          <a:p>
            <a:pPr rtl="0"/>
            <a:endParaRPr lang="el-GR" noProof="0"/>
          </a:p>
        </p:txBody>
      </p:sp>
      <p:sp>
        <p:nvSpPr>
          <p:cNvPr id="6" name="Θέση αριθμού διαφάνειας 5"/>
          <p:cNvSpPr>
            <a:spLocks noGrp="1"/>
          </p:cNvSpPr>
          <p:nvPr>
            <p:ph type="sldNum" sz="quarter" idx="12"/>
          </p:nvPr>
        </p:nvSpPr>
        <p:spPr/>
        <p:txBody>
          <a:bodyPr rtlCol="0"/>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7" name="Ορθογώνιο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Κατακόρυφος τίτλος 1"/>
          <p:cNvSpPr>
            <a:spLocks noGrp="1"/>
          </p:cNvSpPr>
          <p:nvPr>
            <p:ph type="title" orient="vert" hasCustomPrompt="1"/>
          </p:nvPr>
        </p:nvSpPr>
        <p:spPr>
          <a:xfrm>
            <a:off x="8839201" y="675726"/>
            <a:ext cx="2004164" cy="5183073"/>
          </a:xfrm>
        </p:spPr>
        <p:txBody>
          <a:bodyPr vert="eaVert" rtlCol="0"/>
          <a:lstStyle/>
          <a:p>
            <a:pPr rtl="0"/>
            <a:r>
              <a:rPr lang="el-GR" noProof="0"/>
              <a:t>Κάντε κλικ για να επεξεργαστείτε το Στυλ κύριου τίτλου</a:t>
            </a:r>
          </a:p>
        </p:txBody>
      </p:sp>
      <p:sp>
        <p:nvSpPr>
          <p:cNvPr id="3" name="Σύμβολο κράτησης θέσης κατακόρυφου κειμένου 2"/>
          <p:cNvSpPr>
            <a:spLocks noGrp="1"/>
          </p:cNvSpPr>
          <p:nvPr>
            <p:ph type="body" orient="vert" idx="1" hasCustomPrompt="1"/>
          </p:nvPr>
        </p:nvSpPr>
        <p:spPr>
          <a:xfrm>
            <a:off x="774923" y="675726"/>
            <a:ext cx="7896279" cy="5183073"/>
          </a:xfrm>
        </p:spPr>
        <p:txBody>
          <a:bodyPr vert="eaVert" rtlCol="0" anchor="t"/>
          <a:lstStyle/>
          <a:p>
            <a:pPr lvl="0" rtl="0"/>
            <a:r>
              <a:rPr lang="el-GR" noProof="0"/>
              <a:t>Επεξεργασία στυλ κειμένου υποδείγματος</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4" name="Θέση ημερομηνίας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CDE11580-C0E1-4567-95AB-58528A20AC01}" type="datetime1">
              <a:rPr lang="el-GR" noProof="0" smtClean="0"/>
              <a:t>25/5/2023</a:t>
            </a:fld>
            <a:endParaRPr lang="el-GR" noProof="0"/>
          </a:p>
        </p:txBody>
      </p:sp>
      <p:sp>
        <p:nvSpPr>
          <p:cNvPr id="5" name="Θέση υποσέλιδου 4"/>
          <p:cNvSpPr>
            <a:spLocks noGrp="1"/>
          </p:cNvSpPr>
          <p:nvPr>
            <p:ph type="ftr" sz="quarter" idx="11"/>
          </p:nvPr>
        </p:nvSpPr>
        <p:spPr>
          <a:xfrm>
            <a:off x="774923" y="5951811"/>
            <a:ext cx="7896279" cy="365125"/>
          </a:xfrm>
        </p:spPr>
        <p:txBody>
          <a:bodyPr rtlCol="0"/>
          <a:lstStyle/>
          <a:p>
            <a:pPr rtl="0"/>
            <a:endParaRPr lang="el-GR" noProof="0"/>
          </a:p>
        </p:txBody>
      </p:sp>
      <p:sp>
        <p:nvSpPr>
          <p:cNvPr id="6" name="Θέση αριθμού διαφάνειας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l-GR" noProof="0" smtClean="0"/>
              <a:pPr/>
              <a:t>‹#›</a:t>
            </a:fld>
            <a:endParaRPr lang="el-GR"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l-GR" noProof="0"/>
              <a:t>Κάντε κλικ για να επεξεργαστείτε το Στυλ κύριου τίτλου</a:t>
            </a:r>
          </a:p>
        </p:txBody>
      </p:sp>
      <p:sp>
        <p:nvSpPr>
          <p:cNvPr id="3" name="Θέση κειμένου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l-GR" noProof="0"/>
              <a:t>Επεξεργασία στυλ κειμένου υποδείγματος</a:t>
            </a:r>
          </a:p>
          <a:p>
            <a:pPr lvl="1" rtl="0"/>
            <a:r>
              <a:rPr lang="el-GR" noProof="0"/>
              <a:t>Δεύτερου επιπέδου</a:t>
            </a:r>
          </a:p>
          <a:p>
            <a:pPr lvl="2" rtl="0"/>
            <a:r>
              <a:rPr lang="el-GR" noProof="0"/>
              <a:t>Τρίτου επιπέδου</a:t>
            </a:r>
          </a:p>
          <a:p>
            <a:pPr lvl="3" rtl="0"/>
            <a:r>
              <a:rPr lang="el-GR" noProof="0"/>
              <a:t>Τέταρτου επιπέδου</a:t>
            </a:r>
          </a:p>
          <a:p>
            <a:pPr lvl="4" rtl="0"/>
            <a:r>
              <a:rPr lang="el-GR" noProof="0"/>
              <a:t>Πέμπτου επιπέδου</a:t>
            </a:r>
          </a:p>
        </p:txBody>
      </p:sp>
      <p:sp>
        <p:nvSpPr>
          <p:cNvPr id="4" name="Θέση ημερομηνίας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latin typeface="Calibri" panose="020F0502020204030204" pitchFamily="34" charset="0"/>
                <a:cs typeface="Calibri" panose="020F0502020204030204" pitchFamily="34" charset="0"/>
              </a:defRPr>
            </a:lvl1pPr>
          </a:lstStyle>
          <a:p>
            <a:fld id="{260B3263-368D-4C77-8BC0-7F24AC002C4D}" type="datetime1">
              <a:rPr lang="el-GR" noProof="0" smtClean="0"/>
              <a:t>25/5/2023</a:t>
            </a:fld>
            <a:endParaRPr lang="el-GR" noProof="0">
              <a:latin typeface="Calibri" panose="020F0502020204030204" pitchFamily="34" charset="0"/>
              <a:cs typeface="Calibri" panose="020F0502020204030204" pitchFamily="34" charset="0"/>
            </a:endParaRPr>
          </a:p>
        </p:txBody>
      </p:sp>
      <p:sp>
        <p:nvSpPr>
          <p:cNvPr id="5" name="Θέση υποσέλιδου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latin typeface="Calibri" panose="020F0502020204030204" pitchFamily="34" charset="0"/>
                <a:cs typeface="Calibri" panose="020F0502020204030204" pitchFamily="34" charset="0"/>
              </a:defRPr>
            </a:lvl1pPr>
          </a:lstStyle>
          <a:p>
            <a:endParaRPr lang="el-GR" noProof="0">
              <a:latin typeface="Calibri" panose="020F0502020204030204" pitchFamily="34" charset="0"/>
              <a:cs typeface="Calibri" panose="020F0502020204030204" pitchFamily="34" charset="0"/>
            </a:endParaRPr>
          </a:p>
        </p:txBody>
      </p:sp>
      <p:sp>
        <p:nvSpPr>
          <p:cNvPr id="6" name="Θέση αριθμού διαφάνειας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latin typeface="Calibri" panose="020F0502020204030204" pitchFamily="34" charset="0"/>
                <a:cs typeface="Calibri" panose="020F0502020204030204" pitchFamily="34" charset="0"/>
              </a:defRPr>
            </a:lvl1pPr>
          </a:lstStyle>
          <a:p>
            <a:fld id="{D57F1E4F-1CFF-5643-939E-217C01CDF565}" type="slidenum">
              <a:rPr lang="el-GR" noProof="0" smtClean="0"/>
              <a:pPr/>
              <a:t>‹#›</a:t>
            </a:fld>
            <a:endParaRPr lang="el-GR" noProof="0">
              <a:latin typeface="Calibri" panose="020F0502020204030204" pitchFamily="34" charset="0"/>
              <a:cs typeface="Calibri" panose="020F0502020204030204" pitchFamily="34" charset="0"/>
            </a:endParaRPr>
          </a:p>
        </p:txBody>
      </p:sp>
      <p:sp>
        <p:nvSpPr>
          <p:cNvPr id="9" name="Ορθογώνιο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Ορθογώνιο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Ορθογώνιο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Calibri" panose="020F0502020204030204" pitchFamily="34" charset="0"/>
          <a:ea typeface="+mj-ea"/>
          <a:cs typeface="Calibri" panose="020F050202020403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fif"/></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770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Ορθογώνιο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dirty="0">
              <a:latin typeface="Calibri" panose="020F0502020204030204" pitchFamily="34" charset="0"/>
            </a:endParaRPr>
          </a:p>
        </p:txBody>
      </p:sp>
      <p:pic>
        <p:nvPicPr>
          <p:cNvPr id="8" name="Θέση περιεχομένου 4">
            <a:extLst>
              <a:ext uri="{FF2B5EF4-FFF2-40B4-BE49-F238E27FC236}">
                <a16:creationId xmlns:a16="http://schemas.microsoft.com/office/drawing/2014/main" id="{EA70616B-E344-4856-8DF9-707C26236613}"/>
              </a:ext>
            </a:extLst>
          </p:cNvPr>
          <p:cNvPicPr>
            <a:picLocks noChangeAspect="1"/>
          </p:cNvPicPr>
          <p:nvPr/>
        </p:nvPicPr>
        <p:blipFill>
          <a:blip r:embed="rId3"/>
          <a:srcRect/>
          <a:stretch/>
        </p:blipFill>
        <p:spPr>
          <a:xfrm>
            <a:off x="-2500" y="10"/>
            <a:ext cx="12191980" cy="6857990"/>
          </a:xfrm>
          <a:prstGeom prst="rect">
            <a:avLst/>
          </a:prstGeom>
        </p:spPr>
      </p:pic>
      <p:grpSp>
        <p:nvGrpSpPr>
          <p:cNvPr id="15" name="Ομάδα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Ορθογώνιο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Ορθογώνιο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Ορθογώνιο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3" name="Ορθογώνιο 2">
            <a:extLst>
              <a:ext uri="{FF2B5EF4-FFF2-40B4-BE49-F238E27FC236}">
                <a16:creationId xmlns:a16="http://schemas.microsoft.com/office/drawing/2014/main" id="{64B88821-90E3-CFA1-815B-C1AC68E21C3A}"/>
              </a:ext>
            </a:extLst>
          </p:cNvPr>
          <p:cNvSpPr/>
          <p:nvPr/>
        </p:nvSpPr>
        <p:spPr>
          <a:xfrm>
            <a:off x="7941732" y="614510"/>
            <a:ext cx="3956133" cy="5777822"/>
          </a:xfrm>
          <a:prstGeom prst="rect">
            <a:avLst/>
          </a:prstGeom>
          <a:gradFill>
            <a:gsLst>
              <a:gs pos="0">
                <a:srgbClr val="19315F">
                  <a:alpha val="94000"/>
                </a:srgbClr>
              </a:gs>
              <a:gs pos="28000">
                <a:srgbClr val="193160">
                  <a:alpha val="97000"/>
                </a:srgbClr>
              </a:gs>
              <a:gs pos="63000">
                <a:srgbClr val="193262">
                  <a:alpha val="97000"/>
                </a:srgbClr>
              </a:gs>
              <a:gs pos="100000">
                <a:srgbClr val="1A316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aphicFrame>
        <p:nvGraphicFramePr>
          <p:cNvPr id="6" name="Θέση περιεχομένου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2398858252"/>
              </p:ext>
            </p:extLst>
          </p:nvPr>
        </p:nvGraphicFramePr>
        <p:xfrm>
          <a:off x="719569" y="2198254"/>
          <a:ext cx="10929092"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Τίτλος 1">
            <a:extLst>
              <a:ext uri="{FF2B5EF4-FFF2-40B4-BE49-F238E27FC236}">
                <a16:creationId xmlns:a16="http://schemas.microsoft.com/office/drawing/2014/main" id="{7F2616EE-270D-4F4C-BA1F-2708D387B800}"/>
              </a:ext>
            </a:extLst>
          </p:cNvPr>
          <p:cNvSpPr>
            <a:spLocks noGrp="1"/>
          </p:cNvSpPr>
          <p:nvPr>
            <p:ph type="title"/>
          </p:nvPr>
        </p:nvSpPr>
        <p:spPr>
          <a:xfrm>
            <a:off x="584199" y="1006956"/>
            <a:ext cx="11169733" cy="1121871"/>
          </a:xfrm>
        </p:spPr>
        <p:txBody>
          <a:bodyPr rtlCol="0" anchor="ctr">
            <a:normAutofit/>
          </a:bodyPr>
          <a:lstStyle/>
          <a:p>
            <a:pPr algn="ctr" rtl="0"/>
            <a:r>
              <a:rPr lang="en-US" dirty="0"/>
              <a:t>Ai pair programmer experience</a:t>
            </a:r>
            <a:endParaRPr lang="el-GR" dirty="0"/>
          </a:p>
        </p:txBody>
      </p:sp>
    </p:spTree>
    <p:extLst>
      <p:ext uri="{BB962C8B-B14F-4D97-AF65-F5344CB8AC3E}">
        <p14:creationId xmlns:p14="http://schemas.microsoft.com/office/powerpoint/2010/main" val="42093220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5CD57A8-3BBA-45B2-3B94-83DED893017B}"/>
              </a:ext>
            </a:extLst>
          </p:cNvPr>
          <p:cNvSpPr>
            <a:spLocks noGrp="1"/>
          </p:cNvSpPr>
          <p:nvPr>
            <p:ph type="title"/>
          </p:nvPr>
        </p:nvSpPr>
        <p:spPr>
          <a:xfrm>
            <a:off x="581192" y="702156"/>
            <a:ext cx="11029616" cy="465163"/>
          </a:xfrm>
        </p:spPr>
        <p:txBody>
          <a:bodyPr>
            <a:normAutofit fontScale="90000"/>
          </a:bodyPr>
          <a:lstStyle/>
          <a:p>
            <a:r>
              <a:rPr lang="en-US" dirty="0"/>
              <a:t>TASK</a:t>
            </a:r>
            <a:r>
              <a:rPr lang="el-GR" dirty="0"/>
              <a:t> 1</a:t>
            </a:r>
          </a:p>
        </p:txBody>
      </p:sp>
      <p:sp>
        <p:nvSpPr>
          <p:cNvPr id="3" name="Θέση περιεχομένου 2">
            <a:extLst>
              <a:ext uri="{FF2B5EF4-FFF2-40B4-BE49-F238E27FC236}">
                <a16:creationId xmlns:a16="http://schemas.microsoft.com/office/drawing/2014/main" id="{14DD5F37-90FE-F9AF-D4AE-C812021FE534}"/>
              </a:ext>
            </a:extLst>
          </p:cNvPr>
          <p:cNvSpPr>
            <a:spLocks noGrp="1"/>
          </p:cNvSpPr>
          <p:nvPr>
            <p:ph idx="1"/>
          </p:nvPr>
        </p:nvSpPr>
        <p:spPr>
          <a:xfrm>
            <a:off x="581193" y="1859486"/>
            <a:ext cx="2416812" cy="1906270"/>
          </a:xfrm>
          <a:ln>
            <a:noFill/>
          </a:ln>
        </p:spPr>
        <p:txBody>
          <a:bodyPr anchor="t" anchorCtr="0">
            <a:normAutofit/>
          </a:bodyPr>
          <a:lstStyle/>
          <a:p>
            <a:r>
              <a:rPr lang="en-US" sz="2400" b="1" dirty="0"/>
              <a:t>First Request:</a:t>
            </a:r>
          </a:p>
          <a:p>
            <a:pPr marL="228600" indent="-228600">
              <a:buFont typeface="+mj-lt"/>
              <a:buAutoNum type="arabicPeriod"/>
            </a:pPr>
            <a:r>
              <a:rPr lang="en-US" dirty="0"/>
              <a:t>Function name</a:t>
            </a:r>
          </a:p>
          <a:p>
            <a:pPr marL="228600" indent="-228600">
              <a:buFont typeface="+mj-lt"/>
              <a:buAutoNum type="arabicPeriod"/>
            </a:pPr>
            <a:r>
              <a:rPr lang="en-US" dirty="0"/>
              <a:t>Arguments</a:t>
            </a:r>
          </a:p>
          <a:p>
            <a:pPr marL="228600" indent="-228600">
              <a:buFont typeface="+mj-lt"/>
              <a:buAutoNum type="arabicPeriod"/>
            </a:pPr>
            <a:r>
              <a:rPr lang="en-US" dirty="0"/>
              <a:t>Return value</a:t>
            </a:r>
            <a:endParaRPr lang="el-GR" dirty="0"/>
          </a:p>
        </p:txBody>
      </p:sp>
      <p:sp>
        <p:nvSpPr>
          <p:cNvPr id="4" name="Υπότιτλος 2">
            <a:extLst>
              <a:ext uri="{FF2B5EF4-FFF2-40B4-BE49-F238E27FC236}">
                <a16:creationId xmlns:a16="http://schemas.microsoft.com/office/drawing/2014/main" id="{71CA5918-2E5D-6280-C4AE-70D45BD076C1}"/>
              </a:ext>
            </a:extLst>
          </p:cNvPr>
          <p:cNvSpPr txBox="1">
            <a:spLocks/>
          </p:cNvSpPr>
          <p:nvPr/>
        </p:nvSpPr>
        <p:spPr>
          <a:xfrm>
            <a:off x="581192" y="1167319"/>
            <a:ext cx="10993546" cy="48482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err="1">
                <a:solidFill>
                  <a:srgbClr val="7CEBFF"/>
                </a:solidFill>
              </a:rPr>
              <a:t>get_dot_bracket_notation</a:t>
            </a:r>
            <a:r>
              <a:rPr lang="en-US" dirty="0">
                <a:solidFill>
                  <a:srgbClr val="7CEBFF"/>
                </a:solidFill>
              </a:rPr>
              <a:t>(n: int, </a:t>
            </a:r>
            <a:r>
              <a:rPr lang="en-US" dirty="0" err="1">
                <a:solidFill>
                  <a:srgbClr val="7CEBFF"/>
                </a:solidFill>
              </a:rPr>
              <a:t>sorted_pairs</a:t>
            </a:r>
            <a:r>
              <a:rPr lang="en-US" dirty="0">
                <a:solidFill>
                  <a:srgbClr val="7CEBFF"/>
                </a:solidFill>
              </a:rPr>
              <a:t>)</a:t>
            </a:r>
            <a:endParaRPr lang="el-GR" dirty="0">
              <a:solidFill>
                <a:srgbClr val="7CEBFF"/>
              </a:solidFill>
            </a:endParaRPr>
          </a:p>
        </p:txBody>
      </p:sp>
      <p:pic>
        <p:nvPicPr>
          <p:cNvPr id="7" name="Εικόνα 6" descr="Εικόνα που περιέχει κείμενο, ηλεκτρονικές συσκευές, στιγμιότυπο οθόνης, λογισμικό&#10;&#10;Περιγραφή που δημιουργήθηκε αυτόματα">
            <a:extLst>
              <a:ext uri="{FF2B5EF4-FFF2-40B4-BE49-F238E27FC236}">
                <a16:creationId xmlns:a16="http://schemas.microsoft.com/office/drawing/2014/main" id="{BD0274FF-125F-BD7B-B436-4002888B34BF}"/>
              </a:ext>
            </a:extLst>
          </p:cNvPr>
          <p:cNvPicPr>
            <a:picLocks noChangeAspect="1"/>
          </p:cNvPicPr>
          <p:nvPr/>
        </p:nvPicPr>
        <p:blipFill>
          <a:blip r:embed="rId2"/>
          <a:stretch>
            <a:fillRect/>
          </a:stretch>
        </p:blipFill>
        <p:spPr>
          <a:xfrm>
            <a:off x="581192" y="3869525"/>
            <a:ext cx="5125165" cy="2286319"/>
          </a:xfrm>
          <a:prstGeom prst="rect">
            <a:avLst/>
          </a:prstGeom>
        </p:spPr>
      </p:pic>
      <p:sp>
        <p:nvSpPr>
          <p:cNvPr id="10" name="Θέση περιεχομένου 2">
            <a:extLst>
              <a:ext uri="{FF2B5EF4-FFF2-40B4-BE49-F238E27FC236}">
                <a16:creationId xmlns:a16="http://schemas.microsoft.com/office/drawing/2014/main" id="{A60D4D49-9525-A835-88C7-FC11F61CE114}"/>
              </a:ext>
            </a:extLst>
          </p:cNvPr>
          <p:cNvSpPr txBox="1">
            <a:spLocks/>
          </p:cNvSpPr>
          <p:nvPr/>
        </p:nvSpPr>
        <p:spPr>
          <a:xfrm>
            <a:off x="3289546" y="1861329"/>
            <a:ext cx="2416812" cy="1357374"/>
          </a:xfrm>
          <a:prstGeom prst="rect">
            <a:avLst/>
          </a:prstGeom>
          <a:ln>
            <a:noFill/>
          </a:ln>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First Review:</a:t>
            </a:r>
          </a:p>
          <a:p>
            <a:pPr marL="0" indent="0">
              <a:buNone/>
            </a:pPr>
            <a:r>
              <a:rPr lang="en-US" dirty="0"/>
              <a:t>	Wrong indexing</a:t>
            </a:r>
          </a:p>
        </p:txBody>
      </p:sp>
      <p:pic>
        <p:nvPicPr>
          <p:cNvPr id="5" name="Εικόνα 4" descr="Εικόνα που περιέχει κείμενο, ηλεκτρονικές συσκευές, στιγμιότυπο οθόνης, λογισμικό&#10;&#10;Περιγραφή που δημιουργήθηκε αυτόματα">
            <a:extLst>
              <a:ext uri="{FF2B5EF4-FFF2-40B4-BE49-F238E27FC236}">
                <a16:creationId xmlns:a16="http://schemas.microsoft.com/office/drawing/2014/main" id="{927825F3-B717-A711-FC44-D3C2087A805E}"/>
              </a:ext>
            </a:extLst>
          </p:cNvPr>
          <p:cNvPicPr>
            <a:picLocks noChangeAspect="1"/>
          </p:cNvPicPr>
          <p:nvPr/>
        </p:nvPicPr>
        <p:blipFill>
          <a:blip r:embed="rId3"/>
          <a:stretch>
            <a:fillRect/>
          </a:stretch>
        </p:blipFill>
        <p:spPr>
          <a:xfrm>
            <a:off x="6485644" y="3020120"/>
            <a:ext cx="5220673" cy="2343273"/>
          </a:xfrm>
          <a:prstGeom prst="rect">
            <a:avLst/>
          </a:prstGeom>
        </p:spPr>
      </p:pic>
      <p:sp>
        <p:nvSpPr>
          <p:cNvPr id="6" name="Θέση περιεχομένου 2">
            <a:extLst>
              <a:ext uri="{FF2B5EF4-FFF2-40B4-BE49-F238E27FC236}">
                <a16:creationId xmlns:a16="http://schemas.microsoft.com/office/drawing/2014/main" id="{855F5207-BD13-4BC1-0070-C4ADFFD8FB18}"/>
              </a:ext>
            </a:extLst>
          </p:cNvPr>
          <p:cNvSpPr txBox="1">
            <a:spLocks/>
          </p:cNvSpPr>
          <p:nvPr/>
        </p:nvSpPr>
        <p:spPr>
          <a:xfrm>
            <a:off x="7521702" y="1859486"/>
            <a:ext cx="3148556" cy="953289"/>
          </a:xfrm>
          <a:prstGeom prst="rect">
            <a:avLst/>
          </a:prstGeom>
          <a:ln>
            <a:noFill/>
          </a:ln>
        </p:spPr>
        <p:txBody>
          <a:bodyPr anchor="t" anchorCtr="0"/>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Second Request:</a:t>
            </a:r>
          </a:p>
          <a:p>
            <a:pPr marL="0" indent="0">
              <a:buFont typeface="Wingdings 2" panose="05020102010507070707" pitchFamily="18" charset="2"/>
              <a:buNone/>
            </a:pPr>
            <a:r>
              <a:rPr lang="en-US" dirty="0"/>
              <a:t>	Indexes</a:t>
            </a:r>
            <a:endParaRPr lang="el-GR" dirty="0"/>
          </a:p>
        </p:txBody>
      </p:sp>
      <p:sp>
        <p:nvSpPr>
          <p:cNvPr id="8" name="Θέση περιεχομένου 2">
            <a:extLst>
              <a:ext uri="{FF2B5EF4-FFF2-40B4-BE49-F238E27FC236}">
                <a16:creationId xmlns:a16="http://schemas.microsoft.com/office/drawing/2014/main" id="{3BB9DF1F-2408-F27D-186E-09692828662C}"/>
              </a:ext>
            </a:extLst>
          </p:cNvPr>
          <p:cNvSpPr txBox="1">
            <a:spLocks/>
          </p:cNvSpPr>
          <p:nvPr/>
        </p:nvSpPr>
        <p:spPr>
          <a:xfrm>
            <a:off x="7838763" y="5570738"/>
            <a:ext cx="2514433" cy="953289"/>
          </a:xfrm>
          <a:prstGeom prst="rect">
            <a:avLst/>
          </a:prstGeom>
        </p:spPr>
        <p:txBody>
          <a:bodyPr anchor="ctr" anchorCtr="0"/>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pPr>
            <a:r>
              <a:rPr lang="en-US" sz="1600" b="1" u="sng" dirty="0"/>
              <a:t>SUCCESS</a:t>
            </a:r>
            <a:endParaRPr lang="el-GR" sz="1600" b="1" u="sng" dirty="0"/>
          </a:p>
        </p:txBody>
      </p:sp>
    </p:spTree>
    <p:extLst>
      <p:ext uri="{BB962C8B-B14F-4D97-AF65-F5344CB8AC3E}">
        <p14:creationId xmlns:p14="http://schemas.microsoft.com/office/powerpoint/2010/main" val="25507531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5CD57A8-3BBA-45B2-3B94-83DED893017B}"/>
              </a:ext>
            </a:extLst>
          </p:cNvPr>
          <p:cNvSpPr>
            <a:spLocks noGrp="1"/>
          </p:cNvSpPr>
          <p:nvPr>
            <p:ph type="title"/>
          </p:nvPr>
        </p:nvSpPr>
        <p:spPr>
          <a:xfrm>
            <a:off x="581192" y="702156"/>
            <a:ext cx="11029616" cy="465163"/>
          </a:xfrm>
        </p:spPr>
        <p:txBody>
          <a:bodyPr>
            <a:normAutofit fontScale="90000"/>
          </a:bodyPr>
          <a:lstStyle/>
          <a:p>
            <a:r>
              <a:rPr lang="en-US" dirty="0"/>
              <a:t>TASK</a:t>
            </a:r>
            <a:r>
              <a:rPr lang="el-GR" dirty="0"/>
              <a:t> 2.1</a:t>
            </a:r>
          </a:p>
        </p:txBody>
      </p:sp>
      <p:sp>
        <p:nvSpPr>
          <p:cNvPr id="4" name="Υπότιτλος 2">
            <a:extLst>
              <a:ext uri="{FF2B5EF4-FFF2-40B4-BE49-F238E27FC236}">
                <a16:creationId xmlns:a16="http://schemas.microsoft.com/office/drawing/2014/main" id="{71CA5918-2E5D-6280-C4AE-70D45BD076C1}"/>
              </a:ext>
            </a:extLst>
          </p:cNvPr>
          <p:cNvSpPr txBox="1">
            <a:spLocks/>
          </p:cNvSpPr>
          <p:nvPr/>
        </p:nvSpPr>
        <p:spPr>
          <a:xfrm>
            <a:off x="581192" y="1167319"/>
            <a:ext cx="10993546" cy="48482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err="1">
                <a:solidFill>
                  <a:srgbClr val="7CEBFF"/>
                </a:solidFill>
              </a:rPr>
              <a:t>can_pair</a:t>
            </a:r>
            <a:r>
              <a:rPr lang="en-US" dirty="0">
                <a:solidFill>
                  <a:srgbClr val="7CEBFF"/>
                </a:solidFill>
              </a:rPr>
              <a:t>(base_1:str, base_2:str)</a:t>
            </a:r>
            <a:endParaRPr lang="el-GR" dirty="0">
              <a:solidFill>
                <a:srgbClr val="7CEBFF"/>
              </a:solidFill>
            </a:endParaRPr>
          </a:p>
        </p:txBody>
      </p:sp>
      <p:sp>
        <p:nvSpPr>
          <p:cNvPr id="10" name="Θέση περιεχομένου 2">
            <a:extLst>
              <a:ext uri="{FF2B5EF4-FFF2-40B4-BE49-F238E27FC236}">
                <a16:creationId xmlns:a16="http://schemas.microsoft.com/office/drawing/2014/main" id="{A60D4D49-9525-A835-88C7-FC11F61CE114}"/>
              </a:ext>
            </a:extLst>
          </p:cNvPr>
          <p:cNvSpPr txBox="1">
            <a:spLocks/>
          </p:cNvSpPr>
          <p:nvPr/>
        </p:nvSpPr>
        <p:spPr>
          <a:xfrm>
            <a:off x="581192" y="5777280"/>
            <a:ext cx="2987918" cy="953972"/>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First Review:</a:t>
            </a:r>
          </a:p>
          <a:p>
            <a:pPr marL="0" indent="0">
              <a:buNone/>
            </a:pPr>
            <a:r>
              <a:rPr lang="en-US" dirty="0"/>
              <a:t>	Pairs Guanine with </a:t>
            </a:r>
            <a:r>
              <a:rPr lang="en-US" dirty="0" err="1"/>
              <a:t>Urakil</a:t>
            </a:r>
            <a:endParaRPr lang="en-US" dirty="0"/>
          </a:p>
        </p:txBody>
      </p:sp>
      <p:pic>
        <p:nvPicPr>
          <p:cNvPr id="6" name="Εικόνα 5" descr="Εικόνα που περιέχει κείμενο, στιγμιότυπο οθόνης, λογισμικό, λειτουργικό σύστημα&#10;&#10;Περιγραφή που δημιουργήθηκε αυτόματα">
            <a:extLst>
              <a:ext uri="{FF2B5EF4-FFF2-40B4-BE49-F238E27FC236}">
                <a16:creationId xmlns:a16="http://schemas.microsoft.com/office/drawing/2014/main" id="{7216788F-0609-0322-0AE4-98BE63EBEAD2}"/>
              </a:ext>
            </a:extLst>
          </p:cNvPr>
          <p:cNvPicPr>
            <a:picLocks noChangeAspect="1"/>
          </p:cNvPicPr>
          <p:nvPr/>
        </p:nvPicPr>
        <p:blipFill>
          <a:blip r:embed="rId3"/>
          <a:stretch>
            <a:fillRect/>
          </a:stretch>
        </p:blipFill>
        <p:spPr>
          <a:xfrm>
            <a:off x="581192" y="2117304"/>
            <a:ext cx="5134692" cy="3429479"/>
          </a:xfrm>
          <a:prstGeom prst="rect">
            <a:avLst/>
          </a:prstGeom>
        </p:spPr>
      </p:pic>
      <p:sp>
        <p:nvSpPr>
          <p:cNvPr id="11" name="Θέση περιεχομένου 2">
            <a:extLst>
              <a:ext uri="{FF2B5EF4-FFF2-40B4-BE49-F238E27FC236}">
                <a16:creationId xmlns:a16="http://schemas.microsoft.com/office/drawing/2014/main" id="{339ED944-726D-3BF1-F57F-BDA9FF8C07AD}"/>
              </a:ext>
            </a:extLst>
          </p:cNvPr>
          <p:cNvSpPr txBox="1">
            <a:spLocks/>
          </p:cNvSpPr>
          <p:nvPr/>
        </p:nvSpPr>
        <p:spPr>
          <a:xfrm>
            <a:off x="6440046" y="4862491"/>
            <a:ext cx="4326277" cy="1185198"/>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First Review:</a:t>
            </a:r>
          </a:p>
          <a:p>
            <a:pPr marL="0" indent="0">
              <a:buNone/>
            </a:pPr>
            <a:r>
              <a:rPr lang="en-US" dirty="0"/>
              <a:t>	It’s written for DNA nucleobases</a:t>
            </a:r>
          </a:p>
        </p:txBody>
      </p:sp>
      <p:pic>
        <p:nvPicPr>
          <p:cNvPr id="14" name="Εικόνα 13" descr="Εικόνα που περιέχει κείμενο, στιγμιότυπο οθόνης, λογισμικό, οθόνη&#10;&#10;Περιγραφή που δημιουργήθηκε αυτόματα">
            <a:extLst>
              <a:ext uri="{FF2B5EF4-FFF2-40B4-BE49-F238E27FC236}">
                <a16:creationId xmlns:a16="http://schemas.microsoft.com/office/drawing/2014/main" id="{FE599BF4-A049-17BB-8124-77CB4BDDCF4B}"/>
              </a:ext>
            </a:extLst>
          </p:cNvPr>
          <p:cNvPicPr>
            <a:picLocks noChangeAspect="1"/>
          </p:cNvPicPr>
          <p:nvPr/>
        </p:nvPicPr>
        <p:blipFill>
          <a:blip r:embed="rId4"/>
          <a:stretch>
            <a:fillRect/>
          </a:stretch>
        </p:blipFill>
        <p:spPr>
          <a:xfrm>
            <a:off x="6440046" y="2117304"/>
            <a:ext cx="5134692" cy="2514951"/>
          </a:xfrm>
          <a:prstGeom prst="rect">
            <a:avLst/>
          </a:prstGeom>
        </p:spPr>
      </p:pic>
    </p:spTree>
    <p:extLst>
      <p:ext uri="{BB962C8B-B14F-4D97-AF65-F5344CB8AC3E}">
        <p14:creationId xmlns:p14="http://schemas.microsoft.com/office/powerpoint/2010/main" val="22009079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5CD57A8-3BBA-45B2-3B94-83DED893017B}"/>
              </a:ext>
            </a:extLst>
          </p:cNvPr>
          <p:cNvSpPr>
            <a:spLocks noGrp="1"/>
          </p:cNvSpPr>
          <p:nvPr>
            <p:ph type="title"/>
          </p:nvPr>
        </p:nvSpPr>
        <p:spPr>
          <a:xfrm>
            <a:off x="581192" y="702156"/>
            <a:ext cx="11029616" cy="465163"/>
          </a:xfrm>
        </p:spPr>
        <p:txBody>
          <a:bodyPr>
            <a:normAutofit fontScale="90000"/>
          </a:bodyPr>
          <a:lstStyle/>
          <a:p>
            <a:r>
              <a:rPr lang="en-US" dirty="0"/>
              <a:t>TASK</a:t>
            </a:r>
            <a:r>
              <a:rPr lang="el-GR" dirty="0"/>
              <a:t> 2.1</a:t>
            </a:r>
          </a:p>
        </p:txBody>
      </p:sp>
      <p:sp>
        <p:nvSpPr>
          <p:cNvPr id="4" name="Υπότιτλος 2">
            <a:extLst>
              <a:ext uri="{FF2B5EF4-FFF2-40B4-BE49-F238E27FC236}">
                <a16:creationId xmlns:a16="http://schemas.microsoft.com/office/drawing/2014/main" id="{71CA5918-2E5D-6280-C4AE-70D45BD076C1}"/>
              </a:ext>
            </a:extLst>
          </p:cNvPr>
          <p:cNvSpPr txBox="1">
            <a:spLocks/>
          </p:cNvSpPr>
          <p:nvPr/>
        </p:nvSpPr>
        <p:spPr>
          <a:xfrm>
            <a:off x="581192" y="1167319"/>
            <a:ext cx="10993546" cy="48482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err="1">
                <a:solidFill>
                  <a:srgbClr val="7CEBFF"/>
                </a:solidFill>
              </a:rPr>
              <a:t>can_pair</a:t>
            </a:r>
            <a:r>
              <a:rPr lang="en-US" dirty="0">
                <a:solidFill>
                  <a:srgbClr val="7CEBFF"/>
                </a:solidFill>
              </a:rPr>
              <a:t>(base_1:str, base_2:str)</a:t>
            </a:r>
            <a:endParaRPr lang="el-GR" dirty="0">
              <a:solidFill>
                <a:srgbClr val="7CEBFF"/>
              </a:solidFill>
            </a:endParaRPr>
          </a:p>
        </p:txBody>
      </p:sp>
      <p:pic>
        <p:nvPicPr>
          <p:cNvPr id="7" name="Εικόνα 6" descr="Εικόνα που περιέχει κείμενο, στιγμιότυπο οθόνης, λογισμικό, λειτουργικό σύστημα&#10;&#10;Περιγραφή που δημιουργήθηκε αυτόματα">
            <a:extLst>
              <a:ext uri="{FF2B5EF4-FFF2-40B4-BE49-F238E27FC236}">
                <a16:creationId xmlns:a16="http://schemas.microsoft.com/office/drawing/2014/main" id="{2315C65B-E420-97F1-12EA-2AE7ED5A3AB2}"/>
              </a:ext>
            </a:extLst>
          </p:cNvPr>
          <p:cNvPicPr>
            <a:picLocks noChangeAspect="1"/>
          </p:cNvPicPr>
          <p:nvPr/>
        </p:nvPicPr>
        <p:blipFill>
          <a:blip r:embed="rId3"/>
          <a:stretch>
            <a:fillRect/>
          </a:stretch>
        </p:blipFill>
        <p:spPr>
          <a:xfrm>
            <a:off x="688516" y="2730880"/>
            <a:ext cx="5030394" cy="3049990"/>
          </a:xfrm>
          <a:prstGeom prst="rect">
            <a:avLst/>
          </a:prstGeom>
        </p:spPr>
      </p:pic>
      <p:sp>
        <p:nvSpPr>
          <p:cNvPr id="8" name="Θέση περιεχομένου 2">
            <a:extLst>
              <a:ext uri="{FF2B5EF4-FFF2-40B4-BE49-F238E27FC236}">
                <a16:creationId xmlns:a16="http://schemas.microsoft.com/office/drawing/2014/main" id="{B6E1FCC8-4036-A543-B4FC-A3870E03906D}"/>
              </a:ext>
            </a:extLst>
          </p:cNvPr>
          <p:cNvSpPr txBox="1">
            <a:spLocks/>
          </p:cNvSpPr>
          <p:nvPr/>
        </p:nvSpPr>
        <p:spPr>
          <a:xfrm>
            <a:off x="581192" y="2117304"/>
            <a:ext cx="4946029" cy="484822"/>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dirty="0"/>
              <a:t>Result after 10-12 requests:</a:t>
            </a:r>
          </a:p>
          <a:p>
            <a:pPr marL="0" indent="0">
              <a:buFont typeface="Wingdings 2" panose="05020102010507070707" pitchFamily="18" charset="2"/>
              <a:buNone/>
            </a:pPr>
            <a:endParaRPr lang="en-US" sz="1200" dirty="0"/>
          </a:p>
        </p:txBody>
      </p:sp>
      <p:pic>
        <p:nvPicPr>
          <p:cNvPr id="12" name="Εικόνα 11" descr="Εικόνα που περιέχει γραμματοσειρά, κείμενο, στιγμιότυπο οθόνης, γραφικά&#10;&#10;Περιγραφή που δημιουργήθηκε αυτόματα">
            <a:extLst>
              <a:ext uri="{FF2B5EF4-FFF2-40B4-BE49-F238E27FC236}">
                <a16:creationId xmlns:a16="http://schemas.microsoft.com/office/drawing/2014/main" id="{3BB403DF-2FA7-68D3-5CC7-BD9F78086311}"/>
              </a:ext>
            </a:extLst>
          </p:cNvPr>
          <p:cNvPicPr>
            <a:picLocks noChangeAspect="1"/>
          </p:cNvPicPr>
          <p:nvPr/>
        </p:nvPicPr>
        <p:blipFill rotWithShape="1">
          <a:blip r:embed="rId4"/>
          <a:srcRect b="7108"/>
          <a:stretch/>
        </p:blipFill>
        <p:spPr>
          <a:xfrm>
            <a:off x="7343027" y="3429000"/>
            <a:ext cx="3506971" cy="1381539"/>
          </a:xfrm>
          <a:prstGeom prst="rect">
            <a:avLst/>
          </a:prstGeom>
        </p:spPr>
      </p:pic>
      <p:sp>
        <p:nvSpPr>
          <p:cNvPr id="13" name="Θέση περιεχομένου 2">
            <a:extLst>
              <a:ext uri="{FF2B5EF4-FFF2-40B4-BE49-F238E27FC236}">
                <a16:creationId xmlns:a16="http://schemas.microsoft.com/office/drawing/2014/main" id="{05ECE7E6-0AAC-CDEB-537D-80DF097ADD90}"/>
              </a:ext>
            </a:extLst>
          </p:cNvPr>
          <p:cNvSpPr txBox="1">
            <a:spLocks/>
          </p:cNvSpPr>
          <p:nvPr/>
        </p:nvSpPr>
        <p:spPr>
          <a:xfrm>
            <a:off x="7245971" y="2944178"/>
            <a:ext cx="3604027" cy="484822"/>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b="1" dirty="0"/>
              <a:t>Ignores:</a:t>
            </a:r>
          </a:p>
          <a:p>
            <a:pPr marL="0" indent="0">
              <a:buFont typeface="Wingdings 2" panose="05020102010507070707" pitchFamily="18" charset="2"/>
              <a:buNone/>
            </a:pPr>
            <a:endParaRPr lang="en-US" sz="1200" dirty="0"/>
          </a:p>
        </p:txBody>
      </p:sp>
    </p:spTree>
    <p:extLst>
      <p:ext uri="{BB962C8B-B14F-4D97-AF65-F5344CB8AC3E}">
        <p14:creationId xmlns:p14="http://schemas.microsoft.com/office/powerpoint/2010/main" val="36453011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505645"/>
          </a:xfrm>
        </p:spPr>
        <p:txBody>
          <a:bodyPr rtlCol="0">
            <a:normAutofit fontScale="90000"/>
          </a:bodyPr>
          <a:lstStyle/>
          <a:p>
            <a:pPr rtl="0"/>
            <a:r>
              <a:rPr lang="en-US" dirty="0"/>
              <a:t>CONCLUSION #1</a:t>
            </a:r>
            <a:endParaRPr lang="el-GR" dirty="0"/>
          </a:p>
        </p:txBody>
      </p:sp>
      <p:pic>
        <p:nvPicPr>
          <p:cNvPr id="8" name="Εικόνα 7" descr="Εικόνα που περιέχει κείμενο, γραφιστική, λογότυπο, γραφικά&#10;&#10;Περιγραφή που δημιουργήθηκε αυτόματα">
            <a:extLst>
              <a:ext uri="{FF2B5EF4-FFF2-40B4-BE49-F238E27FC236}">
                <a16:creationId xmlns:a16="http://schemas.microsoft.com/office/drawing/2014/main" id="{0285C5F9-1292-AC48-78A0-13B49FAB9159}"/>
              </a:ext>
            </a:extLst>
          </p:cNvPr>
          <p:cNvPicPr>
            <a:picLocks noChangeAspect="1"/>
          </p:cNvPicPr>
          <p:nvPr/>
        </p:nvPicPr>
        <p:blipFill>
          <a:blip r:embed="rId3"/>
          <a:stretch>
            <a:fillRect/>
          </a:stretch>
        </p:blipFill>
        <p:spPr>
          <a:xfrm>
            <a:off x="7145906" y="2223392"/>
            <a:ext cx="1583256" cy="1187442"/>
          </a:xfrm>
          <a:prstGeom prst="rect">
            <a:avLst/>
          </a:prstGeom>
        </p:spPr>
      </p:pic>
      <p:pic>
        <p:nvPicPr>
          <p:cNvPr id="10" name="Εικόνα 9" descr="Εικόνα που περιέχει σύμβολο, γραφικά, κύκλος, γραμματοσειρά&#10;&#10;Περιγραφή που δημιουργήθηκε αυτόματα">
            <a:extLst>
              <a:ext uri="{FF2B5EF4-FFF2-40B4-BE49-F238E27FC236}">
                <a16:creationId xmlns:a16="http://schemas.microsoft.com/office/drawing/2014/main" id="{9B7AA2AE-A672-467E-2385-93FC6A184F15}"/>
              </a:ext>
            </a:extLst>
          </p:cNvPr>
          <p:cNvPicPr>
            <a:picLocks noChangeAspect="1"/>
          </p:cNvPicPr>
          <p:nvPr/>
        </p:nvPicPr>
        <p:blipFill>
          <a:blip r:embed="rId4"/>
          <a:stretch>
            <a:fillRect/>
          </a:stretch>
        </p:blipFill>
        <p:spPr>
          <a:xfrm>
            <a:off x="4573890" y="2226061"/>
            <a:ext cx="1362274" cy="1362274"/>
          </a:xfrm>
          <a:prstGeom prst="roundRect">
            <a:avLst>
              <a:gd name="adj" fmla="val 22836"/>
            </a:avLst>
          </a:prstGeom>
        </p:spPr>
      </p:pic>
      <p:pic>
        <p:nvPicPr>
          <p:cNvPr id="13" name="Εικόνα 12" descr="Εικόνα που περιέχει κείμενο, υπολογιστής, στιγμιότυπο οθόνης, πολυμέσα&#10;&#10;Περιγραφή που δημιουργήθηκε αυτόματα">
            <a:extLst>
              <a:ext uri="{FF2B5EF4-FFF2-40B4-BE49-F238E27FC236}">
                <a16:creationId xmlns:a16="http://schemas.microsoft.com/office/drawing/2014/main" id="{9FC09212-A3D6-916B-A4AF-134EBCA19D55}"/>
              </a:ext>
            </a:extLst>
          </p:cNvPr>
          <p:cNvPicPr>
            <a:picLocks noChangeAspect="1"/>
          </p:cNvPicPr>
          <p:nvPr/>
        </p:nvPicPr>
        <p:blipFill>
          <a:blip r:embed="rId5"/>
          <a:stretch>
            <a:fillRect/>
          </a:stretch>
        </p:blipFill>
        <p:spPr>
          <a:xfrm>
            <a:off x="834887" y="2251334"/>
            <a:ext cx="2587379" cy="1293690"/>
          </a:xfrm>
          <a:prstGeom prst="rect">
            <a:avLst/>
          </a:prstGeom>
        </p:spPr>
      </p:pic>
      <p:sp>
        <p:nvSpPr>
          <p:cNvPr id="35" name="Βέλος: Αναστροφή 34">
            <a:extLst>
              <a:ext uri="{FF2B5EF4-FFF2-40B4-BE49-F238E27FC236}">
                <a16:creationId xmlns:a16="http://schemas.microsoft.com/office/drawing/2014/main" id="{D56FB219-EF08-C4E5-41B4-FC85774B3595}"/>
              </a:ext>
            </a:extLst>
          </p:cNvPr>
          <p:cNvSpPr/>
          <p:nvPr/>
        </p:nvSpPr>
        <p:spPr>
          <a:xfrm flipH="1" flipV="1">
            <a:off x="1908312" y="3805891"/>
            <a:ext cx="6144156" cy="882786"/>
          </a:xfrm>
          <a:prstGeom prst="uturnArrow">
            <a:avLst>
              <a:gd name="adj1" fmla="val 19420"/>
              <a:gd name="adj2" fmla="val 25000"/>
              <a:gd name="adj3" fmla="val 25000"/>
              <a:gd name="adj4" fmla="val 43750"/>
              <a:gd name="adj5" fmla="val 1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solidFill>
                <a:schemeClr val="tx1"/>
              </a:solidFill>
            </a:endParaRPr>
          </a:p>
        </p:txBody>
      </p:sp>
      <p:pic>
        <p:nvPicPr>
          <p:cNvPr id="37" name="Εικόνα 36" descr="Εικόνα που περιέχει σύμβολο, λογότυπο, κύκλος, γραμματοσειρά&#10;&#10;Περιγραφή που δημιουργήθηκε αυτόματα">
            <a:extLst>
              <a:ext uri="{FF2B5EF4-FFF2-40B4-BE49-F238E27FC236}">
                <a16:creationId xmlns:a16="http://schemas.microsoft.com/office/drawing/2014/main" id="{4C7893E0-032E-F501-5B59-993FC1760443}"/>
              </a:ext>
            </a:extLst>
          </p:cNvPr>
          <p:cNvPicPr>
            <a:picLocks noChangeAspect="1"/>
          </p:cNvPicPr>
          <p:nvPr/>
        </p:nvPicPr>
        <p:blipFill>
          <a:blip r:embed="rId6"/>
          <a:stretch>
            <a:fillRect/>
          </a:stretch>
        </p:blipFill>
        <p:spPr>
          <a:xfrm>
            <a:off x="9938904" y="2182909"/>
            <a:ext cx="1362274" cy="1362274"/>
          </a:xfrm>
          <a:prstGeom prst="rect">
            <a:avLst/>
          </a:prstGeom>
        </p:spPr>
      </p:pic>
      <p:sp>
        <p:nvSpPr>
          <p:cNvPr id="38" name="Βέλος: Δεξιό 37">
            <a:extLst>
              <a:ext uri="{FF2B5EF4-FFF2-40B4-BE49-F238E27FC236}">
                <a16:creationId xmlns:a16="http://schemas.microsoft.com/office/drawing/2014/main" id="{4A462251-C498-0113-E567-95D2D9B3E3DC}"/>
              </a:ext>
            </a:extLst>
          </p:cNvPr>
          <p:cNvSpPr/>
          <p:nvPr/>
        </p:nvSpPr>
        <p:spPr>
          <a:xfrm>
            <a:off x="3653785" y="2555387"/>
            <a:ext cx="452496" cy="567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39" name="Βέλος: Δεξιό 38">
            <a:extLst>
              <a:ext uri="{FF2B5EF4-FFF2-40B4-BE49-F238E27FC236}">
                <a16:creationId xmlns:a16="http://schemas.microsoft.com/office/drawing/2014/main" id="{782C7473-B2C6-E97E-A58B-7B1D88A00EB4}"/>
              </a:ext>
            </a:extLst>
          </p:cNvPr>
          <p:cNvSpPr/>
          <p:nvPr/>
        </p:nvSpPr>
        <p:spPr>
          <a:xfrm>
            <a:off x="6164505" y="2555385"/>
            <a:ext cx="452496" cy="567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0" name="Βέλος: Δεξιό 39">
            <a:extLst>
              <a:ext uri="{FF2B5EF4-FFF2-40B4-BE49-F238E27FC236}">
                <a16:creationId xmlns:a16="http://schemas.microsoft.com/office/drawing/2014/main" id="{A391A601-AE81-7595-C3F7-CDF84E93617E}"/>
              </a:ext>
            </a:extLst>
          </p:cNvPr>
          <p:cNvSpPr/>
          <p:nvPr/>
        </p:nvSpPr>
        <p:spPr>
          <a:xfrm>
            <a:off x="8959092" y="2555385"/>
            <a:ext cx="452496" cy="567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1" name="Υπότιτλος 2">
            <a:extLst>
              <a:ext uri="{FF2B5EF4-FFF2-40B4-BE49-F238E27FC236}">
                <a16:creationId xmlns:a16="http://schemas.microsoft.com/office/drawing/2014/main" id="{615BD516-DFA9-E050-A0BB-1B1211254D1E}"/>
              </a:ext>
            </a:extLst>
          </p:cNvPr>
          <p:cNvSpPr txBox="1">
            <a:spLocks/>
          </p:cNvSpPr>
          <p:nvPr/>
        </p:nvSpPr>
        <p:spPr>
          <a:xfrm>
            <a:off x="581191" y="1234114"/>
            <a:ext cx="10993546" cy="48482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solidFill>
                  <a:srgbClr val="7CEBFF"/>
                </a:solidFill>
              </a:rPr>
              <a:t>SIMPLE FUNCTIONS</a:t>
            </a:r>
            <a:endParaRPr lang="el-GR" dirty="0">
              <a:solidFill>
                <a:srgbClr val="7CEBFF"/>
              </a:solidFill>
            </a:endParaRPr>
          </a:p>
        </p:txBody>
      </p:sp>
      <p:sp>
        <p:nvSpPr>
          <p:cNvPr id="3" name="TextBox 2">
            <a:extLst>
              <a:ext uri="{FF2B5EF4-FFF2-40B4-BE49-F238E27FC236}">
                <a16:creationId xmlns:a16="http://schemas.microsoft.com/office/drawing/2014/main" id="{D5D601E8-7145-52C3-5EB0-04E72E9E28F9}"/>
              </a:ext>
            </a:extLst>
          </p:cNvPr>
          <p:cNvSpPr txBox="1"/>
          <p:nvPr/>
        </p:nvSpPr>
        <p:spPr>
          <a:xfrm>
            <a:off x="2082433" y="5618003"/>
            <a:ext cx="8174750" cy="461665"/>
          </a:xfrm>
          <a:prstGeom prst="rect">
            <a:avLst/>
          </a:prstGeom>
          <a:noFill/>
        </p:spPr>
        <p:txBody>
          <a:bodyPr wrap="square" rtlCol="0">
            <a:spAutoFit/>
          </a:bodyPr>
          <a:lstStyle/>
          <a:p>
            <a:r>
              <a:rPr lang="en-US" sz="2000" b="1" dirty="0">
                <a:solidFill>
                  <a:srgbClr val="C00000"/>
                </a:solidFill>
              </a:rPr>
              <a:t>WARNING: </a:t>
            </a:r>
            <a:r>
              <a:rPr lang="en-US" sz="2000" b="1" dirty="0"/>
              <a:t>CODE RUNS SUCCESSFULLY </a:t>
            </a:r>
            <a:r>
              <a:rPr lang="en-US" sz="2400" b="1" dirty="0"/>
              <a:t>≠</a:t>
            </a:r>
            <a:r>
              <a:rPr lang="en-US" sz="2000" b="1" dirty="0"/>
              <a:t> OPTIMIZED CODE</a:t>
            </a:r>
            <a:endParaRPr lang="el-GR" sz="2000" b="1" dirty="0"/>
          </a:p>
        </p:txBody>
      </p:sp>
    </p:spTree>
    <p:extLst>
      <p:ext uri="{BB962C8B-B14F-4D97-AF65-F5344CB8AC3E}">
        <p14:creationId xmlns:p14="http://schemas.microsoft.com/office/powerpoint/2010/main" val="497607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50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par>
                                <p:cTn id="12" presetID="10" presetClass="entr" presetSubtype="0" fill="hold" nodeType="withEffect">
                                  <p:stCondLst>
                                    <p:cond delay="50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1500"/>
                            </p:stCondLst>
                            <p:childTnLst>
                              <p:par>
                                <p:cTn id="16" presetID="10" presetClass="entr" presetSubtype="0" fill="hold" grpId="0" nodeType="afterEffect">
                                  <p:stCondLst>
                                    <p:cond delay="50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500"/>
                                        <p:tgtEl>
                                          <p:spTgt spid="39"/>
                                        </p:tgtEl>
                                      </p:cBhvr>
                                    </p:animEffect>
                                  </p:childTnLst>
                                </p:cTn>
                              </p:par>
                              <p:par>
                                <p:cTn id="19" presetID="10" presetClass="entr" presetSubtype="0" fill="hold" nodeType="withEffect">
                                  <p:stCondLst>
                                    <p:cond delay="5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par>
                          <p:cTn id="22" fill="hold">
                            <p:stCondLst>
                              <p:cond delay="2500"/>
                            </p:stCondLst>
                            <p:childTnLst>
                              <p:par>
                                <p:cTn id="23" presetID="10" presetClass="entr" presetSubtype="0" fill="hold" grpId="0" nodeType="afterEffect">
                                  <p:stCondLst>
                                    <p:cond delay="50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childTnLst>
                          </p:cTn>
                        </p:par>
                        <p:par>
                          <p:cTn id="26" fill="hold">
                            <p:stCondLst>
                              <p:cond delay="3500"/>
                            </p:stCondLst>
                            <p:childTnLst>
                              <p:par>
                                <p:cTn id="27" presetID="10" presetClass="entr" presetSubtype="0" fill="hold" grpId="0" nodeType="afterEffect">
                                  <p:stCondLst>
                                    <p:cond delay="50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500"/>
                                        <p:tgtEl>
                                          <p:spTgt spid="40"/>
                                        </p:tgtEl>
                                      </p:cBhvr>
                                    </p:animEffect>
                                  </p:childTnLst>
                                </p:cTn>
                              </p:par>
                              <p:par>
                                <p:cTn id="30" presetID="10" presetClass="entr" presetSubtype="0" fill="hold" nodeType="withEffect">
                                  <p:stCondLst>
                                    <p:cond delay="5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500"/>
                                        <p:tgtEl>
                                          <p:spTgt spid="37"/>
                                        </p:tgtEl>
                                      </p:cBhvr>
                                    </p:animEffect>
                                  </p:childTnLst>
                                </p:cTn>
                              </p:par>
                            </p:childTnLst>
                          </p:cTn>
                        </p:par>
                        <p:par>
                          <p:cTn id="33" fill="hold">
                            <p:stCondLst>
                              <p:cond delay="4500"/>
                            </p:stCondLst>
                            <p:childTnLst>
                              <p:par>
                                <p:cTn id="34" presetID="10" presetClass="entr" presetSubtype="0" fill="hold" grpId="0" nodeType="afterEffect">
                                  <p:stCondLst>
                                    <p:cond delay="100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8" grpId="0" animBg="1"/>
      <p:bldP spid="39" grpId="0" animBg="1"/>
      <p:bldP spid="40" grpId="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505645"/>
          </a:xfrm>
        </p:spPr>
        <p:txBody>
          <a:bodyPr rtlCol="0">
            <a:normAutofit fontScale="90000"/>
          </a:bodyPr>
          <a:lstStyle/>
          <a:p>
            <a:pPr rtl="0"/>
            <a:r>
              <a:rPr lang="en-US" dirty="0"/>
              <a:t>PROBLEMS</a:t>
            </a:r>
            <a:endParaRPr lang="el-GR" dirty="0"/>
          </a:p>
        </p:txBody>
      </p:sp>
      <p:sp>
        <p:nvSpPr>
          <p:cNvPr id="41" name="Υπότιτλος 2">
            <a:extLst>
              <a:ext uri="{FF2B5EF4-FFF2-40B4-BE49-F238E27FC236}">
                <a16:creationId xmlns:a16="http://schemas.microsoft.com/office/drawing/2014/main" id="{615BD516-DFA9-E050-A0BB-1B1211254D1E}"/>
              </a:ext>
            </a:extLst>
          </p:cNvPr>
          <p:cNvSpPr txBox="1">
            <a:spLocks/>
          </p:cNvSpPr>
          <p:nvPr/>
        </p:nvSpPr>
        <p:spPr>
          <a:xfrm>
            <a:off x="581191" y="1234114"/>
            <a:ext cx="10993546" cy="48482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solidFill>
                  <a:srgbClr val="7CEBFF"/>
                </a:solidFill>
              </a:rPr>
              <a:t>SIMPLE FUNCTIONS</a:t>
            </a:r>
            <a:endParaRPr lang="el-GR" dirty="0">
              <a:solidFill>
                <a:srgbClr val="7CEBFF"/>
              </a:solidFill>
            </a:endParaRPr>
          </a:p>
        </p:txBody>
      </p:sp>
      <p:sp>
        <p:nvSpPr>
          <p:cNvPr id="3" name="TextBox 2">
            <a:extLst>
              <a:ext uri="{FF2B5EF4-FFF2-40B4-BE49-F238E27FC236}">
                <a16:creationId xmlns:a16="http://schemas.microsoft.com/office/drawing/2014/main" id="{28796A4E-CF04-3284-C766-CC3D9F966070}"/>
              </a:ext>
            </a:extLst>
          </p:cNvPr>
          <p:cNvSpPr txBox="1"/>
          <p:nvPr/>
        </p:nvSpPr>
        <p:spPr>
          <a:xfrm>
            <a:off x="1072894" y="2718816"/>
            <a:ext cx="2826243" cy="523220"/>
          </a:xfrm>
          <a:prstGeom prst="rect">
            <a:avLst/>
          </a:prstGeom>
          <a:noFill/>
        </p:spPr>
        <p:txBody>
          <a:bodyPr wrap="square" rtlCol="0">
            <a:spAutoFit/>
          </a:bodyPr>
          <a:lstStyle/>
          <a:p>
            <a:pPr algn="ctr"/>
            <a:r>
              <a:rPr lang="en-US" sz="2800" b="1" dirty="0"/>
              <a:t>Memory</a:t>
            </a:r>
          </a:p>
        </p:txBody>
      </p:sp>
      <p:sp>
        <p:nvSpPr>
          <p:cNvPr id="4" name="TextBox 3">
            <a:extLst>
              <a:ext uri="{FF2B5EF4-FFF2-40B4-BE49-F238E27FC236}">
                <a16:creationId xmlns:a16="http://schemas.microsoft.com/office/drawing/2014/main" id="{ED0E8584-5368-94A9-FCCA-882A66BB5536}"/>
              </a:ext>
            </a:extLst>
          </p:cNvPr>
          <p:cNvSpPr txBox="1"/>
          <p:nvPr/>
        </p:nvSpPr>
        <p:spPr>
          <a:xfrm>
            <a:off x="6634178" y="2785060"/>
            <a:ext cx="4185879" cy="400110"/>
          </a:xfrm>
          <a:prstGeom prst="rect">
            <a:avLst/>
          </a:prstGeom>
          <a:noFill/>
        </p:spPr>
        <p:txBody>
          <a:bodyPr wrap="square" rtlCol="0" anchor="t">
            <a:spAutoFit/>
          </a:bodyPr>
          <a:lstStyle/>
          <a:p>
            <a:pPr lvl="1"/>
            <a:r>
              <a:rPr lang="en-US" sz="2000" dirty="0"/>
              <a:t>Ignore/Forget previous messages</a:t>
            </a:r>
          </a:p>
        </p:txBody>
      </p:sp>
      <p:sp>
        <p:nvSpPr>
          <p:cNvPr id="5" name="Βέλος: Δεξιό 4">
            <a:extLst>
              <a:ext uri="{FF2B5EF4-FFF2-40B4-BE49-F238E27FC236}">
                <a16:creationId xmlns:a16="http://schemas.microsoft.com/office/drawing/2014/main" id="{22D035F9-8B26-694F-802E-EA0D3113BF0F}"/>
              </a:ext>
            </a:extLst>
          </p:cNvPr>
          <p:cNvSpPr/>
          <p:nvPr/>
        </p:nvSpPr>
        <p:spPr>
          <a:xfrm>
            <a:off x="4511615" y="2803585"/>
            <a:ext cx="1584385" cy="3536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 name="Βέλος: Δεξιό 5">
            <a:extLst>
              <a:ext uri="{FF2B5EF4-FFF2-40B4-BE49-F238E27FC236}">
                <a16:creationId xmlns:a16="http://schemas.microsoft.com/office/drawing/2014/main" id="{9CADB6D7-D4D3-D8B9-EB76-DC85C6DE15F3}"/>
              </a:ext>
            </a:extLst>
          </p:cNvPr>
          <p:cNvSpPr/>
          <p:nvPr/>
        </p:nvSpPr>
        <p:spPr>
          <a:xfrm>
            <a:off x="4511615" y="3520128"/>
            <a:ext cx="1584385" cy="3536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 name="Βέλος: Δεξιό 6">
            <a:extLst>
              <a:ext uri="{FF2B5EF4-FFF2-40B4-BE49-F238E27FC236}">
                <a16:creationId xmlns:a16="http://schemas.microsoft.com/office/drawing/2014/main" id="{54DB582A-EDB9-CDDA-6A76-E2AE9B5839DD}"/>
              </a:ext>
            </a:extLst>
          </p:cNvPr>
          <p:cNvSpPr/>
          <p:nvPr/>
        </p:nvSpPr>
        <p:spPr>
          <a:xfrm>
            <a:off x="4511615" y="4236671"/>
            <a:ext cx="1584385" cy="3536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 name="Βέλος: Δεξιό 8">
            <a:extLst>
              <a:ext uri="{FF2B5EF4-FFF2-40B4-BE49-F238E27FC236}">
                <a16:creationId xmlns:a16="http://schemas.microsoft.com/office/drawing/2014/main" id="{A42D3EDF-37E4-85F8-EF1A-A30DEB71EB57}"/>
              </a:ext>
            </a:extLst>
          </p:cNvPr>
          <p:cNvSpPr/>
          <p:nvPr/>
        </p:nvSpPr>
        <p:spPr>
          <a:xfrm>
            <a:off x="4511615" y="4953214"/>
            <a:ext cx="1584385" cy="3536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1" name="TextBox 10">
            <a:extLst>
              <a:ext uri="{FF2B5EF4-FFF2-40B4-BE49-F238E27FC236}">
                <a16:creationId xmlns:a16="http://schemas.microsoft.com/office/drawing/2014/main" id="{BB0CA560-628E-AF2F-7576-4D7A6FECA6CD}"/>
              </a:ext>
            </a:extLst>
          </p:cNvPr>
          <p:cNvSpPr txBox="1"/>
          <p:nvPr/>
        </p:nvSpPr>
        <p:spPr>
          <a:xfrm>
            <a:off x="6634178" y="3512303"/>
            <a:ext cx="5125203" cy="400110"/>
          </a:xfrm>
          <a:prstGeom prst="rect">
            <a:avLst/>
          </a:prstGeom>
          <a:noFill/>
        </p:spPr>
        <p:txBody>
          <a:bodyPr wrap="square" rtlCol="0" anchor="t">
            <a:spAutoFit/>
          </a:bodyPr>
          <a:lstStyle/>
          <a:p>
            <a:pPr lvl="1"/>
            <a:r>
              <a:rPr lang="en-US" sz="2000" dirty="0"/>
              <a:t>Same question ≠ Same answer</a:t>
            </a:r>
          </a:p>
        </p:txBody>
      </p:sp>
      <p:sp>
        <p:nvSpPr>
          <p:cNvPr id="12" name="TextBox 11">
            <a:extLst>
              <a:ext uri="{FF2B5EF4-FFF2-40B4-BE49-F238E27FC236}">
                <a16:creationId xmlns:a16="http://schemas.microsoft.com/office/drawing/2014/main" id="{C9706FC9-45C7-0C2F-5736-878ED4AF892E}"/>
              </a:ext>
            </a:extLst>
          </p:cNvPr>
          <p:cNvSpPr txBox="1"/>
          <p:nvPr/>
        </p:nvSpPr>
        <p:spPr>
          <a:xfrm>
            <a:off x="6634178" y="4213457"/>
            <a:ext cx="4111579" cy="400110"/>
          </a:xfrm>
          <a:prstGeom prst="rect">
            <a:avLst/>
          </a:prstGeom>
          <a:noFill/>
        </p:spPr>
        <p:txBody>
          <a:bodyPr wrap="square" rtlCol="0" anchor="ctr">
            <a:spAutoFit/>
          </a:bodyPr>
          <a:lstStyle/>
          <a:p>
            <a:pPr lvl="1"/>
            <a:r>
              <a:rPr lang="en-US" sz="2000" dirty="0"/>
              <a:t>Never stand for its answer</a:t>
            </a:r>
            <a:endParaRPr lang="el-GR" sz="2000" dirty="0"/>
          </a:p>
        </p:txBody>
      </p:sp>
      <p:sp>
        <p:nvSpPr>
          <p:cNvPr id="14" name="TextBox 13">
            <a:extLst>
              <a:ext uri="{FF2B5EF4-FFF2-40B4-BE49-F238E27FC236}">
                <a16:creationId xmlns:a16="http://schemas.microsoft.com/office/drawing/2014/main" id="{9C9A522F-B5AA-CB68-EAE6-20EC137C2D01}"/>
              </a:ext>
            </a:extLst>
          </p:cNvPr>
          <p:cNvSpPr txBox="1"/>
          <p:nvPr/>
        </p:nvSpPr>
        <p:spPr>
          <a:xfrm>
            <a:off x="6634179" y="4930000"/>
            <a:ext cx="4676552" cy="400110"/>
          </a:xfrm>
          <a:prstGeom prst="rect">
            <a:avLst/>
          </a:prstGeom>
          <a:noFill/>
        </p:spPr>
        <p:txBody>
          <a:bodyPr wrap="square" rtlCol="0" anchor="ctr">
            <a:spAutoFit/>
          </a:bodyPr>
          <a:lstStyle/>
          <a:p>
            <a:pPr lvl="1"/>
            <a:r>
              <a:rPr lang="en-US" sz="2000" dirty="0"/>
              <a:t>Ignores key parts if they don’t fit for it</a:t>
            </a:r>
          </a:p>
        </p:txBody>
      </p:sp>
      <p:sp>
        <p:nvSpPr>
          <p:cNvPr id="10" name="TextBox 9">
            <a:extLst>
              <a:ext uri="{FF2B5EF4-FFF2-40B4-BE49-F238E27FC236}">
                <a16:creationId xmlns:a16="http://schemas.microsoft.com/office/drawing/2014/main" id="{CC9A7ED7-6958-E309-23F9-58519663A6E0}"/>
              </a:ext>
            </a:extLst>
          </p:cNvPr>
          <p:cNvSpPr txBox="1"/>
          <p:nvPr/>
        </p:nvSpPr>
        <p:spPr>
          <a:xfrm>
            <a:off x="1072895" y="3435359"/>
            <a:ext cx="2826243" cy="523220"/>
          </a:xfrm>
          <a:prstGeom prst="rect">
            <a:avLst/>
          </a:prstGeom>
          <a:noFill/>
        </p:spPr>
        <p:txBody>
          <a:bodyPr wrap="square">
            <a:spAutoFit/>
          </a:bodyPr>
          <a:lstStyle/>
          <a:p>
            <a:pPr algn="ctr"/>
            <a:r>
              <a:rPr lang="en-US" sz="2800" b="1" dirty="0"/>
              <a:t>Consistency</a:t>
            </a:r>
          </a:p>
        </p:txBody>
      </p:sp>
      <p:sp>
        <p:nvSpPr>
          <p:cNvPr id="15" name="TextBox 14">
            <a:extLst>
              <a:ext uri="{FF2B5EF4-FFF2-40B4-BE49-F238E27FC236}">
                <a16:creationId xmlns:a16="http://schemas.microsoft.com/office/drawing/2014/main" id="{47B5A753-1D61-FF60-BF87-D66464B609D9}"/>
              </a:ext>
            </a:extLst>
          </p:cNvPr>
          <p:cNvSpPr txBox="1"/>
          <p:nvPr/>
        </p:nvSpPr>
        <p:spPr>
          <a:xfrm>
            <a:off x="1072893" y="4151902"/>
            <a:ext cx="2826243" cy="523220"/>
          </a:xfrm>
          <a:prstGeom prst="rect">
            <a:avLst/>
          </a:prstGeom>
          <a:noFill/>
        </p:spPr>
        <p:txBody>
          <a:bodyPr wrap="square">
            <a:spAutoFit/>
          </a:bodyPr>
          <a:lstStyle/>
          <a:p>
            <a:pPr algn="ctr"/>
            <a:r>
              <a:rPr lang="en-US" sz="2800" b="1" dirty="0"/>
              <a:t>Firmness</a:t>
            </a:r>
          </a:p>
        </p:txBody>
      </p:sp>
      <p:sp>
        <p:nvSpPr>
          <p:cNvPr id="17" name="TextBox 16">
            <a:extLst>
              <a:ext uri="{FF2B5EF4-FFF2-40B4-BE49-F238E27FC236}">
                <a16:creationId xmlns:a16="http://schemas.microsoft.com/office/drawing/2014/main" id="{2FDE36EF-111E-DE8F-B5D8-172725ADB8D0}"/>
              </a:ext>
            </a:extLst>
          </p:cNvPr>
          <p:cNvSpPr txBox="1"/>
          <p:nvPr/>
        </p:nvSpPr>
        <p:spPr>
          <a:xfrm>
            <a:off x="1072892" y="4868445"/>
            <a:ext cx="2826243" cy="523220"/>
          </a:xfrm>
          <a:prstGeom prst="rect">
            <a:avLst/>
          </a:prstGeom>
          <a:noFill/>
        </p:spPr>
        <p:txBody>
          <a:bodyPr wrap="square">
            <a:spAutoFit/>
          </a:bodyPr>
          <a:lstStyle/>
          <a:p>
            <a:pPr algn="ctr"/>
            <a:r>
              <a:rPr lang="en-US" sz="2800" b="1" dirty="0"/>
              <a:t>Initiative</a:t>
            </a:r>
            <a:endParaRPr lang="en-US" sz="1800" b="1" dirty="0"/>
          </a:p>
        </p:txBody>
      </p:sp>
      <p:sp>
        <p:nvSpPr>
          <p:cNvPr id="18" name="Βέλος: Δεξιό 17">
            <a:extLst>
              <a:ext uri="{FF2B5EF4-FFF2-40B4-BE49-F238E27FC236}">
                <a16:creationId xmlns:a16="http://schemas.microsoft.com/office/drawing/2014/main" id="{F6A4C8ED-383B-C7A3-5BCD-18162AFADBD4}"/>
              </a:ext>
            </a:extLst>
          </p:cNvPr>
          <p:cNvSpPr/>
          <p:nvPr/>
        </p:nvSpPr>
        <p:spPr>
          <a:xfrm>
            <a:off x="4511615" y="5669757"/>
            <a:ext cx="1584385" cy="3536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9" name="TextBox 18">
            <a:extLst>
              <a:ext uri="{FF2B5EF4-FFF2-40B4-BE49-F238E27FC236}">
                <a16:creationId xmlns:a16="http://schemas.microsoft.com/office/drawing/2014/main" id="{93534839-C6C9-EAF5-1F71-C1CA5D1E102C}"/>
              </a:ext>
            </a:extLst>
          </p:cNvPr>
          <p:cNvSpPr txBox="1"/>
          <p:nvPr/>
        </p:nvSpPr>
        <p:spPr>
          <a:xfrm>
            <a:off x="6634179" y="5646543"/>
            <a:ext cx="4676552" cy="400110"/>
          </a:xfrm>
          <a:prstGeom prst="rect">
            <a:avLst/>
          </a:prstGeom>
          <a:noFill/>
        </p:spPr>
        <p:txBody>
          <a:bodyPr wrap="square" rtlCol="0" anchor="ctr">
            <a:spAutoFit/>
          </a:bodyPr>
          <a:lstStyle/>
          <a:p>
            <a:pPr lvl="1"/>
            <a:r>
              <a:rPr lang="en-US" sz="2000" dirty="0"/>
              <a:t>Makes elementary mistakes</a:t>
            </a:r>
          </a:p>
        </p:txBody>
      </p:sp>
      <p:sp>
        <p:nvSpPr>
          <p:cNvPr id="20" name="TextBox 19">
            <a:extLst>
              <a:ext uri="{FF2B5EF4-FFF2-40B4-BE49-F238E27FC236}">
                <a16:creationId xmlns:a16="http://schemas.microsoft.com/office/drawing/2014/main" id="{78C2109E-CD1F-D590-6A50-328064A1D09F}"/>
              </a:ext>
            </a:extLst>
          </p:cNvPr>
          <p:cNvSpPr txBox="1"/>
          <p:nvPr/>
        </p:nvSpPr>
        <p:spPr>
          <a:xfrm>
            <a:off x="1072892" y="5584988"/>
            <a:ext cx="2826243" cy="523220"/>
          </a:xfrm>
          <a:prstGeom prst="rect">
            <a:avLst/>
          </a:prstGeom>
          <a:noFill/>
        </p:spPr>
        <p:txBody>
          <a:bodyPr wrap="square">
            <a:spAutoFit/>
          </a:bodyPr>
          <a:lstStyle/>
          <a:p>
            <a:pPr algn="ctr"/>
            <a:r>
              <a:rPr lang="en-US" sz="2800" b="1" dirty="0"/>
              <a:t>Mistakes</a:t>
            </a:r>
            <a:endParaRPr lang="en-US" sz="1800" b="1" dirty="0"/>
          </a:p>
        </p:txBody>
      </p:sp>
    </p:spTree>
    <p:extLst>
      <p:ext uri="{BB962C8B-B14F-4D97-AF65-F5344CB8AC3E}">
        <p14:creationId xmlns:p14="http://schemas.microsoft.com/office/powerpoint/2010/main" val="37667106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20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200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3000"/>
                            </p:stCondLst>
                            <p:childTnLst>
                              <p:par>
                                <p:cTn id="19" presetID="10" presetClass="entr" presetSubtype="0" fill="hold" grpId="0" nodeType="afterEffect">
                                  <p:stCondLst>
                                    <p:cond delay="20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20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par>
                          <p:cTn id="25" fill="hold">
                            <p:stCondLst>
                              <p:cond delay="5500"/>
                            </p:stCondLst>
                            <p:childTnLst>
                              <p:par>
                                <p:cTn id="26" presetID="10" presetClass="entr" presetSubtype="0" fill="hold" grpId="0" nodeType="afterEffect">
                                  <p:stCondLst>
                                    <p:cond delay="20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20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8000"/>
                            </p:stCondLst>
                            <p:childTnLst>
                              <p:par>
                                <p:cTn id="33" presetID="10" presetClass="entr" presetSubtype="0" fill="hold" grpId="0" nodeType="afterEffect">
                                  <p:stCondLst>
                                    <p:cond delay="200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200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9" grpId="0" animBg="1"/>
      <p:bldP spid="11" grpId="0"/>
      <p:bldP spid="12" grpId="0"/>
      <p:bldP spid="14" grpId="0"/>
      <p:bldP spid="18" grpId="0" animBg="1"/>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5CD57A8-3BBA-45B2-3B94-83DED893017B}"/>
              </a:ext>
            </a:extLst>
          </p:cNvPr>
          <p:cNvSpPr>
            <a:spLocks noGrp="1"/>
          </p:cNvSpPr>
          <p:nvPr>
            <p:ph type="title"/>
          </p:nvPr>
        </p:nvSpPr>
        <p:spPr>
          <a:xfrm>
            <a:off x="581192" y="702156"/>
            <a:ext cx="11029616" cy="465163"/>
          </a:xfrm>
        </p:spPr>
        <p:txBody>
          <a:bodyPr>
            <a:normAutofit fontScale="90000"/>
          </a:bodyPr>
          <a:lstStyle/>
          <a:p>
            <a:r>
              <a:rPr lang="en-US" dirty="0"/>
              <a:t>TASK</a:t>
            </a:r>
            <a:r>
              <a:rPr lang="el-GR" dirty="0"/>
              <a:t> 2.</a:t>
            </a:r>
            <a:r>
              <a:rPr lang="en-US" dirty="0"/>
              <a:t>2</a:t>
            </a:r>
            <a:endParaRPr lang="el-GR" dirty="0"/>
          </a:p>
        </p:txBody>
      </p:sp>
      <p:sp>
        <p:nvSpPr>
          <p:cNvPr id="3" name="Θέση περιεχομένου 2">
            <a:extLst>
              <a:ext uri="{FF2B5EF4-FFF2-40B4-BE49-F238E27FC236}">
                <a16:creationId xmlns:a16="http://schemas.microsoft.com/office/drawing/2014/main" id="{14DD5F37-90FE-F9AF-D4AE-C812021FE534}"/>
              </a:ext>
            </a:extLst>
          </p:cNvPr>
          <p:cNvSpPr>
            <a:spLocks noGrp="1"/>
          </p:cNvSpPr>
          <p:nvPr>
            <p:ph idx="1"/>
          </p:nvPr>
        </p:nvSpPr>
        <p:spPr>
          <a:xfrm>
            <a:off x="581192" y="1943100"/>
            <a:ext cx="7348554" cy="1654394"/>
          </a:xfrm>
        </p:spPr>
        <p:txBody>
          <a:bodyPr anchor="t" anchorCtr="0">
            <a:normAutofit lnSpcReduction="10000"/>
          </a:bodyPr>
          <a:lstStyle/>
          <a:p>
            <a:r>
              <a:rPr lang="en-US" sz="2400" b="1" dirty="0"/>
              <a:t>First Request:</a:t>
            </a:r>
          </a:p>
          <a:p>
            <a:pPr marL="666900" lvl="1" indent="-342900">
              <a:buFont typeface="+mj-lt"/>
              <a:buAutoNum type="arabicPeriod"/>
            </a:pPr>
            <a:r>
              <a:rPr lang="en-US" sz="1900" dirty="0"/>
              <a:t>Function name</a:t>
            </a:r>
          </a:p>
          <a:p>
            <a:pPr marL="666900" lvl="1" indent="-342900">
              <a:buFont typeface="+mj-lt"/>
              <a:buAutoNum type="arabicPeriod"/>
            </a:pPr>
            <a:r>
              <a:rPr lang="en-US" sz="1900" dirty="0"/>
              <a:t>Arguments (sequence, n, </a:t>
            </a:r>
            <a:r>
              <a:rPr lang="en-US" sz="1900" dirty="0" err="1"/>
              <a:t>opt_val</a:t>
            </a:r>
            <a:r>
              <a:rPr lang="en-US" sz="1900" dirty="0"/>
              <a:t>, </a:t>
            </a:r>
            <a:r>
              <a:rPr lang="en-US" sz="1900" dirty="0" err="1"/>
              <a:t>i</a:t>
            </a:r>
            <a:r>
              <a:rPr lang="en-US" sz="1900" dirty="0"/>
              <a:t>, j)</a:t>
            </a:r>
          </a:p>
          <a:p>
            <a:pPr marL="666900" lvl="1" indent="-342900">
              <a:buFont typeface="+mj-lt"/>
              <a:buAutoNum type="arabicPeriod"/>
            </a:pPr>
            <a:r>
              <a:rPr lang="en-US" sz="1900" dirty="0"/>
              <a:t>Return</a:t>
            </a:r>
          </a:p>
        </p:txBody>
      </p:sp>
      <p:sp>
        <p:nvSpPr>
          <p:cNvPr id="4" name="Υπότιτλος 2">
            <a:extLst>
              <a:ext uri="{FF2B5EF4-FFF2-40B4-BE49-F238E27FC236}">
                <a16:creationId xmlns:a16="http://schemas.microsoft.com/office/drawing/2014/main" id="{71CA5918-2E5D-6280-C4AE-70D45BD076C1}"/>
              </a:ext>
            </a:extLst>
          </p:cNvPr>
          <p:cNvSpPr txBox="1">
            <a:spLocks/>
          </p:cNvSpPr>
          <p:nvPr/>
        </p:nvSpPr>
        <p:spPr>
          <a:xfrm>
            <a:off x="581192" y="1167319"/>
            <a:ext cx="10993546" cy="48482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err="1">
                <a:solidFill>
                  <a:srgbClr val="7CEBFF"/>
                </a:solidFill>
              </a:rPr>
              <a:t>get_opt_val</a:t>
            </a:r>
            <a:r>
              <a:rPr lang="en-US" dirty="0">
                <a:solidFill>
                  <a:srgbClr val="7CEBFF"/>
                </a:solidFill>
              </a:rPr>
              <a:t>(</a:t>
            </a:r>
            <a:r>
              <a:rPr lang="en-US" dirty="0" err="1">
                <a:solidFill>
                  <a:srgbClr val="7CEBFF"/>
                </a:solidFill>
              </a:rPr>
              <a:t>sequence:str</a:t>
            </a:r>
            <a:r>
              <a:rPr lang="en-US" dirty="0">
                <a:solidFill>
                  <a:srgbClr val="7CEBFF"/>
                </a:solidFill>
              </a:rPr>
              <a:t>, n:int, </a:t>
            </a:r>
            <a:r>
              <a:rPr lang="en-US" dirty="0" err="1">
                <a:solidFill>
                  <a:srgbClr val="7CEBFF"/>
                </a:solidFill>
              </a:rPr>
              <a:t>opt_val</a:t>
            </a:r>
            <a:r>
              <a:rPr lang="en-US" dirty="0">
                <a:solidFill>
                  <a:srgbClr val="7CEBFF"/>
                </a:solidFill>
              </a:rPr>
              <a:t>, </a:t>
            </a:r>
            <a:r>
              <a:rPr lang="en-US" dirty="0" err="1">
                <a:solidFill>
                  <a:srgbClr val="7CEBFF"/>
                </a:solidFill>
              </a:rPr>
              <a:t>opt_val_pairs</a:t>
            </a:r>
            <a:r>
              <a:rPr lang="en-US" dirty="0">
                <a:solidFill>
                  <a:srgbClr val="7CEBFF"/>
                </a:solidFill>
              </a:rPr>
              <a:t>, i:int, j:int)</a:t>
            </a:r>
            <a:endParaRPr lang="el-GR" dirty="0">
              <a:solidFill>
                <a:srgbClr val="7CEBFF"/>
              </a:solidFill>
            </a:endParaRPr>
          </a:p>
        </p:txBody>
      </p:sp>
      <p:pic>
        <p:nvPicPr>
          <p:cNvPr id="6" name="Εικόνα 5">
            <a:extLst>
              <a:ext uri="{FF2B5EF4-FFF2-40B4-BE49-F238E27FC236}">
                <a16:creationId xmlns:a16="http://schemas.microsoft.com/office/drawing/2014/main" id="{D871BE42-16B4-A60E-DAED-CC679E598358}"/>
              </a:ext>
            </a:extLst>
          </p:cNvPr>
          <p:cNvPicPr>
            <a:picLocks noChangeAspect="1"/>
          </p:cNvPicPr>
          <p:nvPr/>
        </p:nvPicPr>
        <p:blipFill>
          <a:blip r:embed="rId3"/>
          <a:srcRect/>
          <a:stretch/>
        </p:blipFill>
        <p:spPr>
          <a:xfrm>
            <a:off x="581192" y="4082316"/>
            <a:ext cx="7348554" cy="1837137"/>
          </a:xfrm>
          <a:prstGeom prst="rect">
            <a:avLst/>
          </a:prstGeom>
        </p:spPr>
      </p:pic>
      <p:sp>
        <p:nvSpPr>
          <p:cNvPr id="9" name="Θέση περιεχομένου 2">
            <a:extLst>
              <a:ext uri="{FF2B5EF4-FFF2-40B4-BE49-F238E27FC236}">
                <a16:creationId xmlns:a16="http://schemas.microsoft.com/office/drawing/2014/main" id="{C9BF1DF0-FEB9-7AEA-8B3D-0265CD8479DD}"/>
              </a:ext>
            </a:extLst>
          </p:cNvPr>
          <p:cNvSpPr txBox="1">
            <a:spLocks/>
          </p:cNvSpPr>
          <p:nvPr/>
        </p:nvSpPr>
        <p:spPr>
          <a:xfrm>
            <a:off x="8173978" y="2733675"/>
            <a:ext cx="3570347" cy="2457450"/>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400" b="1" dirty="0"/>
              <a:t>First Review:</a:t>
            </a:r>
          </a:p>
          <a:p>
            <a:endParaRPr lang="en-US" sz="1400" dirty="0"/>
          </a:p>
          <a:p>
            <a:pPr marL="552600" lvl="1" indent="-228600">
              <a:buFont typeface="+mj-lt"/>
              <a:buAutoNum type="arabicPeriod"/>
            </a:pPr>
            <a:r>
              <a:rPr lang="en-US" sz="1800" dirty="0">
                <a:solidFill>
                  <a:srgbClr val="3D3D3D"/>
                </a:solidFill>
              </a:rPr>
              <a:t>Minimum difference of 4 nucleobases</a:t>
            </a:r>
          </a:p>
          <a:p>
            <a:pPr marL="552600" lvl="1" indent="-228600">
              <a:buFont typeface="+mj-lt"/>
              <a:buAutoNum type="arabicPeriod"/>
            </a:pPr>
            <a:r>
              <a:rPr lang="en-US" sz="1800" dirty="0">
                <a:solidFill>
                  <a:srgbClr val="3D3D3D"/>
                </a:solidFill>
              </a:rPr>
              <a:t>Eliminate crossing pairs</a:t>
            </a:r>
          </a:p>
          <a:p>
            <a:pPr marL="552600" lvl="1" indent="-228600">
              <a:buFont typeface="+mj-lt"/>
              <a:buAutoNum type="arabicPeriod"/>
            </a:pPr>
            <a:r>
              <a:rPr lang="en-US" sz="1800" dirty="0">
                <a:solidFill>
                  <a:srgbClr val="3D3D3D"/>
                </a:solidFill>
              </a:rPr>
              <a:t>Does not find all pairs</a:t>
            </a:r>
            <a:endParaRPr lang="el-GR" sz="1800" dirty="0">
              <a:solidFill>
                <a:srgbClr val="3D3D3D"/>
              </a:solidFill>
            </a:endParaRPr>
          </a:p>
        </p:txBody>
      </p:sp>
    </p:spTree>
    <p:extLst>
      <p:ext uri="{BB962C8B-B14F-4D97-AF65-F5344CB8AC3E}">
        <p14:creationId xmlns:p14="http://schemas.microsoft.com/office/powerpoint/2010/main" val="27768809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5CD57A8-3BBA-45B2-3B94-83DED893017B}"/>
              </a:ext>
            </a:extLst>
          </p:cNvPr>
          <p:cNvSpPr>
            <a:spLocks noGrp="1"/>
          </p:cNvSpPr>
          <p:nvPr>
            <p:ph type="title"/>
          </p:nvPr>
        </p:nvSpPr>
        <p:spPr>
          <a:xfrm>
            <a:off x="581192" y="702156"/>
            <a:ext cx="11029616" cy="465163"/>
          </a:xfrm>
        </p:spPr>
        <p:txBody>
          <a:bodyPr>
            <a:normAutofit fontScale="90000"/>
          </a:bodyPr>
          <a:lstStyle/>
          <a:p>
            <a:r>
              <a:rPr lang="en-US" dirty="0"/>
              <a:t>TASK</a:t>
            </a:r>
            <a:r>
              <a:rPr lang="el-GR" dirty="0"/>
              <a:t> 2.</a:t>
            </a:r>
            <a:r>
              <a:rPr lang="en-US" dirty="0"/>
              <a:t>2</a:t>
            </a:r>
            <a:endParaRPr lang="el-GR" dirty="0"/>
          </a:p>
        </p:txBody>
      </p:sp>
      <p:sp>
        <p:nvSpPr>
          <p:cNvPr id="3" name="Θέση περιεχομένου 2">
            <a:extLst>
              <a:ext uri="{FF2B5EF4-FFF2-40B4-BE49-F238E27FC236}">
                <a16:creationId xmlns:a16="http://schemas.microsoft.com/office/drawing/2014/main" id="{14DD5F37-90FE-F9AF-D4AE-C812021FE534}"/>
              </a:ext>
            </a:extLst>
          </p:cNvPr>
          <p:cNvSpPr>
            <a:spLocks noGrp="1"/>
          </p:cNvSpPr>
          <p:nvPr>
            <p:ph idx="1"/>
          </p:nvPr>
        </p:nvSpPr>
        <p:spPr>
          <a:xfrm>
            <a:off x="499714" y="1982119"/>
            <a:ext cx="4591051" cy="484822"/>
          </a:xfrm>
        </p:spPr>
        <p:txBody>
          <a:bodyPr anchor="t" anchorCtr="0">
            <a:normAutofit/>
          </a:bodyPr>
          <a:lstStyle/>
          <a:p>
            <a:r>
              <a:rPr lang="en-US" sz="2400" b="1" dirty="0"/>
              <a:t>After Many Requests (no fixes)</a:t>
            </a:r>
          </a:p>
        </p:txBody>
      </p:sp>
      <p:sp>
        <p:nvSpPr>
          <p:cNvPr id="4" name="Υπότιτλος 2">
            <a:extLst>
              <a:ext uri="{FF2B5EF4-FFF2-40B4-BE49-F238E27FC236}">
                <a16:creationId xmlns:a16="http://schemas.microsoft.com/office/drawing/2014/main" id="{71CA5918-2E5D-6280-C4AE-70D45BD076C1}"/>
              </a:ext>
            </a:extLst>
          </p:cNvPr>
          <p:cNvSpPr txBox="1">
            <a:spLocks/>
          </p:cNvSpPr>
          <p:nvPr/>
        </p:nvSpPr>
        <p:spPr>
          <a:xfrm>
            <a:off x="581192" y="1167319"/>
            <a:ext cx="10993546" cy="48482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err="1">
                <a:solidFill>
                  <a:srgbClr val="7CEBFF"/>
                </a:solidFill>
              </a:rPr>
              <a:t>get_opt_val</a:t>
            </a:r>
            <a:r>
              <a:rPr lang="en-US" dirty="0">
                <a:solidFill>
                  <a:srgbClr val="7CEBFF"/>
                </a:solidFill>
              </a:rPr>
              <a:t>(</a:t>
            </a:r>
            <a:r>
              <a:rPr lang="en-US" dirty="0" err="1">
                <a:solidFill>
                  <a:srgbClr val="7CEBFF"/>
                </a:solidFill>
              </a:rPr>
              <a:t>sequence:str</a:t>
            </a:r>
            <a:r>
              <a:rPr lang="en-US" dirty="0">
                <a:solidFill>
                  <a:srgbClr val="7CEBFF"/>
                </a:solidFill>
              </a:rPr>
              <a:t>, n:int, </a:t>
            </a:r>
            <a:r>
              <a:rPr lang="en-US" dirty="0" err="1">
                <a:solidFill>
                  <a:srgbClr val="7CEBFF"/>
                </a:solidFill>
              </a:rPr>
              <a:t>opt_val</a:t>
            </a:r>
            <a:r>
              <a:rPr lang="en-US" dirty="0">
                <a:solidFill>
                  <a:srgbClr val="7CEBFF"/>
                </a:solidFill>
              </a:rPr>
              <a:t>, </a:t>
            </a:r>
            <a:r>
              <a:rPr lang="en-US" dirty="0" err="1">
                <a:solidFill>
                  <a:srgbClr val="7CEBFF"/>
                </a:solidFill>
              </a:rPr>
              <a:t>opt_val_pairs</a:t>
            </a:r>
            <a:r>
              <a:rPr lang="en-US" dirty="0">
                <a:solidFill>
                  <a:srgbClr val="7CEBFF"/>
                </a:solidFill>
              </a:rPr>
              <a:t>, i:int, j:int)</a:t>
            </a:r>
            <a:endParaRPr lang="el-GR" dirty="0">
              <a:solidFill>
                <a:srgbClr val="7CEBFF"/>
              </a:solidFill>
            </a:endParaRPr>
          </a:p>
        </p:txBody>
      </p:sp>
      <p:sp>
        <p:nvSpPr>
          <p:cNvPr id="5" name="Θέση περιεχομένου 2">
            <a:extLst>
              <a:ext uri="{FF2B5EF4-FFF2-40B4-BE49-F238E27FC236}">
                <a16:creationId xmlns:a16="http://schemas.microsoft.com/office/drawing/2014/main" id="{A6B3E62E-C435-9D43-2430-BD1D9F2C6508}"/>
              </a:ext>
            </a:extLst>
          </p:cNvPr>
          <p:cNvSpPr txBox="1">
            <a:spLocks/>
          </p:cNvSpPr>
          <p:nvPr/>
        </p:nvSpPr>
        <p:spPr>
          <a:xfrm>
            <a:off x="581192" y="5772470"/>
            <a:ext cx="11029616" cy="484822"/>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000" dirty="0"/>
              <a:t>The pseudo-command was given in order to receive the best result.</a:t>
            </a:r>
          </a:p>
        </p:txBody>
      </p:sp>
      <p:pic>
        <p:nvPicPr>
          <p:cNvPr id="8" name="Εικόνα 7" descr="Εικόνα που περιέχει κείμενο, στιγμιότυπο οθόνης, γραμματοσειρά, λογισμικό&#10;&#10;Περιγραφή που δημιουργήθηκε αυτόματα">
            <a:extLst>
              <a:ext uri="{FF2B5EF4-FFF2-40B4-BE49-F238E27FC236}">
                <a16:creationId xmlns:a16="http://schemas.microsoft.com/office/drawing/2014/main" id="{E802C19A-2D28-C50C-1C94-D89DA96366F9}"/>
              </a:ext>
            </a:extLst>
          </p:cNvPr>
          <p:cNvPicPr>
            <a:picLocks noChangeAspect="1"/>
          </p:cNvPicPr>
          <p:nvPr/>
        </p:nvPicPr>
        <p:blipFill>
          <a:blip r:embed="rId3"/>
          <a:stretch>
            <a:fillRect/>
          </a:stretch>
        </p:blipFill>
        <p:spPr>
          <a:xfrm>
            <a:off x="3596356" y="2728861"/>
            <a:ext cx="4963218" cy="2781688"/>
          </a:xfrm>
          <a:prstGeom prst="rect">
            <a:avLst/>
          </a:prstGeom>
        </p:spPr>
      </p:pic>
    </p:spTree>
    <p:extLst>
      <p:ext uri="{BB962C8B-B14F-4D97-AF65-F5344CB8AC3E}">
        <p14:creationId xmlns:p14="http://schemas.microsoft.com/office/powerpoint/2010/main" val="12347845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505645"/>
          </a:xfrm>
        </p:spPr>
        <p:txBody>
          <a:bodyPr rtlCol="0">
            <a:normAutofit fontScale="90000"/>
          </a:bodyPr>
          <a:lstStyle/>
          <a:p>
            <a:pPr rtl="0"/>
            <a:r>
              <a:rPr lang="en-US" dirty="0"/>
              <a:t>CONCLUSION #2</a:t>
            </a:r>
            <a:endParaRPr lang="el-GR" dirty="0"/>
          </a:p>
        </p:txBody>
      </p:sp>
      <p:sp>
        <p:nvSpPr>
          <p:cNvPr id="41" name="Υπότιτλος 2">
            <a:extLst>
              <a:ext uri="{FF2B5EF4-FFF2-40B4-BE49-F238E27FC236}">
                <a16:creationId xmlns:a16="http://schemas.microsoft.com/office/drawing/2014/main" id="{615BD516-DFA9-E050-A0BB-1B1211254D1E}"/>
              </a:ext>
            </a:extLst>
          </p:cNvPr>
          <p:cNvSpPr txBox="1">
            <a:spLocks/>
          </p:cNvSpPr>
          <p:nvPr/>
        </p:nvSpPr>
        <p:spPr>
          <a:xfrm>
            <a:off x="581191" y="1234114"/>
            <a:ext cx="10993546" cy="48482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solidFill>
                  <a:srgbClr val="7CEBFF"/>
                </a:solidFill>
              </a:rPr>
              <a:t>GENERALLY</a:t>
            </a:r>
            <a:endParaRPr lang="el-GR" dirty="0">
              <a:solidFill>
                <a:srgbClr val="7CEBFF"/>
              </a:solidFill>
            </a:endParaRPr>
          </a:p>
        </p:txBody>
      </p:sp>
      <p:sp>
        <p:nvSpPr>
          <p:cNvPr id="4" name="TextBox 3">
            <a:extLst>
              <a:ext uri="{FF2B5EF4-FFF2-40B4-BE49-F238E27FC236}">
                <a16:creationId xmlns:a16="http://schemas.microsoft.com/office/drawing/2014/main" id="{9A3D09B4-3A7B-32AE-CEC9-EFF1502776ED}"/>
              </a:ext>
            </a:extLst>
          </p:cNvPr>
          <p:cNvSpPr txBox="1"/>
          <p:nvPr/>
        </p:nvSpPr>
        <p:spPr>
          <a:xfrm>
            <a:off x="1647512" y="2234864"/>
            <a:ext cx="2984122" cy="523220"/>
          </a:xfrm>
          <a:prstGeom prst="rect">
            <a:avLst/>
          </a:prstGeom>
          <a:noFill/>
        </p:spPr>
        <p:txBody>
          <a:bodyPr wrap="square" rtlCol="0">
            <a:spAutoFit/>
          </a:bodyPr>
          <a:lstStyle/>
          <a:p>
            <a:r>
              <a:rPr lang="en-US" sz="2800" dirty="0">
                <a:latin typeface="Congenial SemiBold" panose="020B0604020202020204" pitchFamily="2" charset="0"/>
              </a:rPr>
              <a:t>ANALYZE CODE</a:t>
            </a:r>
          </a:p>
        </p:txBody>
      </p:sp>
      <p:sp>
        <p:nvSpPr>
          <p:cNvPr id="6" name="TextBox 5">
            <a:extLst>
              <a:ext uri="{FF2B5EF4-FFF2-40B4-BE49-F238E27FC236}">
                <a16:creationId xmlns:a16="http://schemas.microsoft.com/office/drawing/2014/main" id="{08D6F69A-CB2F-BD5F-D81D-666D4E8CFCE1}"/>
              </a:ext>
            </a:extLst>
          </p:cNvPr>
          <p:cNvSpPr txBox="1"/>
          <p:nvPr/>
        </p:nvSpPr>
        <p:spPr>
          <a:xfrm>
            <a:off x="3992941" y="3602102"/>
            <a:ext cx="4206118" cy="523220"/>
          </a:xfrm>
          <a:prstGeom prst="rect">
            <a:avLst/>
          </a:prstGeom>
          <a:noFill/>
        </p:spPr>
        <p:txBody>
          <a:bodyPr wrap="square">
            <a:spAutoFit/>
          </a:bodyPr>
          <a:lstStyle/>
          <a:p>
            <a:r>
              <a:rPr lang="en-US" sz="2800" dirty="0">
                <a:latin typeface="Congenial SemiBold" panose="02000503040000020004" pitchFamily="2" charset="0"/>
              </a:rPr>
              <a:t>CREATE PART OF CODE</a:t>
            </a:r>
          </a:p>
        </p:txBody>
      </p:sp>
      <p:sp>
        <p:nvSpPr>
          <p:cNvPr id="9" name="TextBox 8">
            <a:extLst>
              <a:ext uri="{FF2B5EF4-FFF2-40B4-BE49-F238E27FC236}">
                <a16:creationId xmlns:a16="http://schemas.microsoft.com/office/drawing/2014/main" id="{0D717E8C-FBD6-A307-69B5-D27D5D8F293B}"/>
              </a:ext>
            </a:extLst>
          </p:cNvPr>
          <p:cNvSpPr txBox="1"/>
          <p:nvPr/>
        </p:nvSpPr>
        <p:spPr>
          <a:xfrm>
            <a:off x="1763677" y="4969341"/>
            <a:ext cx="2867957" cy="523220"/>
          </a:xfrm>
          <a:prstGeom prst="rect">
            <a:avLst/>
          </a:prstGeom>
          <a:noFill/>
        </p:spPr>
        <p:txBody>
          <a:bodyPr wrap="square">
            <a:spAutoFit/>
          </a:bodyPr>
          <a:lstStyle/>
          <a:p>
            <a:r>
              <a:rPr lang="en-US" sz="2800" dirty="0">
                <a:latin typeface="Congenial SemiBold" panose="02000503040000020004" pitchFamily="2" charset="0"/>
              </a:rPr>
              <a:t>SUGGEST IDEAS</a:t>
            </a:r>
          </a:p>
        </p:txBody>
      </p:sp>
      <p:sp>
        <p:nvSpPr>
          <p:cNvPr id="12" name="TextBox 11">
            <a:extLst>
              <a:ext uri="{FF2B5EF4-FFF2-40B4-BE49-F238E27FC236}">
                <a16:creationId xmlns:a16="http://schemas.microsoft.com/office/drawing/2014/main" id="{B0138EDF-63FD-9071-0BBB-8EA770B1AF43}"/>
              </a:ext>
            </a:extLst>
          </p:cNvPr>
          <p:cNvSpPr txBox="1"/>
          <p:nvPr/>
        </p:nvSpPr>
        <p:spPr>
          <a:xfrm>
            <a:off x="7876291" y="4951548"/>
            <a:ext cx="2867957" cy="523220"/>
          </a:xfrm>
          <a:prstGeom prst="rect">
            <a:avLst/>
          </a:prstGeom>
          <a:noFill/>
        </p:spPr>
        <p:txBody>
          <a:bodyPr wrap="square">
            <a:spAutoFit/>
          </a:bodyPr>
          <a:lstStyle/>
          <a:p>
            <a:r>
              <a:rPr lang="en-US" sz="2800" dirty="0">
                <a:latin typeface="Congenial SemiBold" panose="02000503040000020004" pitchFamily="2" charset="0"/>
              </a:rPr>
              <a:t>GIVE SOURCES </a:t>
            </a:r>
            <a:endParaRPr lang="el-GR" sz="2800" dirty="0"/>
          </a:p>
        </p:txBody>
      </p:sp>
      <p:sp>
        <p:nvSpPr>
          <p:cNvPr id="14" name="TextBox 13">
            <a:extLst>
              <a:ext uri="{FF2B5EF4-FFF2-40B4-BE49-F238E27FC236}">
                <a16:creationId xmlns:a16="http://schemas.microsoft.com/office/drawing/2014/main" id="{4B6F329C-3E68-CEE6-ED45-50A02C1F6E0E}"/>
              </a:ext>
            </a:extLst>
          </p:cNvPr>
          <p:cNvSpPr txBox="1"/>
          <p:nvPr/>
        </p:nvSpPr>
        <p:spPr>
          <a:xfrm>
            <a:off x="7057815" y="2258556"/>
            <a:ext cx="2622898" cy="523220"/>
          </a:xfrm>
          <a:prstGeom prst="rect">
            <a:avLst/>
          </a:prstGeom>
          <a:noFill/>
        </p:spPr>
        <p:txBody>
          <a:bodyPr wrap="square" rtlCol="0">
            <a:spAutoFit/>
          </a:bodyPr>
          <a:lstStyle/>
          <a:p>
            <a:r>
              <a:rPr lang="en-US" sz="2800" dirty="0">
                <a:latin typeface="Congenial SemiBold" panose="02000503040000020004" pitchFamily="2" charset="0"/>
              </a:rPr>
              <a:t>REVIEW CODE</a:t>
            </a:r>
          </a:p>
        </p:txBody>
      </p:sp>
    </p:spTree>
    <p:extLst>
      <p:ext uri="{BB962C8B-B14F-4D97-AF65-F5344CB8AC3E}">
        <p14:creationId xmlns:p14="http://schemas.microsoft.com/office/powerpoint/2010/main" val="13783985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505645"/>
          </a:xfrm>
        </p:spPr>
        <p:txBody>
          <a:bodyPr rtlCol="0">
            <a:normAutofit fontScale="90000"/>
          </a:bodyPr>
          <a:lstStyle/>
          <a:p>
            <a:pPr rtl="0"/>
            <a:r>
              <a:rPr lang="en-US" dirty="0"/>
              <a:t>CONCLUSION #2</a:t>
            </a:r>
            <a:endParaRPr lang="el-GR" dirty="0"/>
          </a:p>
        </p:txBody>
      </p:sp>
      <p:sp>
        <p:nvSpPr>
          <p:cNvPr id="41" name="Υπότιτλος 2">
            <a:extLst>
              <a:ext uri="{FF2B5EF4-FFF2-40B4-BE49-F238E27FC236}">
                <a16:creationId xmlns:a16="http://schemas.microsoft.com/office/drawing/2014/main" id="{615BD516-DFA9-E050-A0BB-1B1211254D1E}"/>
              </a:ext>
            </a:extLst>
          </p:cNvPr>
          <p:cNvSpPr txBox="1">
            <a:spLocks/>
          </p:cNvSpPr>
          <p:nvPr/>
        </p:nvSpPr>
        <p:spPr>
          <a:xfrm>
            <a:off x="581191" y="1234114"/>
            <a:ext cx="10993546" cy="48482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Calibri" panose="020F0502020204030204" pitchFamily="34" charset="0"/>
                <a:ea typeface="+mn-ea"/>
                <a:cs typeface="Calibri" panose="020F0502020204030204" pitchFamily="34" charset="0"/>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Calibri" panose="020F0502020204030204" pitchFamily="34" charset="0"/>
                <a:ea typeface="+mn-ea"/>
                <a:cs typeface="Calibri" panose="020F0502020204030204" pitchFamily="34" charset="0"/>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Calibri" panose="020F0502020204030204" pitchFamily="34" charset="0"/>
                <a:ea typeface="+mn-ea"/>
                <a:cs typeface="Calibri" panose="020F0502020204030204" pitchFamily="34" charset="0"/>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Calibri" panose="020F0502020204030204" pitchFamily="34" charset="0"/>
                <a:ea typeface="+mn-ea"/>
                <a:cs typeface="Calibri" panose="020F050202020403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solidFill>
                  <a:srgbClr val="7CEBFF"/>
                </a:solidFill>
              </a:rPr>
              <a:t>GENERALLY</a:t>
            </a:r>
            <a:endParaRPr lang="el-GR" dirty="0">
              <a:solidFill>
                <a:srgbClr val="7CEBFF"/>
              </a:solidFill>
            </a:endParaRPr>
          </a:p>
        </p:txBody>
      </p:sp>
      <p:sp>
        <p:nvSpPr>
          <p:cNvPr id="3" name="TextBox 2">
            <a:extLst>
              <a:ext uri="{FF2B5EF4-FFF2-40B4-BE49-F238E27FC236}">
                <a16:creationId xmlns:a16="http://schemas.microsoft.com/office/drawing/2014/main" id="{524F9740-9B06-0409-8A47-EF1C17482F11}"/>
              </a:ext>
            </a:extLst>
          </p:cNvPr>
          <p:cNvSpPr txBox="1"/>
          <p:nvPr/>
        </p:nvSpPr>
        <p:spPr>
          <a:xfrm>
            <a:off x="6786523" y="4938533"/>
            <a:ext cx="2673626" cy="523220"/>
          </a:xfrm>
          <a:prstGeom prst="rect">
            <a:avLst/>
          </a:prstGeom>
          <a:noFill/>
        </p:spPr>
        <p:txBody>
          <a:bodyPr wrap="square" rtlCol="0">
            <a:spAutoFit/>
          </a:bodyPr>
          <a:lstStyle/>
          <a:p>
            <a:pPr algn="ctr"/>
            <a:r>
              <a:rPr lang="en-US" sz="2800" dirty="0">
                <a:latin typeface="Congenial SemiBold" panose="02000503040000020004" pitchFamily="2" charset="0"/>
              </a:rPr>
              <a:t>“SUPERTOOL”</a:t>
            </a:r>
            <a:endParaRPr lang="el-GR" sz="2800" dirty="0"/>
          </a:p>
        </p:txBody>
      </p:sp>
      <p:pic>
        <p:nvPicPr>
          <p:cNvPr id="10" name="Εικόνα 9" descr="Εικόνα που περιέχει σκίτσο/σχέδιο, clipart, γραφικά, σύμβολο&#10;&#10;Περιγραφή που δημιουργήθηκε αυτόματα">
            <a:extLst>
              <a:ext uri="{FF2B5EF4-FFF2-40B4-BE49-F238E27FC236}">
                <a16:creationId xmlns:a16="http://schemas.microsoft.com/office/drawing/2014/main" id="{4761A17D-0CBE-55F5-7CE1-A6A78E4A6FC6}"/>
              </a:ext>
            </a:extLst>
          </p:cNvPr>
          <p:cNvPicPr>
            <a:picLocks noChangeAspect="1"/>
          </p:cNvPicPr>
          <p:nvPr/>
        </p:nvPicPr>
        <p:blipFill>
          <a:blip r:embed="rId3"/>
          <a:stretch>
            <a:fillRect/>
          </a:stretch>
        </p:blipFill>
        <p:spPr>
          <a:xfrm>
            <a:off x="816813" y="2422040"/>
            <a:ext cx="2202385" cy="2202385"/>
          </a:xfrm>
          <a:prstGeom prst="rect">
            <a:avLst/>
          </a:prstGeom>
        </p:spPr>
      </p:pic>
      <p:sp>
        <p:nvSpPr>
          <p:cNvPr id="11" name="TextBox 10">
            <a:extLst>
              <a:ext uri="{FF2B5EF4-FFF2-40B4-BE49-F238E27FC236}">
                <a16:creationId xmlns:a16="http://schemas.microsoft.com/office/drawing/2014/main" id="{60BC1D99-6814-C41A-49D2-E58795E2C4DC}"/>
              </a:ext>
            </a:extLst>
          </p:cNvPr>
          <p:cNvSpPr txBox="1"/>
          <p:nvPr/>
        </p:nvSpPr>
        <p:spPr>
          <a:xfrm>
            <a:off x="581191" y="4905364"/>
            <a:ext cx="2673626" cy="523220"/>
          </a:xfrm>
          <a:prstGeom prst="rect">
            <a:avLst/>
          </a:prstGeom>
          <a:noFill/>
        </p:spPr>
        <p:txBody>
          <a:bodyPr wrap="square" rtlCol="0">
            <a:spAutoFit/>
          </a:bodyPr>
          <a:lstStyle/>
          <a:p>
            <a:pPr algn="ctr"/>
            <a:r>
              <a:rPr lang="en-US" sz="2800" dirty="0">
                <a:latin typeface="Congenial SemiBold" panose="02000503040000020004" pitchFamily="2" charset="0"/>
              </a:rPr>
              <a:t>SOLUTION</a:t>
            </a:r>
            <a:endParaRPr lang="el-GR" sz="2800" dirty="0"/>
          </a:p>
        </p:txBody>
      </p:sp>
      <p:sp>
        <p:nvSpPr>
          <p:cNvPr id="13" name="Σταυρός 12">
            <a:extLst>
              <a:ext uri="{FF2B5EF4-FFF2-40B4-BE49-F238E27FC236}">
                <a16:creationId xmlns:a16="http://schemas.microsoft.com/office/drawing/2014/main" id="{C57F9E64-E3F3-7E92-7227-C038F3A37472}"/>
              </a:ext>
            </a:extLst>
          </p:cNvPr>
          <p:cNvSpPr/>
          <p:nvPr/>
        </p:nvSpPr>
        <p:spPr>
          <a:xfrm rot="2700000">
            <a:off x="668739" y="2249170"/>
            <a:ext cx="2560193" cy="2560193"/>
          </a:xfrm>
          <a:prstGeom prst="plus">
            <a:avLst>
              <a:gd name="adj" fmla="val 4441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Βέλος: Δεξιό 14">
            <a:extLst>
              <a:ext uri="{FF2B5EF4-FFF2-40B4-BE49-F238E27FC236}">
                <a16:creationId xmlns:a16="http://schemas.microsoft.com/office/drawing/2014/main" id="{835FAA21-0337-8B79-8393-987A34A7280E}"/>
              </a:ext>
            </a:extLst>
          </p:cNvPr>
          <p:cNvSpPr/>
          <p:nvPr/>
        </p:nvSpPr>
        <p:spPr>
          <a:xfrm>
            <a:off x="3754444" y="2971610"/>
            <a:ext cx="2202385" cy="1103244"/>
          </a:xfrm>
          <a:prstGeom prst="rightArrow">
            <a:avLst>
              <a:gd name="adj1" fmla="val 37387"/>
              <a:gd name="adj2" fmla="val 761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17" name="Εικόνα 16" descr="Εικόνα που περιέχει σύμβολο, λογότυπο, γραμματοσειρά, γραφικά&#10;&#10;Περιγραφή που δημιουργήθηκε αυτόματα">
            <a:extLst>
              <a:ext uri="{FF2B5EF4-FFF2-40B4-BE49-F238E27FC236}">
                <a16:creationId xmlns:a16="http://schemas.microsoft.com/office/drawing/2014/main" id="{07BA75A2-9486-0B0C-4CE9-09FAAD7DC8CE}"/>
              </a:ext>
            </a:extLst>
          </p:cNvPr>
          <p:cNvPicPr>
            <a:picLocks noChangeAspect="1"/>
          </p:cNvPicPr>
          <p:nvPr/>
        </p:nvPicPr>
        <p:blipFill>
          <a:blip r:embed="rId4"/>
          <a:stretch>
            <a:fillRect/>
          </a:stretch>
        </p:blipFill>
        <p:spPr>
          <a:xfrm>
            <a:off x="6096000" y="3012647"/>
            <a:ext cx="2102662" cy="1476337"/>
          </a:xfrm>
          <a:prstGeom prst="rect">
            <a:avLst/>
          </a:prstGeom>
        </p:spPr>
      </p:pic>
      <p:pic>
        <p:nvPicPr>
          <p:cNvPr id="19" name="Εικόνα 18" descr="Εικόνα που περιέχει γραφικά, γραμματοσειρά, πολυχρωμία, κύκλος&#10;&#10;Περιγραφή που δημιουργήθηκε αυτόματα">
            <a:extLst>
              <a:ext uri="{FF2B5EF4-FFF2-40B4-BE49-F238E27FC236}">
                <a16:creationId xmlns:a16="http://schemas.microsoft.com/office/drawing/2014/main" id="{E115CE7F-8C7B-9882-F82A-F1B7018691F0}"/>
              </a:ext>
            </a:extLst>
          </p:cNvPr>
          <p:cNvPicPr>
            <a:picLocks noChangeAspect="1"/>
          </p:cNvPicPr>
          <p:nvPr/>
        </p:nvPicPr>
        <p:blipFill>
          <a:blip r:embed="rId5"/>
          <a:stretch>
            <a:fillRect/>
          </a:stretch>
        </p:blipFill>
        <p:spPr>
          <a:xfrm>
            <a:off x="7062540" y="2422040"/>
            <a:ext cx="1787634" cy="625672"/>
          </a:xfrm>
          <a:prstGeom prst="rect">
            <a:avLst/>
          </a:prstGeom>
        </p:spPr>
      </p:pic>
      <p:pic>
        <p:nvPicPr>
          <p:cNvPr id="21" name="Εικόνα 20" descr="Εικόνα που περιέχει κείμενο, γραμματοσειρά, λογότυπο, γραφικά&#10;&#10;Περιγραφή που δημιουργήθηκε αυτόματα">
            <a:extLst>
              <a:ext uri="{FF2B5EF4-FFF2-40B4-BE49-F238E27FC236}">
                <a16:creationId xmlns:a16="http://schemas.microsoft.com/office/drawing/2014/main" id="{7374C965-0A5B-05EE-0A75-C9E04B7C23F5}"/>
              </a:ext>
            </a:extLst>
          </p:cNvPr>
          <p:cNvPicPr>
            <a:picLocks noChangeAspect="1"/>
          </p:cNvPicPr>
          <p:nvPr/>
        </p:nvPicPr>
        <p:blipFill>
          <a:blip r:embed="rId6"/>
          <a:stretch>
            <a:fillRect/>
          </a:stretch>
        </p:blipFill>
        <p:spPr>
          <a:xfrm>
            <a:off x="8123336" y="3119787"/>
            <a:ext cx="2993660" cy="1167444"/>
          </a:xfrm>
          <a:prstGeom prst="rect">
            <a:avLst/>
          </a:prstGeom>
        </p:spPr>
      </p:pic>
    </p:spTree>
    <p:extLst>
      <p:ext uri="{BB962C8B-B14F-4D97-AF65-F5344CB8AC3E}">
        <p14:creationId xmlns:p14="http://schemas.microsoft.com/office/powerpoint/2010/main" val="38556575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Ορθογώνιο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a:latin typeface="Calibri" panose="020F0502020204030204" pitchFamily="34" charset="0"/>
            </a:endParaRPr>
          </a:p>
        </p:txBody>
      </p:sp>
      <p:sp>
        <p:nvSpPr>
          <p:cNvPr id="12" name="Ορθογώνιο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Ομάδα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Ορθογώνιο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Ορθογώνιο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Ορθογώνιο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Τίτλος 1">
            <a:extLst>
              <a:ext uri="{FF2B5EF4-FFF2-40B4-BE49-F238E27FC236}">
                <a16:creationId xmlns:a16="http://schemas.microsoft.com/office/drawing/2014/main" id="{0F87E73C-2B1A-4602-BFBE-CFE1E55D9B38}"/>
              </a:ext>
            </a:extLst>
          </p:cNvPr>
          <p:cNvSpPr>
            <a:spLocks noGrp="1"/>
          </p:cNvSpPr>
          <p:nvPr>
            <p:ph type="ctrTitle"/>
          </p:nvPr>
        </p:nvSpPr>
        <p:spPr>
          <a:xfrm>
            <a:off x="8287221" y="1419226"/>
            <a:ext cx="3081577" cy="1746762"/>
          </a:xfrm>
        </p:spPr>
        <p:txBody>
          <a:bodyPr rtlCol="0">
            <a:normAutofit/>
          </a:bodyPr>
          <a:lstStyle/>
          <a:p>
            <a:pPr rtl="0"/>
            <a:r>
              <a:rPr lang="el-GR" dirty="0">
                <a:solidFill>
                  <a:srgbClr val="FFFFFF"/>
                </a:solidFill>
              </a:rPr>
              <a:t>Σας </a:t>
            </a:r>
            <a:r>
              <a:rPr lang="el-GR" dirty="0" err="1">
                <a:solidFill>
                  <a:srgbClr val="FFFFFF"/>
                </a:solidFill>
              </a:rPr>
              <a:t>Ευχαριστω</a:t>
            </a:r>
            <a:endParaRPr lang="el-GR" dirty="0">
              <a:solidFill>
                <a:srgbClr val="FFFFFF"/>
              </a:solidFill>
            </a:endParaRPr>
          </a:p>
        </p:txBody>
      </p:sp>
      <p:sp>
        <p:nvSpPr>
          <p:cNvPr id="3" name="Υπότιτλος 2">
            <a:extLst>
              <a:ext uri="{FF2B5EF4-FFF2-40B4-BE49-F238E27FC236}">
                <a16:creationId xmlns:a16="http://schemas.microsoft.com/office/drawing/2014/main" id="{A9CB511D-EA45-4336-847C-1252667143B5}"/>
              </a:ext>
            </a:extLst>
          </p:cNvPr>
          <p:cNvSpPr>
            <a:spLocks noGrp="1"/>
          </p:cNvSpPr>
          <p:nvPr>
            <p:ph type="subTitle" idx="1"/>
          </p:nvPr>
        </p:nvSpPr>
        <p:spPr>
          <a:xfrm>
            <a:off x="8287222" y="3505095"/>
            <a:ext cx="3081576" cy="2629006"/>
          </a:xfrm>
        </p:spPr>
        <p:txBody>
          <a:bodyPr rtlCol="0">
            <a:normAutofit/>
          </a:bodyPr>
          <a:lstStyle/>
          <a:p>
            <a:pPr rtl="0"/>
            <a:r>
              <a:rPr lang="el-GR" dirty="0">
                <a:solidFill>
                  <a:schemeClr val="bg2"/>
                </a:solidFill>
              </a:rPr>
              <a:t>Ιατρου </a:t>
            </a:r>
            <a:r>
              <a:rPr lang="el-GR" dirty="0" err="1">
                <a:solidFill>
                  <a:schemeClr val="bg2"/>
                </a:solidFill>
              </a:rPr>
              <a:t>κωνσταντινοσ</a:t>
            </a:r>
            <a:r>
              <a:rPr lang="el-GR" dirty="0">
                <a:solidFill>
                  <a:schemeClr val="bg2"/>
                </a:solidFill>
              </a:rPr>
              <a:t> 58071</a:t>
            </a:r>
          </a:p>
          <a:p>
            <a:pPr rtl="0"/>
            <a:endParaRPr lang="el-GR" dirty="0">
              <a:solidFill>
                <a:schemeClr val="bg2"/>
              </a:solidFill>
            </a:endParaRPr>
          </a:p>
          <a:p>
            <a:pPr rtl="0"/>
            <a:endParaRPr lang="el-GR" dirty="0">
              <a:solidFill>
                <a:schemeClr val="bg2"/>
              </a:solidFill>
            </a:endParaRPr>
          </a:p>
        </p:txBody>
      </p:sp>
      <p:pic>
        <p:nvPicPr>
          <p:cNvPr id="5" name="Εικόνα 4" descr="Ψηφιακοί αριθμοί">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Μέρισμα">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8802_TF56390039_Win32" id="{2456A9F1-9542-4822-B65D-6E2923A19DCA}" vid="{302920F1-7F9A-4990-89F2-EB000A666D1F}"/>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7B98430400B704198DB7616A2ECE943" ma:contentTypeVersion="9" ma:contentTypeDescription="Create a new document." ma:contentTypeScope="" ma:versionID="eeee35964a7e595de41e5ecd9f80dab8">
  <xsd:schema xmlns:xsd="http://www.w3.org/2001/XMLSchema" xmlns:xs="http://www.w3.org/2001/XMLSchema" xmlns:p="http://schemas.microsoft.com/office/2006/metadata/properties" xmlns:ns3="f9582e30-fbb7-4015-89c1-e3ed80066612" xmlns:ns4="475daa6c-9439-43a1-82f8-33d3831424c4" targetNamespace="http://schemas.microsoft.com/office/2006/metadata/properties" ma:root="true" ma:fieldsID="cb4969e6367b148a47a1115562b84406" ns3:_="" ns4:_="">
    <xsd:import namespace="f9582e30-fbb7-4015-89c1-e3ed80066612"/>
    <xsd:import namespace="475daa6c-9439-43a1-82f8-33d3831424c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582e30-fbb7-4015-89c1-e3ed8006661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5daa6c-9439-43a1-82f8-33d3831424c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006468E-9384-40B2-A306-292E914601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582e30-fbb7-4015-89c1-e3ed80066612"/>
    <ds:schemaRef ds:uri="475daa6c-9439-43a1-82f8-33d3831424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209F3E-7155-4A89-9CA6-6042DE9DD104}">
  <ds:schemaRefs>
    <ds:schemaRef ds:uri="http://schemas.microsoft.com/sharepoint/v3/contenttype/forms"/>
  </ds:schemaRefs>
</ds:datastoreItem>
</file>

<file path=customXml/itemProps3.xml><?xml version="1.0" encoding="utf-8"?>
<ds:datastoreItem xmlns:ds="http://schemas.openxmlformats.org/officeDocument/2006/customXml" ds:itemID="{6EFA8983-A68C-4FD0-B125-6586D352437A}">
  <ds:schemaRefs>
    <ds:schemaRef ds:uri="http://schemas.microsoft.com/office/2006/documentManagement/types"/>
    <ds:schemaRef ds:uri="f9582e30-fbb7-4015-89c1-e3ed80066612"/>
    <ds:schemaRef ds:uri="http://purl.org/dc/dcmitype/"/>
    <ds:schemaRef ds:uri="http://purl.org/dc/terms/"/>
    <ds:schemaRef ds:uri="http://purl.org/dc/elements/1.1/"/>
    <ds:schemaRef ds:uri="http://www.w3.org/XML/1998/namespace"/>
    <ds:schemaRef ds:uri="475daa6c-9439-43a1-82f8-33d3831424c4"/>
    <ds:schemaRef ds:uri="http://schemas.microsoft.com/office/2006/metadata/properties"/>
    <ds:schemaRef ds:uri="http://schemas.openxmlformats.org/package/2006/metadata/core-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Τεχνολογική σχεδίαση</Template>
  <TotalTime>2335</TotalTime>
  <Words>1018</Words>
  <Application>Microsoft Office PowerPoint</Application>
  <PresentationFormat>Ευρεία οθόνη</PresentationFormat>
  <Paragraphs>128</Paragraphs>
  <Slides>12</Slides>
  <Notes>10</Notes>
  <HiddenSlides>0</HiddenSlides>
  <MMClips>0</MMClips>
  <ScaleCrop>false</ScaleCrop>
  <HeadingPairs>
    <vt:vector size="6" baseType="variant">
      <vt:variant>
        <vt:lpstr>Γραμματοσειρές που χρησιμοποιούνται</vt:lpstr>
      </vt:variant>
      <vt:variant>
        <vt:i4>5</vt:i4>
      </vt:variant>
      <vt:variant>
        <vt:lpstr>Θέμα</vt:lpstr>
      </vt:variant>
      <vt:variant>
        <vt:i4>1</vt:i4>
      </vt:variant>
      <vt:variant>
        <vt:lpstr>Τίτλοι διαφανειών</vt:lpstr>
      </vt:variant>
      <vt:variant>
        <vt:i4>12</vt:i4>
      </vt:variant>
    </vt:vector>
  </HeadingPairs>
  <TitlesOfParts>
    <vt:vector size="18" baseType="lpstr">
      <vt:lpstr>Calibri</vt:lpstr>
      <vt:lpstr>Congenial SemiBold</vt:lpstr>
      <vt:lpstr>Corbel</vt:lpstr>
      <vt:lpstr>Gill Sans MT</vt:lpstr>
      <vt:lpstr>Wingdings 2</vt:lpstr>
      <vt:lpstr>Μέρισμα</vt:lpstr>
      <vt:lpstr>Παρουσίαση του PowerPoint</vt:lpstr>
      <vt:lpstr>Ai pair programmer experience</vt:lpstr>
      <vt:lpstr>TASK 1</vt:lpstr>
      <vt:lpstr>TASK 2.1</vt:lpstr>
      <vt:lpstr>TASK 2.1</vt:lpstr>
      <vt:lpstr>CONCLUSION #1</vt:lpstr>
      <vt:lpstr>PROBLEMS</vt:lpstr>
      <vt:lpstr>TASK 2.2</vt:lpstr>
      <vt:lpstr>TASK 2.2</vt:lpstr>
      <vt:lpstr>CONCLUSION #2</vt:lpstr>
      <vt:lpstr>CONCLUSION #2</vt:lpstr>
      <vt:lpstr>Σας Ευχαριστω</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Παρουσίαση του PowerPoint</dc:title>
  <dc:creator>Κωνσταντινος Ιατρου</dc:creator>
  <cp:lastModifiedBy>Κωνσταντινος Ιατρου</cp:lastModifiedBy>
  <cp:revision>8</cp:revision>
  <dcterms:created xsi:type="dcterms:W3CDTF">2023-05-23T10:35:24Z</dcterms:created>
  <dcterms:modified xsi:type="dcterms:W3CDTF">2023-05-25T23:28:25Z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0x01010037B98430400B704198DB7616A2ECE943</vt:lpwstr>
  </property>
</Properties>
</file>