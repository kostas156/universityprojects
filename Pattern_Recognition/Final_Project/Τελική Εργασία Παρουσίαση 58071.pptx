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2131" autoAdjust="0"/>
  </p:normalViewPr>
  <p:slideViewPr>
    <p:cSldViewPr snapToGrid="0">
      <p:cViewPr>
        <p:scale>
          <a:sx n="78" d="100"/>
          <a:sy n="78" d="100"/>
        </p:scale>
        <p:origin x="181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C565A8-78DD-42AA-AA39-54382AD632EB}" type="datetimeFigureOut">
              <a:rPr lang="el-GR" smtClean="0"/>
              <a:t>21/1/2024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7BB04-1D74-41DB-B0D4-E71743518F39}" type="slidenum">
              <a:rPr lang="el-GR" smtClean="0"/>
              <a:t>‹#›</a:t>
            </a:fld>
            <a:endParaRPr lang="el-GR"/>
          </a:p>
        </p:txBody>
      </p:sp>
    </p:spTree>
    <p:extLst>
      <p:ext uri="{BB962C8B-B14F-4D97-AF65-F5344CB8AC3E}">
        <p14:creationId xmlns:p14="http://schemas.microsoft.com/office/powerpoint/2010/main" val="2296654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Για την υλοποίηση του συστήματος επέλεξα να δημιουργήσω και να εκπαιδεύσω νευρωνικό δίκτυο:</a:t>
            </a:r>
          </a:p>
          <a:p>
            <a:endParaRPr lang="el-GR" dirty="0"/>
          </a:p>
          <a:p>
            <a:pPr marL="342900" marR="0" lvl="0" indent="-342900" algn="just">
              <a:lnSpc>
                <a:spcPct val="107000"/>
              </a:lnSpc>
              <a:spcBef>
                <a:spcPts val="0"/>
              </a:spcBef>
              <a:spcAft>
                <a:spcPts val="0"/>
              </a:spcAft>
              <a:buFont typeface="+mj-lt"/>
              <a:buAutoNum type="arabicPeriod"/>
            </a:pP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Τα νευρωνικά δίκτυα έχουν υψηλή απόδοση στην αναγνώριση πολύπλοκων δεδομένων. Ειδικότερα τα συνελικτικά νευρωνικά δίκτυα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CNNs</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 έχουν ιδιαίτερα καλή απόδοση στον εντοπισμό και την αναγνώριση πολύπλοκων μοτίβων.</a:t>
            </a:r>
          </a:p>
          <a:p>
            <a:pPr marL="342900" marR="0" lvl="0" indent="-342900" algn="just">
              <a:lnSpc>
                <a:spcPct val="107000"/>
              </a:lnSpc>
              <a:spcBef>
                <a:spcPts val="0"/>
              </a:spcBef>
              <a:spcAft>
                <a:spcPts val="0"/>
              </a:spcAft>
              <a:buFont typeface="+mj-lt"/>
              <a:buAutoNum type="arabicPeriod"/>
            </a:pP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Τα συνελικτικά νευρωνικά δίκτυα έχουν ιδιαίτερα μεγάλη ικανότητα να αναγνωρίζουν αυτόματα ποια χαρακτηριστικά είναι σημαντικότερα στις εικόνες που δίνονται ως δεδομένα. </a:t>
            </a:r>
          </a:p>
          <a:p>
            <a:pPr marL="342900" marR="0" lvl="0" indent="-342900" algn="just" defTabSz="914400" rtl="0" eaLnBrk="1" fontAlgn="auto" latinLnBrk="0" hangingPunct="1">
              <a:lnSpc>
                <a:spcPct val="107000"/>
              </a:lnSpc>
              <a:spcBef>
                <a:spcPts val="0"/>
              </a:spcBef>
              <a:spcAft>
                <a:spcPts val="0"/>
              </a:spcAft>
              <a:buClrTx/>
              <a:buSzTx/>
              <a:buFont typeface="+mj-lt"/>
              <a:buAutoNum type="arabicPeriod"/>
              <a:tabLst/>
              <a:defRPr/>
            </a:pP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Προσφέρουν ευελιξία στην επιλογή αρχιτεκτονικής, παραμέτρων για την βελτίωση της απόδοσης του ώστε να ταιριάζει στις απαιτήσεις το κάθε προβλήματος που μπορεί να εφαρμοστεί.</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Μετά από αρκετές δοκιμές και έρευνα αποφάσισα να εφαρμόσω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Batch Normalization </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και να προσθέσω 2</a:t>
            </a:r>
            <a:r>
              <a:rPr lang="el-GR" sz="1800" kern="100" baseline="30000" dirty="0">
                <a:effectLst/>
                <a:latin typeface="Calibri" panose="020F0502020204030204" pitchFamily="34" charset="0"/>
                <a:ea typeface="Calibri" panose="020F0502020204030204" pitchFamily="34" charset="0"/>
                <a:cs typeface="Times New Roman" panose="02020603050405020304" pitchFamily="18" charset="0"/>
              </a:rPr>
              <a:t>ο</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 συνελικτικό επίπεδο και 2</a:t>
            </a:r>
            <a:r>
              <a:rPr lang="el-GR" sz="1800" kern="100" baseline="30000" dirty="0">
                <a:effectLst/>
                <a:latin typeface="Calibri" panose="020F0502020204030204" pitchFamily="34" charset="0"/>
                <a:ea typeface="Calibri" panose="020F0502020204030204" pitchFamily="34" charset="0"/>
                <a:cs typeface="Times New Roman" panose="02020603050405020304" pitchFamily="18" charset="0"/>
              </a:rPr>
              <a:t>ο</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fully connected </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επίπεδο.</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Γενικά:</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Convolutional Layers</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 Αυτά τα επίπεδα είναι υπεύθυνα για τον εντοπισμό και την εξαγωγή των σημαντικών χαρακτηριστικών από τις εικόνας μέσω συνέλιξης.</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Batch Normalization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Τα επίπεδα αυτά βοηθούν στην σταθεροποίηση της εκπαίδευσης. Γίνεται εξισορρόπηση της διακύμανσης των εξόδων των </a:t>
            </a:r>
            <a:r>
              <a:rPr lang="el-GR" sz="1800" kern="100" dirty="0" err="1">
                <a:effectLst/>
                <a:latin typeface="Calibri" panose="020F0502020204030204" pitchFamily="34" charset="0"/>
                <a:ea typeface="Calibri" panose="020F0502020204030204" pitchFamily="34" charset="0"/>
                <a:cs typeface="Times New Roman" panose="02020603050405020304" pitchFamily="18" charset="0"/>
              </a:rPr>
              <a:t>συνελικτικών</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 επιπέδων.</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Max Pooling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kern="100" dirty="0">
                <a:effectLst/>
                <a:latin typeface="Calibri" panose="020F0502020204030204" pitchFamily="34" charset="0"/>
                <a:ea typeface="Calibri" panose="020F0502020204030204" pitchFamily="34" charset="0"/>
                <a:cs typeface="Times New Roman" panose="02020603050405020304" pitchFamily="18" charset="0"/>
              </a:rPr>
              <a:t>Γίνεται μείωση του μεγέθους των εικόνων κρατώντας την μέγιστη τιμή του παραθύρου.</a:t>
            </a:r>
          </a:p>
          <a:p>
            <a:pPr marL="0" marR="0" lvl="0" indent="0" algn="just">
              <a:lnSpc>
                <a:spcPct val="107000"/>
              </a:lnSpc>
              <a:spcBef>
                <a:spcPts val="0"/>
              </a:spcBef>
              <a:spcAft>
                <a:spcPts val="0"/>
              </a:spcAft>
              <a:buFont typeface="+mj-l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Font typeface="+mj-l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Fully Connected Layers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b="0" i="0" kern="100" dirty="0">
                <a:solidFill>
                  <a:srgbClr val="D1D5DB"/>
                </a:solidFill>
                <a:effectLst/>
                <a:latin typeface="Söhne"/>
                <a:ea typeface="Calibri" panose="020F0502020204030204" pitchFamily="34" charset="0"/>
                <a:cs typeface="Times New Roman" panose="02020603050405020304" pitchFamily="18" charset="0"/>
              </a:rPr>
              <a:t> </a:t>
            </a:r>
            <a:r>
              <a:rPr lang="el-GR" sz="1800" b="0" i="0" kern="100" dirty="0">
                <a:solidFill>
                  <a:srgbClr val="D1D5DB"/>
                </a:solidFill>
                <a:effectLst/>
                <a:latin typeface="Söhne"/>
                <a:ea typeface="Calibri" panose="020F0502020204030204" pitchFamily="34" charset="0"/>
                <a:cs typeface="Times New Roman" panose="02020603050405020304" pitchFamily="18" charset="0"/>
              </a:rPr>
              <a:t>Χ</a:t>
            </a:r>
            <a:r>
              <a:rPr lang="el-GR" b="0" i="0" dirty="0">
                <a:solidFill>
                  <a:srgbClr val="D1D5DB"/>
                </a:solidFill>
                <a:effectLst/>
                <a:latin typeface="Söhne"/>
              </a:rPr>
              <a:t>ρησιμοποιούνται για την τελική ταξινόμηση</a:t>
            </a:r>
            <a:r>
              <a:rPr lang="en-US" b="0" i="0" dirty="0">
                <a:solidFill>
                  <a:srgbClr val="D1D5DB"/>
                </a:solidFill>
                <a:effectLst/>
                <a:latin typeface="Söhne"/>
              </a:rPr>
              <a:t>.</a:t>
            </a:r>
            <a:endParaRPr lang="el-GR" b="0" i="0" dirty="0">
              <a:solidFill>
                <a:srgbClr val="D1D5DB"/>
              </a:solidFill>
              <a:effectLst/>
              <a:latin typeface="Söhne"/>
            </a:endParaRPr>
          </a:p>
          <a:p>
            <a:pPr marL="0" marR="0" lvl="0" indent="0" algn="just">
              <a:lnSpc>
                <a:spcPct val="107000"/>
              </a:lnSpc>
              <a:spcBef>
                <a:spcPts val="0"/>
              </a:spcBef>
              <a:spcAft>
                <a:spcPts val="0"/>
              </a:spcAft>
              <a:buFont typeface="+mj-lt"/>
              <a:buNone/>
            </a:pPr>
            <a:endParaRPr lang="el-GR" b="0" i="0" dirty="0">
              <a:solidFill>
                <a:srgbClr val="D1D5DB"/>
              </a:solidFill>
              <a:effectLst/>
              <a:latin typeface="Söhne"/>
            </a:endParaRPr>
          </a:p>
          <a:p>
            <a:pPr marL="0" marR="0" lvl="0" indent="0" algn="just">
              <a:lnSpc>
                <a:spcPct val="107000"/>
              </a:lnSpc>
              <a:spcBef>
                <a:spcPts val="0"/>
              </a:spcBef>
              <a:spcAft>
                <a:spcPts val="0"/>
              </a:spcAft>
              <a:buFont typeface="+mj-lt"/>
              <a:buNone/>
            </a:pPr>
            <a:r>
              <a:rPr lang="el-GR" b="0" i="0" dirty="0">
                <a:solidFill>
                  <a:srgbClr val="D1D5DB"/>
                </a:solidFill>
                <a:effectLst/>
                <a:latin typeface="Söhne"/>
              </a:rPr>
              <a:t>Σημαντικό ρόλο στην σταθερότητα και την βελτίωση της γενίκευσης του μοντέλου έπαιξε η επαύξηση των δεδομένων (</a:t>
            </a:r>
            <a:r>
              <a:rPr lang="en-US" b="0" i="0" dirty="0">
                <a:solidFill>
                  <a:srgbClr val="D1D5DB"/>
                </a:solidFill>
                <a:effectLst/>
                <a:latin typeface="Söhne"/>
              </a:rPr>
              <a:t>Data </a:t>
            </a:r>
            <a:r>
              <a:rPr lang="en-US" b="0" i="0" dirty="0" err="1">
                <a:solidFill>
                  <a:srgbClr val="D1D5DB"/>
                </a:solidFill>
                <a:effectLst/>
                <a:latin typeface="Söhne"/>
              </a:rPr>
              <a:t>Augmantation</a:t>
            </a:r>
            <a:r>
              <a:rPr lang="en-US" b="0" i="0" dirty="0">
                <a:solidFill>
                  <a:srgbClr val="D1D5DB"/>
                </a:solidFill>
                <a:effectLst/>
                <a:latin typeface="Söhne"/>
              </a:rPr>
              <a:t>)</a:t>
            </a:r>
            <a:endParaRPr lang="el-GR" dirty="0"/>
          </a:p>
        </p:txBody>
      </p:sp>
      <p:sp>
        <p:nvSpPr>
          <p:cNvPr id="4" name="Θέση αριθμού διαφάνειας 3"/>
          <p:cNvSpPr>
            <a:spLocks noGrp="1"/>
          </p:cNvSpPr>
          <p:nvPr>
            <p:ph type="sldNum" sz="quarter" idx="5"/>
          </p:nvPr>
        </p:nvSpPr>
        <p:spPr/>
        <p:txBody>
          <a:bodyPr/>
          <a:lstStyle/>
          <a:p>
            <a:fld id="{1817BB04-1D74-41DB-B0D4-E71743518F39}" type="slidenum">
              <a:rPr lang="el-GR" smtClean="0"/>
              <a:t>2</a:t>
            </a:fld>
            <a:endParaRPr lang="el-GR"/>
          </a:p>
        </p:txBody>
      </p:sp>
    </p:spTree>
    <p:extLst>
      <p:ext uri="{BB962C8B-B14F-4D97-AF65-F5344CB8AC3E}">
        <p14:creationId xmlns:p14="http://schemas.microsoft.com/office/powerpoint/2010/main" val="2139492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Η συγκεκριμένη υλοποίηση έγινε για να ελεγχθεί πόσο αποδοτικά μπορεί να λειτουργήσει ένα ήδη προ-εκπαιδευμένο μοντέλο σε ένα νέο για το ίδιο πρόβλημα.</a:t>
            </a:r>
          </a:p>
          <a:p>
            <a:endParaRPr lang="el-GR" dirty="0"/>
          </a:p>
          <a:p>
            <a:r>
              <a:rPr lang="el-GR" dirty="0"/>
              <a:t>Το γεγονός ότι έχει τόσο καλή επίδοση αποδεικνύει ότι το συγκεκριμένο πρόβλημα δεν χρειαζόταν μεγάλη προσπάθεια από εμάς και στον πραγματικό κόσμο, το πρώτο πράγμα που θα έπρεπε να δοκιμάσουμε είναι ένα έτοιμο δίκτυο εκπαιδεύοντας το ελάχιστα στα νέα δεδομένα.</a:t>
            </a:r>
          </a:p>
          <a:p>
            <a:endParaRPr lang="el-GR" dirty="0"/>
          </a:p>
          <a:p>
            <a:r>
              <a:rPr lang="el-GR" dirty="0"/>
              <a:t>Έτσι στο τέλος με ελάχιστη προσπάθεια μπορούμε να έχουμε ένα πολύ αποδοτικό σύστημα ταξινόμησης.</a:t>
            </a:r>
          </a:p>
        </p:txBody>
      </p:sp>
      <p:sp>
        <p:nvSpPr>
          <p:cNvPr id="4" name="Θέση αριθμού διαφάνειας 3"/>
          <p:cNvSpPr>
            <a:spLocks noGrp="1"/>
          </p:cNvSpPr>
          <p:nvPr>
            <p:ph type="sldNum" sz="quarter" idx="5"/>
          </p:nvPr>
        </p:nvSpPr>
        <p:spPr/>
        <p:txBody>
          <a:bodyPr/>
          <a:lstStyle/>
          <a:p>
            <a:fld id="{1817BB04-1D74-41DB-B0D4-E71743518F39}" type="slidenum">
              <a:rPr lang="el-GR" smtClean="0"/>
              <a:t>3</a:t>
            </a:fld>
            <a:endParaRPr lang="el-GR"/>
          </a:p>
        </p:txBody>
      </p:sp>
    </p:spTree>
    <p:extLst>
      <p:ext uri="{BB962C8B-B14F-4D97-AF65-F5344CB8AC3E}">
        <p14:creationId xmlns:p14="http://schemas.microsoft.com/office/powerpoint/2010/main" val="3138258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Εφαρμόζοντας τα προβληματικά δεδομένα στο μοντέλο, χωρίς καμία βελτίωση ή αλλαγή στο μοντέλο, βλέπουμε ότι η απόδοση του συστήματος είναι αρκετά κακή, αλλά και το 20% ήταν αρκετά καλύτερο από το αναμενόμενο. Ίσως σε αυτό να έπαιξε ρόλο η επαύξηση που εφαρμόστηκε στα δεδομένα εκπαίδευσης, τα οποία έκαναν πιο σταθερό το μοντέλο απέναντι σε προβληματικά δεδομένα. Πιθανόν να βοήθησαν το μοντέλο να εστιάσει εν μέρει σε κάποια πραγματικά σημαντικά δεδομένα.</a:t>
            </a:r>
          </a:p>
          <a:p>
            <a:endParaRPr lang="el-GR" dirty="0"/>
          </a:p>
          <a:p>
            <a:r>
              <a:rPr lang="el-GR" dirty="0"/>
              <a:t>Αποφασίστηκε να γίνει η βελτίωση σε 3 στάδια: Μόνο για τα προβληματικά δεδομένα, Για όλα τα δεδομένα που θέλουμε να ταξινομηθούν ως «Χωρίς μάσκα» και τέλος για όλα τα δεδομένα.</a:t>
            </a:r>
          </a:p>
          <a:p>
            <a:endParaRPr lang="el-GR" dirty="0"/>
          </a:p>
          <a:p>
            <a:pPr marL="228600" indent="-228600">
              <a:buAutoNum type="arabicPeriod"/>
            </a:pPr>
            <a:r>
              <a:rPr lang="el-GR" dirty="0"/>
              <a:t>Για το πρώτο στάδιο οι βελτιώσεις που αυξάνουν σημαντικά την επίδοση είναι να γίνουν μερικές τυχαίες τροποποιήσεις στα δεδομένα πριν εισαχθούν στο μοντέλο οι οποίες είναι:</a:t>
            </a:r>
          </a:p>
          <a:p>
            <a:pPr marL="685800" lvl="1" indent="-228600">
              <a:buAutoNum type="arabicPeriod"/>
            </a:pPr>
            <a:r>
              <a:rPr lang="el-GR" dirty="0"/>
              <a:t>Περιστροφή έως και 90 μοίρες.</a:t>
            </a:r>
          </a:p>
          <a:p>
            <a:pPr marL="685800" lvl="1" indent="-228600">
              <a:buAutoNum type="arabicPeriod"/>
            </a:pPr>
            <a:r>
              <a:rPr lang="el-GR" dirty="0"/>
              <a:t>Αυξομείωση της φωτεινότητας έως και 50%.</a:t>
            </a:r>
          </a:p>
          <a:p>
            <a:pPr marL="685800" lvl="1" indent="-228600">
              <a:buAutoNum type="arabicPeriod"/>
            </a:pPr>
            <a:r>
              <a:rPr lang="el-GR" dirty="0"/>
              <a:t>Αυξομείωση της αντίθεσης έως και 50%.</a:t>
            </a:r>
          </a:p>
          <a:p>
            <a:pPr marL="0" lvl="0" indent="0">
              <a:buNone/>
            </a:pPr>
            <a:endParaRPr lang="el-GR" dirty="0"/>
          </a:p>
          <a:p>
            <a:pPr marL="0" lvl="0" indent="0">
              <a:buNone/>
            </a:pPr>
            <a:r>
              <a:rPr lang="el-GR" dirty="0"/>
              <a:t>     Ταυτόχρονα μετακινήθηκε το κατώφλι έως την τιμή 0.95 (95%). Στην ουσία ορίσαμε το σύστημα να ταξινομεί μία εικόνα ως </a:t>
            </a:r>
            <a:r>
              <a:rPr lang="en-US" dirty="0" err="1"/>
              <a:t>with_mask</a:t>
            </a:r>
            <a:r>
              <a:rPr lang="en-US" dirty="0"/>
              <a:t> </a:t>
            </a:r>
            <a:r>
              <a:rPr lang="el-GR" dirty="0"/>
              <a:t>μόνο αν είναι πολύ σίγουρο για αυτή την επιλογή.</a:t>
            </a:r>
          </a:p>
          <a:p>
            <a:pPr marL="0" lvl="0" indent="0">
              <a:buNone/>
            </a:pPr>
            <a:endParaRPr lang="el-GR" dirty="0"/>
          </a:p>
          <a:p>
            <a:pPr marL="228600" lvl="0" indent="-228600">
              <a:buFont typeface="+mj-lt"/>
              <a:buAutoNum type="arabicPeriod" startAt="2"/>
            </a:pPr>
            <a:r>
              <a:rPr lang="el-GR" dirty="0"/>
              <a:t>Για το δεύτερο στάδιο αποδείχθηκε ότι οι αλλαγές του πρώτου δημιουργούν προβλήματα στα πραγματικά δεδομένα χωρίς μάσκα χειροτερεύοντας κατά μέσο όρο την απόδοση του μοντέλου. Αυτό που φάνηκε να βελτιώνει την επίδοση κατά μέσο όρο την επίδοση του συστήματος είναι αν εφαρμόσουμε </a:t>
            </a:r>
            <a:r>
              <a:rPr lang="el-GR" dirty="0" err="1"/>
              <a:t>τροποποίησεις</a:t>
            </a:r>
            <a:r>
              <a:rPr lang="el-GR" dirty="0"/>
              <a:t>, αλλά όχι τόσο ακραίες:</a:t>
            </a:r>
          </a:p>
          <a:p>
            <a:pPr marL="685800" lvl="1" indent="-228600">
              <a:buAutoNum type="arabicPeriod"/>
            </a:pPr>
            <a:r>
              <a:rPr lang="el-GR" dirty="0"/>
              <a:t>Περιστροφή έως και 10 μοίρες.</a:t>
            </a:r>
          </a:p>
          <a:p>
            <a:pPr marL="685800" lvl="1" indent="-228600">
              <a:buAutoNum type="arabicPeriod"/>
            </a:pPr>
            <a:r>
              <a:rPr lang="el-GR" dirty="0"/>
              <a:t>Αυξομείωση της φωτεινότητας έως και 20%.</a:t>
            </a:r>
          </a:p>
          <a:p>
            <a:pPr marL="685800" lvl="1" indent="-228600">
              <a:buAutoNum type="arabicPeriod"/>
            </a:pPr>
            <a:r>
              <a:rPr lang="el-GR" dirty="0"/>
              <a:t>Αυξομείωση της αντίθεσης έως και 20%.</a:t>
            </a:r>
          </a:p>
          <a:p>
            <a:pPr marL="0" lvl="0" indent="0">
              <a:buNone/>
            </a:pPr>
            <a:r>
              <a:rPr lang="en-US" dirty="0"/>
              <a:t>    </a:t>
            </a:r>
            <a:r>
              <a:rPr lang="el-GR" dirty="0"/>
              <a:t>Το κατώφλι παρέμεινε στο 95%, γιατί δεν θέλαμε να ρισκάρουμε να καταστρέψουμε την δυνατότητα ταξινόμησης του συστήματος για την κλάση </a:t>
            </a:r>
            <a:r>
              <a:rPr lang="en-US" dirty="0" err="1"/>
              <a:t>with_mask</a:t>
            </a:r>
            <a:r>
              <a:rPr lang="en-US" dirty="0"/>
              <a:t>.</a:t>
            </a:r>
          </a:p>
          <a:p>
            <a:pPr marL="228600" lvl="0" indent="-228600">
              <a:buFont typeface="+mj-lt"/>
              <a:buAutoNum type="arabicPeriod" startAt="3"/>
            </a:pPr>
            <a:r>
              <a:rPr lang="el-GR" dirty="0"/>
              <a:t>Εν τέλει όταν εφαρμόζουμε όλα τα δεδομένα στο σύστημα και μετά από αρκετές δοκιμές αποδείχθηκε ότι οποιαδήποτε τροποποίηση κάνει μεγάλη ζημιά στο σύστημα. Αυτό όμως που φάνηκε είναι ότι αν μετακινήσουμε το κατώφλι από το 95% στο 99.998% το σύστημα χάνει ελάχιστα σε επίδοση (περίπου 0.5%) αλλά αρχίζει να εφαρμόζει ταξινόμηση με παρόμοιο σφάλμα και για τις δύο κατηγορίες.</a:t>
            </a:r>
          </a:p>
        </p:txBody>
      </p:sp>
      <p:sp>
        <p:nvSpPr>
          <p:cNvPr id="4" name="Θέση αριθμού διαφάνειας 3"/>
          <p:cNvSpPr>
            <a:spLocks noGrp="1"/>
          </p:cNvSpPr>
          <p:nvPr>
            <p:ph type="sldNum" sz="quarter" idx="5"/>
          </p:nvPr>
        </p:nvSpPr>
        <p:spPr/>
        <p:txBody>
          <a:bodyPr/>
          <a:lstStyle/>
          <a:p>
            <a:fld id="{1817BB04-1D74-41DB-B0D4-E71743518F39}" type="slidenum">
              <a:rPr lang="el-GR" smtClean="0"/>
              <a:t>4</a:t>
            </a:fld>
            <a:endParaRPr lang="el-GR"/>
          </a:p>
        </p:txBody>
      </p:sp>
    </p:spTree>
    <p:extLst>
      <p:ext uri="{BB962C8B-B14F-4D97-AF65-F5344CB8AC3E}">
        <p14:creationId xmlns:p14="http://schemas.microsoft.com/office/powerpoint/2010/main" val="2608333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Εδώ τα δεδομένα που μας δόθηκαν είχαν ένα σημαντικό πρόβλημα </a:t>
            </a:r>
            <a:r>
              <a:rPr lang="el-GR" dirty="0">
                <a:sym typeface="Wingdings" panose="05000000000000000000" pitchFamily="2" charset="2"/>
              </a:rPr>
              <a:t> Διαστάσεις (3474)</a:t>
            </a:r>
          </a:p>
          <a:p>
            <a:endParaRPr lang="el-GR" dirty="0">
              <a:sym typeface="Wingdings" panose="05000000000000000000" pitchFamily="2" charset="2"/>
            </a:endParaRPr>
          </a:p>
          <a:p>
            <a:r>
              <a:rPr lang="el-GR" dirty="0">
                <a:sym typeface="Wingdings" panose="05000000000000000000" pitchFamily="2" charset="2"/>
              </a:rPr>
              <a:t>Εφαρμόστηκε κανονικοποίηση στα δεδομένα για να μπορούμε να βρούμε ποια έχουν όντως μεγαλύτερη σημασία στην διάκριση των ίδιων κλάσεων (Οι διαφορετικές κλίμακες μπορεί να μην μας το επέτρεπαν αυτό)</a:t>
            </a:r>
          </a:p>
          <a:p>
            <a:endParaRPr lang="el-GR" dirty="0">
              <a:sym typeface="Wingdings" panose="05000000000000000000" pitchFamily="2" charset="2"/>
            </a:endParaRPr>
          </a:p>
          <a:p>
            <a:r>
              <a:rPr lang="el-GR" dirty="0">
                <a:sym typeface="Wingdings" panose="05000000000000000000" pitchFamily="2" charset="2"/>
              </a:rPr>
              <a:t>Στην συνέχεια εφαρμόστηκε η μέθοδος ανάλυσης σε κύριες συνιστώσες (</a:t>
            </a:r>
            <a:r>
              <a:rPr lang="en-US" dirty="0">
                <a:sym typeface="Wingdings" panose="05000000000000000000" pitchFamily="2" charset="2"/>
              </a:rPr>
              <a:t>PCA) </a:t>
            </a:r>
            <a:r>
              <a:rPr lang="el-GR" dirty="0">
                <a:sym typeface="Wingdings" panose="05000000000000000000" pitchFamily="2" charset="2"/>
              </a:rPr>
              <a:t>και παρατηρώντας τα αποτελέσματα αποφάσισα να κρατήσω τις πρώτες 426 κύριες συνιστώσες, οι οποίες εξηγούν το 99.5% της αρχικής διασποράς μειώνοντας τις διαστάσεις των δεδομένων κατά 88% (σχεδόν).</a:t>
            </a:r>
          </a:p>
          <a:p>
            <a:endParaRPr lang="el-GR" dirty="0">
              <a:sym typeface="Wingdings" panose="05000000000000000000" pitchFamily="2" charset="2"/>
            </a:endParaRPr>
          </a:p>
          <a:p>
            <a:r>
              <a:rPr lang="el-GR" dirty="0">
                <a:sym typeface="Wingdings" panose="05000000000000000000" pitchFamily="2" charset="2"/>
              </a:rPr>
              <a:t>Τέλος στα δεδομένα που βρίσκονταν στο νέο χώρο εφαρμόστηκε η μέθοδος </a:t>
            </a:r>
            <a:r>
              <a:rPr lang="en-US" dirty="0">
                <a:sym typeface="Wingdings" panose="05000000000000000000" pitchFamily="2" charset="2"/>
              </a:rPr>
              <a:t>LDA </a:t>
            </a:r>
            <a:r>
              <a:rPr lang="el-GR" dirty="0">
                <a:sym typeface="Wingdings" panose="05000000000000000000" pitchFamily="2" charset="2"/>
              </a:rPr>
              <a:t>μεταφέροντας τα δεδομένα σε έναν χώρο 1 διάστασης, προσπαθώντας να επιβάλει την συσπείρωση των δεδομένων της ίδιας κλάσης και την απομάκρυνση των διαφορετικών κλάσεων μεταξύ τους.</a:t>
            </a:r>
          </a:p>
          <a:p>
            <a:endParaRPr lang="el-GR" dirty="0">
              <a:sym typeface="Wingdings" panose="05000000000000000000" pitchFamily="2" charset="2"/>
            </a:endParaRPr>
          </a:p>
          <a:p>
            <a:r>
              <a:rPr lang="el-GR" dirty="0">
                <a:sym typeface="Wingdings" panose="05000000000000000000" pitchFamily="2" charset="2"/>
              </a:rPr>
              <a:t>Ο κύριος λόγος που εφαρμόστηκε η </a:t>
            </a:r>
            <a:r>
              <a:rPr lang="en-US" dirty="0">
                <a:sym typeface="Wingdings" panose="05000000000000000000" pitchFamily="2" charset="2"/>
              </a:rPr>
              <a:t>PCA </a:t>
            </a:r>
            <a:r>
              <a:rPr lang="el-GR" dirty="0">
                <a:sym typeface="Wingdings" panose="05000000000000000000" pitchFamily="2" charset="2"/>
              </a:rPr>
              <a:t>και στην συνέχει η </a:t>
            </a:r>
            <a:r>
              <a:rPr lang="en-US" dirty="0">
                <a:sym typeface="Wingdings" panose="05000000000000000000" pitchFamily="2" charset="2"/>
              </a:rPr>
              <a:t>LDA </a:t>
            </a:r>
            <a:r>
              <a:rPr lang="el-GR" dirty="0">
                <a:sym typeface="Wingdings" panose="05000000000000000000" pitchFamily="2" charset="2"/>
              </a:rPr>
              <a:t>είναι γιατί αν εφαρμοστεί η </a:t>
            </a:r>
            <a:r>
              <a:rPr lang="en-US" dirty="0">
                <a:sym typeface="Wingdings" panose="05000000000000000000" pitchFamily="2" charset="2"/>
              </a:rPr>
              <a:t>LDA </a:t>
            </a:r>
            <a:r>
              <a:rPr lang="el-GR" dirty="0">
                <a:sym typeface="Wingdings" panose="05000000000000000000" pitchFamily="2" charset="2"/>
              </a:rPr>
              <a:t>για να μειώσει τις διαστάσεις του προβλήματος από έναν πολύ μεγάλο χώρο σε έναν πάρα πολύ μικρό, ειδικά εδώ που είναι 1 (καθώς έχουμε 2 κλάσεις), τείνει να οδηγεί σε υπερπροσαρμογή το μοντέλο που θα εκπαιδευτεί.</a:t>
            </a:r>
          </a:p>
          <a:p>
            <a:endParaRPr lang="el-GR" dirty="0">
              <a:sym typeface="Wingdings" panose="05000000000000000000" pitchFamily="2" charset="2"/>
            </a:endParaRPr>
          </a:p>
          <a:p>
            <a:r>
              <a:rPr lang="el-GR" dirty="0">
                <a:sym typeface="Wingdings" panose="05000000000000000000" pitchFamily="2" charset="2"/>
              </a:rPr>
              <a:t>Για την εύρεση των κατάλληλων παραμέτρων αυτή την φορά, εφαρμόστηκε </a:t>
            </a:r>
            <a:r>
              <a:rPr lang="en-US" dirty="0">
                <a:sym typeface="Wingdings" panose="05000000000000000000" pitchFamily="2" charset="2"/>
              </a:rPr>
              <a:t>Bayesian </a:t>
            </a:r>
            <a:r>
              <a:rPr lang="el-GR" dirty="0">
                <a:sym typeface="Wingdings" panose="05000000000000000000" pitchFamily="2" charset="2"/>
              </a:rPr>
              <a:t>αναζήτηση για να γλυτώσω χρόνο από χειροκίνητες δοκιμές και οδηγήθηκα στο μοντέλο που φαίνεται αριστερά.</a:t>
            </a:r>
          </a:p>
          <a:p>
            <a:endParaRPr lang="el-GR" dirty="0">
              <a:sym typeface="Wingdings" panose="05000000000000000000" pitchFamily="2" charset="2"/>
            </a:endParaRPr>
          </a:p>
          <a:p>
            <a:r>
              <a:rPr lang="el-GR" dirty="0">
                <a:sym typeface="Wingdings" panose="05000000000000000000" pitchFamily="2" charset="2"/>
              </a:rPr>
              <a:t>Στην συνέχεια αποφάσισα να δοκιμάσω και μία πιο συμβατική μέθοδο ταξινόμησης. Οπότε αποφάσισα να εκπαιδεύσω στα δεδομένα εκπαίδευσης έναν γραμμικό </a:t>
            </a:r>
            <a:r>
              <a:rPr lang="en-US" dirty="0">
                <a:sym typeface="Wingdings" panose="05000000000000000000" pitchFamily="2" charset="2"/>
              </a:rPr>
              <a:t>SVM, </a:t>
            </a:r>
            <a:r>
              <a:rPr lang="el-GR" dirty="0">
                <a:sym typeface="Wingdings" panose="05000000000000000000" pitchFamily="2" charset="2"/>
              </a:rPr>
              <a:t>του οποίου τα ιδανικά χαρακτηριστικά τα βρήκα εφαρμόζοντας </a:t>
            </a:r>
            <a:r>
              <a:rPr lang="en-US" dirty="0" err="1">
                <a:sym typeface="Wingdings" panose="05000000000000000000" pitchFamily="2" charset="2"/>
              </a:rPr>
              <a:t>GridSearch</a:t>
            </a:r>
            <a:r>
              <a:rPr lang="en-US" dirty="0">
                <a:sym typeface="Wingdings" panose="05000000000000000000" pitchFamily="2" charset="2"/>
              </a:rPr>
              <a:t>. </a:t>
            </a:r>
            <a:r>
              <a:rPr lang="el-GR" dirty="0">
                <a:sym typeface="Wingdings" panose="05000000000000000000" pitchFamily="2" charset="2"/>
              </a:rPr>
              <a:t>Από τους καλύτερους </a:t>
            </a:r>
            <a:r>
              <a:rPr lang="en-US" dirty="0">
                <a:sym typeface="Wingdings" panose="05000000000000000000" pitchFamily="2" charset="2"/>
              </a:rPr>
              <a:t>SVM </a:t>
            </a:r>
            <a:r>
              <a:rPr lang="el-GR" dirty="0">
                <a:sym typeface="Wingdings" panose="05000000000000000000" pitchFamily="2" charset="2"/>
              </a:rPr>
              <a:t>που λειτούργησαν καλύτερα προτίμησα τον γραμμικό καθώς θα </a:t>
            </a:r>
            <a:r>
              <a:rPr lang="el-GR" dirty="0" err="1">
                <a:sym typeface="Wingdings" panose="05000000000000000000" pitchFamily="2" charset="2"/>
              </a:rPr>
              <a:t>προτιμούταν</a:t>
            </a:r>
            <a:r>
              <a:rPr lang="el-GR" dirty="0">
                <a:sym typeface="Wingdings" panose="05000000000000000000" pitchFamily="2" charset="2"/>
              </a:rPr>
              <a:t> και στον πραγματικό κόσμο, όντας υπολογιστικά φθηνότερος.</a:t>
            </a:r>
            <a:endParaRPr lang="el-GR" dirty="0"/>
          </a:p>
        </p:txBody>
      </p:sp>
      <p:sp>
        <p:nvSpPr>
          <p:cNvPr id="4" name="Θέση αριθμού διαφάνειας 3"/>
          <p:cNvSpPr>
            <a:spLocks noGrp="1"/>
          </p:cNvSpPr>
          <p:nvPr>
            <p:ph type="sldNum" sz="quarter" idx="5"/>
          </p:nvPr>
        </p:nvSpPr>
        <p:spPr/>
        <p:txBody>
          <a:bodyPr/>
          <a:lstStyle/>
          <a:p>
            <a:fld id="{1817BB04-1D74-41DB-B0D4-E71743518F39}" type="slidenum">
              <a:rPr lang="el-GR" smtClean="0"/>
              <a:t>5</a:t>
            </a:fld>
            <a:endParaRPr lang="el-GR"/>
          </a:p>
        </p:txBody>
      </p:sp>
    </p:spTree>
    <p:extLst>
      <p:ext uri="{BB962C8B-B14F-4D97-AF65-F5344CB8AC3E}">
        <p14:creationId xmlns:p14="http://schemas.microsoft.com/office/powerpoint/2010/main" val="463769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Μετά από αρκετές εκτελέσεις παρατηρήθηκε ότι τα αποτελέσματα και των δύο μοντέλων ήταν πιο σταθερά ανάμεσα σε καλές τιμές ακρίβειας όταν τα δύο μοντέλα συνδυάζονται και επιλέγεται η απόφαση του πιο σίγουρου μοντέλου κάθε φορά.</a:t>
            </a:r>
          </a:p>
        </p:txBody>
      </p:sp>
      <p:sp>
        <p:nvSpPr>
          <p:cNvPr id="4" name="Θέση αριθμού διαφάνειας 3"/>
          <p:cNvSpPr>
            <a:spLocks noGrp="1"/>
          </p:cNvSpPr>
          <p:nvPr>
            <p:ph type="sldNum" sz="quarter" idx="5"/>
          </p:nvPr>
        </p:nvSpPr>
        <p:spPr/>
        <p:txBody>
          <a:bodyPr/>
          <a:lstStyle/>
          <a:p>
            <a:fld id="{1817BB04-1D74-41DB-B0D4-E71743518F39}" type="slidenum">
              <a:rPr lang="el-GR" smtClean="0"/>
              <a:t>6</a:t>
            </a:fld>
            <a:endParaRPr lang="el-GR"/>
          </a:p>
        </p:txBody>
      </p:sp>
    </p:spTree>
    <p:extLst>
      <p:ext uri="{BB962C8B-B14F-4D97-AF65-F5344CB8AC3E}">
        <p14:creationId xmlns:p14="http://schemas.microsoft.com/office/powerpoint/2010/main" val="609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38653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720456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21-Jan-24</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6629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338830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95951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767177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783101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657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7374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68582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21-Jan-24</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411021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21-Jan-24</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2739469773"/>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0"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2.jpg"/><Relationship Id="rId3" Type="http://schemas.openxmlformats.org/officeDocument/2006/relationships/image" Target="../media/image3.jpg"/><Relationship Id="rId7" Type="http://schemas.openxmlformats.org/officeDocument/2006/relationships/image" Target="../media/image7.jpg"/><Relationship Id="rId12"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6.emf"/><Relationship Id="rId11" Type="http://schemas.openxmlformats.org/officeDocument/2006/relationships/image" Target="../media/image10.emf"/><Relationship Id="rId5" Type="http://schemas.openxmlformats.org/officeDocument/2006/relationships/image" Target="../media/image5.emf"/><Relationship Id="rId15" Type="http://schemas.openxmlformats.org/officeDocument/2006/relationships/image" Target="../media/image14.jpg"/><Relationship Id="rId10" Type="http://schemas.microsoft.com/office/2007/relationships/hdphoto" Target="../media/hdphoto1.wdp"/><Relationship Id="rId4" Type="http://schemas.openxmlformats.org/officeDocument/2006/relationships/image" Target="../media/image4.jpg"/><Relationship Id="rId9" Type="http://schemas.openxmlformats.org/officeDocument/2006/relationships/image" Target="../media/image9.png"/><Relationship Id="rId14" Type="http://schemas.openxmlformats.org/officeDocument/2006/relationships/image" Target="../media/image13.jpg"/></Relationships>
</file>

<file path=ppt/slides/_rels/slide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5.png"/><Relationship Id="rId7" Type="http://schemas.openxmlformats.org/officeDocument/2006/relationships/image" Target="../media/image16.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image" Target="../media/image20.jpg"/><Relationship Id="rId5" Type="http://schemas.openxmlformats.org/officeDocument/2006/relationships/image" Target="../media/image9.png"/><Relationship Id="rId10" Type="http://schemas.openxmlformats.org/officeDocument/2006/relationships/image" Target="../media/image19.jpg"/><Relationship Id="rId4" Type="http://schemas.openxmlformats.org/officeDocument/2006/relationships/image" Target="../media/image4.jpg"/><Relationship Id="rId9" Type="http://schemas.openxmlformats.org/officeDocument/2006/relationships/image" Target="../media/image18.jpg"/></Relationships>
</file>

<file path=ppt/slides/_rels/slide4.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 Id="rId9" Type="http://schemas.openxmlformats.org/officeDocument/2006/relationships/image" Target="../media/image27.jpg"/></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g"/><Relationship Id="rId7" Type="http://schemas.openxmlformats.org/officeDocument/2006/relationships/image" Target="../media/image32.emf"/><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1.jpg"/><Relationship Id="rId5" Type="http://schemas.openxmlformats.org/officeDocument/2006/relationships/image" Target="../media/image30.emf"/><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FA27539-4286-4FA8-9DA6-7CF23744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0E663696-93AC-1688-D996-152A912DAB52}"/>
              </a:ext>
            </a:extLst>
          </p:cNvPr>
          <p:cNvSpPr>
            <a:spLocks noGrp="1"/>
          </p:cNvSpPr>
          <p:nvPr>
            <p:ph type="ctrTitle"/>
          </p:nvPr>
        </p:nvSpPr>
        <p:spPr>
          <a:xfrm>
            <a:off x="7112369" y="600721"/>
            <a:ext cx="4078800" cy="1635125"/>
          </a:xfrm>
        </p:spPr>
        <p:txBody>
          <a:bodyPr>
            <a:normAutofit/>
          </a:bodyPr>
          <a:lstStyle/>
          <a:p>
            <a:r>
              <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Αναγνώριση Προτύπων</a:t>
            </a:r>
          </a:p>
        </p:txBody>
      </p:sp>
      <p:pic>
        <p:nvPicPr>
          <p:cNvPr id="5" name="Picture 4">
            <a:extLst>
              <a:ext uri="{FF2B5EF4-FFF2-40B4-BE49-F238E27FC236}">
                <a16:creationId xmlns:a16="http://schemas.microsoft.com/office/drawing/2014/main" id="{E183B164-F249-7211-1FCA-4B0D292D3B5B}"/>
              </a:ext>
            </a:extLst>
          </p:cNvPr>
          <p:cNvPicPr>
            <a:picLocks noChangeAspect="1"/>
          </p:cNvPicPr>
          <p:nvPr/>
        </p:nvPicPr>
        <p:blipFill rotWithShape="1">
          <a:blip r:embed="rId2"/>
          <a:srcRect l="24535" r="4172" b="-1"/>
          <a:stretch/>
        </p:blipFill>
        <p:spPr>
          <a:xfrm>
            <a:off x="20" y="10"/>
            <a:ext cx="6111518" cy="6857990"/>
          </a:xfrm>
          <a:prstGeom prst="rect">
            <a:avLst/>
          </a:prstGeom>
        </p:spPr>
      </p:pic>
      <p:cxnSp>
        <p:nvCxnSpPr>
          <p:cNvPr id="12" name="Straight Connector 11">
            <a:extLst>
              <a:ext uri="{FF2B5EF4-FFF2-40B4-BE49-F238E27FC236}">
                <a16:creationId xmlns:a16="http://schemas.microsoft.com/office/drawing/2014/main" id="{C5E74535-9C0E-4211-B088-610AD56262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1F29281-4087-6D60-02ED-29B0229CAC3D}"/>
              </a:ext>
            </a:extLst>
          </p:cNvPr>
          <p:cNvSpPr txBox="1"/>
          <p:nvPr/>
        </p:nvSpPr>
        <p:spPr>
          <a:xfrm>
            <a:off x="6861006" y="2982019"/>
            <a:ext cx="4581525" cy="600164"/>
          </a:xfrm>
          <a:prstGeom prst="rect">
            <a:avLst/>
          </a:prstGeom>
          <a:noFill/>
        </p:spPr>
        <p:txBody>
          <a:bodyPr wrap="square" rtlCol="0">
            <a:spAutoFit/>
          </a:bodyPr>
          <a:lstStyle/>
          <a:p>
            <a:pPr algn="ctr">
              <a:spcAft>
                <a:spcPts val="600"/>
              </a:spcAft>
            </a:pPr>
            <a:r>
              <a:rPr lang="el-GR" sz="1400" dirty="0">
                <a:latin typeface="Calibri" panose="020F0502020204030204" pitchFamily="34" charset="0"/>
                <a:ea typeface="Calibri" panose="020F0502020204030204" pitchFamily="34" charset="0"/>
                <a:cs typeface="Calibri" panose="020F0502020204030204" pitchFamily="34" charset="0"/>
              </a:rPr>
              <a:t>Φοιτητής: Ιατρού Κωνσταντίνος 58071</a:t>
            </a:r>
          </a:p>
          <a:p>
            <a:pPr algn="ctr">
              <a:spcAft>
                <a:spcPts val="600"/>
              </a:spcAft>
            </a:pPr>
            <a:r>
              <a:rPr lang="el-GR" sz="1400" dirty="0">
                <a:latin typeface="Calibri" panose="020F0502020204030204" pitchFamily="34" charset="0"/>
                <a:ea typeface="Calibri" panose="020F0502020204030204" pitchFamily="34" charset="0"/>
                <a:cs typeface="Calibri" panose="020F0502020204030204" pitchFamily="34" charset="0"/>
              </a:rPr>
              <a:t>Επιβλέπων Καθηγητής: Θεοδωρακόπουλος Ηλίας</a:t>
            </a:r>
          </a:p>
        </p:txBody>
      </p:sp>
      <p:sp>
        <p:nvSpPr>
          <p:cNvPr id="7" name="TextBox 6">
            <a:extLst>
              <a:ext uri="{FF2B5EF4-FFF2-40B4-BE49-F238E27FC236}">
                <a16:creationId xmlns:a16="http://schemas.microsoft.com/office/drawing/2014/main" id="{60F3E083-7C1C-2E56-DF78-A6FB3E370A86}"/>
              </a:ext>
            </a:extLst>
          </p:cNvPr>
          <p:cNvSpPr txBox="1"/>
          <p:nvPr/>
        </p:nvSpPr>
        <p:spPr>
          <a:xfrm>
            <a:off x="7229662" y="3953380"/>
            <a:ext cx="3844213" cy="800219"/>
          </a:xfrm>
          <a:prstGeom prst="rect">
            <a:avLst/>
          </a:prstGeom>
          <a:noFill/>
        </p:spPr>
        <p:txBody>
          <a:bodyPr wrap="square" rtlCol="0">
            <a:spAutoFit/>
          </a:bodyPr>
          <a:lstStyle/>
          <a:p>
            <a:pPr algn="ctr"/>
            <a:r>
              <a:rPr lang="el-GR" sz="2800" b="1" dirty="0"/>
              <a:t>Τελική Εργασία</a:t>
            </a:r>
          </a:p>
          <a:p>
            <a:endParaRPr lang="el-GR" dirty="0"/>
          </a:p>
        </p:txBody>
      </p:sp>
      <p:pic>
        <p:nvPicPr>
          <p:cNvPr id="9" name="Εικόνα 8" descr="Εικόνα που περιέχει κείμενο, σύμβολο, λογότυπο, γραμματοσειρά&#10;&#10;Περιγραφή που δημιουργήθηκε αυτόματα">
            <a:extLst>
              <a:ext uri="{FF2B5EF4-FFF2-40B4-BE49-F238E27FC236}">
                <a16:creationId xmlns:a16="http://schemas.microsoft.com/office/drawing/2014/main" id="{895F1B20-95EF-8735-6D9E-B74BCC882B5C}"/>
              </a:ext>
            </a:extLst>
          </p:cNvPr>
          <p:cNvPicPr>
            <a:picLocks noChangeAspect="1"/>
          </p:cNvPicPr>
          <p:nvPr/>
        </p:nvPicPr>
        <p:blipFill rotWithShape="1">
          <a:blip r:embed="rId3">
            <a:extLst>
              <a:ext uri="{28A0092B-C50C-407E-A947-70E740481C1C}">
                <a14:useLocalDpi xmlns:a14="http://schemas.microsoft.com/office/drawing/2010/main" val="0"/>
              </a:ext>
            </a:extLst>
          </a:blip>
          <a:srcRect r="18881"/>
          <a:stretch/>
        </p:blipFill>
        <p:spPr>
          <a:xfrm>
            <a:off x="7023480" y="4915227"/>
            <a:ext cx="4303650" cy="952500"/>
          </a:xfrm>
          <a:prstGeom prst="rect">
            <a:avLst/>
          </a:prstGeom>
          <a:effectLst>
            <a:softEdge rad="31750"/>
          </a:effectLst>
        </p:spPr>
      </p:pic>
    </p:spTree>
    <p:extLst>
      <p:ext uri="{BB962C8B-B14F-4D97-AF65-F5344CB8AC3E}">
        <p14:creationId xmlns:p14="http://schemas.microsoft.com/office/powerpoint/2010/main" val="1760210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B6DF7F9-9C4C-DA30-FC36-6DF55AD00B7E}"/>
              </a:ext>
            </a:extLst>
          </p:cNvPr>
          <p:cNvSpPr>
            <a:spLocks noGrp="1"/>
          </p:cNvSpPr>
          <p:nvPr>
            <p:ph type="title"/>
          </p:nvPr>
        </p:nvSpPr>
        <p:spPr>
          <a:xfrm>
            <a:off x="338500" y="53615"/>
            <a:ext cx="4928400" cy="523219"/>
          </a:xfrm>
        </p:spPr>
        <p:txBody>
          <a:bodyPr>
            <a:normAutofit/>
          </a:bodyPr>
          <a:lstStyle/>
          <a:p>
            <a:r>
              <a:rPr lang="el-GR" sz="2800" b="1" dirty="0">
                <a:latin typeface="Calibri" panose="020F0502020204030204" pitchFamily="34" charset="0"/>
                <a:ea typeface="Calibri" panose="020F0502020204030204" pitchFamily="34" charset="0"/>
                <a:cs typeface="Calibri" panose="020F0502020204030204" pitchFamily="34" charset="0"/>
              </a:rPr>
              <a:t>Μέρος 1 – Ταξινόμηση Εικόνων</a:t>
            </a:r>
          </a:p>
        </p:txBody>
      </p:sp>
      <p:pic>
        <p:nvPicPr>
          <p:cNvPr id="48" name="Θέση περιεχομένου 47"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3B324A4E-CAF5-10E5-573F-B8A28CBD883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03992" y="3485833"/>
            <a:ext cx="1950386" cy="1645920"/>
          </a:xfrm>
        </p:spPr>
      </p:pic>
      <p:sp>
        <p:nvSpPr>
          <p:cNvPr id="5" name="TextBox 4">
            <a:extLst>
              <a:ext uri="{FF2B5EF4-FFF2-40B4-BE49-F238E27FC236}">
                <a16:creationId xmlns:a16="http://schemas.microsoft.com/office/drawing/2014/main" id="{90004BDB-551A-C5AE-55D7-B3625E3DDA2C}"/>
              </a:ext>
            </a:extLst>
          </p:cNvPr>
          <p:cNvSpPr txBox="1"/>
          <p:nvPr/>
        </p:nvSpPr>
        <p:spPr>
          <a:xfrm>
            <a:off x="7070523" y="53614"/>
            <a:ext cx="3023119" cy="523220"/>
          </a:xfrm>
          <a:prstGeom prst="rect">
            <a:avLst/>
          </a:prstGeom>
          <a:noFill/>
        </p:spPr>
        <p:txBody>
          <a:bodyPr wrap="square" rtlCol="0">
            <a:spAutoFit/>
          </a:bodyPr>
          <a:lstStyle/>
          <a:p>
            <a:r>
              <a:rPr lang="el-GR" sz="2800" b="1" dirty="0">
                <a:latin typeface="Calibri" panose="020F0502020204030204" pitchFamily="34" charset="0"/>
                <a:ea typeface="Calibri" panose="020F0502020204030204" pitchFamily="34" charset="0"/>
                <a:cs typeface="Calibri" panose="020F0502020204030204" pitchFamily="34" charset="0"/>
              </a:rPr>
              <a:t>Νευρωνικό Δίκτυο</a:t>
            </a:r>
          </a:p>
        </p:txBody>
      </p:sp>
      <p:sp>
        <p:nvSpPr>
          <p:cNvPr id="7" name="Βέλος: Δεξιό 6">
            <a:extLst>
              <a:ext uri="{FF2B5EF4-FFF2-40B4-BE49-F238E27FC236}">
                <a16:creationId xmlns:a16="http://schemas.microsoft.com/office/drawing/2014/main" id="{45EA8818-D0CE-A408-CEE0-5C5A3D44B481}"/>
              </a:ext>
            </a:extLst>
          </p:cNvPr>
          <p:cNvSpPr/>
          <p:nvPr/>
        </p:nvSpPr>
        <p:spPr>
          <a:xfrm>
            <a:off x="5279045" y="53615"/>
            <a:ext cx="1791478" cy="523219"/>
          </a:xfrm>
          <a:prstGeom prst="rightArrow">
            <a:avLst/>
          </a:prstGeom>
          <a:gradFill>
            <a:gsLst>
              <a:gs pos="0">
                <a:schemeClr val="accent1">
                  <a:lumMod val="5000"/>
                  <a:lumOff val="95000"/>
                </a:schemeClr>
              </a:gs>
              <a:gs pos="43000">
                <a:schemeClr val="accent6">
                  <a:lumMod val="40000"/>
                  <a:lumOff val="60000"/>
                </a:schemeClr>
              </a:gs>
              <a:gs pos="68000">
                <a:schemeClr val="accent6">
                  <a:lumMod val="60000"/>
                  <a:lumOff val="40000"/>
                </a:schemeClr>
              </a:gs>
              <a:gs pos="100000">
                <a:schemeClr val="accent6">
                  <a:lumMod val="100000"/>
                </a:schemeClr>
              </a:gs>
            </a:gsLst>
            <a:lin ang="5400000" scaled="1"/>
          </a:gra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1" name="Ορθογώνιο 10">
            <a:extLst>
              <a:ext uri="{FF2B5EF4-FFF2-40B4-BE49-F238E27FC236}">
                <a16:creationId xmlns:a16="http://schemas.microsoft.com/office/drawing/2014/main" id="{98CFE63F-FA37-C7C3-47A9-3E9F4859D4D0}"/>
              </a:ext>
            </a:extLst>
          </p:cNvPr>
          <p:cNvSpPr/>
          <p:nvPr/>
        </p:nvSpPr>
        <p:spPr>
          <a:xfrm>
            <a:off x="97116" y="1271028"/>
            <a:ext cx="447869" cy="74353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solidFill>
              <a:srgbClr val="002060"/>
            </a:solidFill>
          </a:ln>
          <a:scene3d>
            <a:camera prst="isometricRightUp">
              <a:rot lat="2100000" lon="18899998" rev="0"/>
            </a:camera>
            <a:lightRig rig="threePt" dir="t"/>
          </a:scene3d>
          <a:sp3d extrusionH="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2" name="Βέλος: Δεξιό 11">
            <a:extLst>
              <a:ext uri="{FF2B5EF4-FFF2-40B4-BE49-F238E27FC236}">
                <a16:creationId xmlns:a16="http://schemas.microsoft.com/office/drawing/2014/main" id="{2E58B757-0531-80F8-6107-89FAE84E8C89}"/>
              </a:ext>
            </a:extLst>
          </p:cNvPr>
          <p:cNvSpPr/>
          <p:nvPr/>
        </p:nvSpPr>
        <p:spPr>
          <a:xfrm>
            <a:off x="544985" y="1525600"/>
            <a:ext cx="298580" cy="158621"/>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Ορθογώνιο 12">
            <a:extLst>
              <a:ext uri="{FF2B5EF4-FFF2-40B4-BE49-F238E27FC236}">
                <a16:creationId xmlns:a16="http://schemas.microsoft.com/office/drawing/2014/main" id="{B62DE559-B6BC-7334-AAB9-A530201E6E0B}"/>
              </a:ext>
            </a:extLst>
          </p:cNvPr>
          <p:cNvSpPr/>
          <p:nvPr/>
        </p:nvSpPr>
        <p:spPr>
          <a:xfrm>
            <a:off x="871709" y="1191601"/>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4" name="Ορθογώνιο 13">
            <a:extLst>
              <a:ext uri="{FF2B5EF4-FFF2-40B4-BE49-F238E27FC236}">
                <a16:creationId xmlns:a16="http://schemas.microsoft.com/office/drawing/2014/main" id="{0C3B3A50-785D-C469-15AC-4717D1CF8679}"/>
              </a:ext>
            </a:extLst>
          </p:cNvPr>
          <p:cNvSpPr/>
          <p:nvPr/>
        </p:nvSpPr>
        <p:spPr>
          <a:xfrm>
            <a:off x="1096411" y="1191602"/>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Ορθογώνιο 14">
            <a:extLst>
              <a:ext uri="{FF2B5EF4-FFF2-40B4-BE49-F238E27FC236}">
                <a16:creationId xmlns:a16="http://schemas.microsoft.com/office/drawing/2014/main" id="{B71D7979-1EC9-8185-8D56-3D4D7E56FADA}"/>
              </a:ext>
            </a:extLst>
          </p:cNvPr>
          <p:cNvSpPr/>
          <p:nvPr/>
        </p:nvSpPr>
        <p:spPr>
          <a:xfrm>
            <a:off x="1344677" y="1191603"/>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20" name="Ευθύγραμμο βέλος σύνδεσης 19">
            <a:extLst>
              <a:ext uri="{FF2B5EF4-FFF2-40B4-BE49-F238E27FC236}">
                <a16:creationId xmlns:a16="http://schemas.microsoft.com/office/drawing/2014/main" id="{81F91DB4-9E3F-2CF3-7762-7C703500AF7B}"/>
              </a:ext>
            </a:extLst>
          </p:cNvPr>
          <p:cNvCxnSpPr/>
          <p:nvPr/>
        </p:nvCxnSpPr>
        <p:spPr>
          <a:xfrm>
            <a:off x="1694669" y="1606992"/>
            <a:ext cx="8215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Ορθογώνιο 20">
            <a:extLst>
              <a:ext uri="{FF2B5EF4-FFF2-40B4-BE49-F238E27FC236}">
                <a16:creationId xmlns:a16="http://schemas.microsoft.com/office/drawing/2014/main" id="{8AE63BF2-6F19-515B-5B84-0EF702B2CC0E}"/>
              </a:ext>
            </a:extLst>
          </p:cNvPr>
          <p:cNvSpPr/>
          <p:nvPr/>
        </p:nvSpPr>
        <p:spPr>
          <a:xfrm>
            <a:off x="2524041" y="1062466"/>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1</a:t>
            </a:r>
            <a:endParaRPr lang="el-GR" dirty="0">
              <a:solidFill>
                <a:schemeClr val="bg1"/>
              </a:solidFill>
            </a:endParaRPr>
          </a:p>
        </p:txBody>
      </p:sp>
      <p:sp>
        <p:nvSpPr>
          <p:cNvPr id="22" name="Ορθογώνιο 21">
            <a:extLst>
              <a:ext uri="{FF2B5EF4-FFF2-40B4-BE49-F238E27FC236}">
                <a16:creationId xmlns:a16="http://schemas.microsoft.com/office/drawing/2014/main" id="{B8389E42-16B6-0FEC-8DA3-708F906423D5}"/>
              </a:ext>
            </a:extLst>
          </p:cNvPr>
          <p:cNvSpPr/>
          <p:nvPr/>
        </p:nvSpPr>
        <p:spPr>
          <a:xfrm rot="16200000">
            <a:off x="3730142" y="1025025"/>
            <a:ext cx="367644" cy="115610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Output</a:t>
            </a:r>
            <a:endParaRPr lang="el-GR" dirty="0">
              <a:solidFill>
                <a:schemeClr val="bg1"/>
              </a:solidFill>
            </a:endParaRPr>
          </a:p>
        </p:txBody>
      </p:sp>
      <p:cxnSp>
        <p:nvCxnSpPr>
          <p:cNvPr id="25" name="Ευθύγραμμο βέλος σύνδεσης 24">
            <a:extLst>
              <a:ext uri="{FF2B5EF4-FFF2-40B4-BE49-F238E27FC236}">
                <a16:creationId xmlns:a16="http://schemas.microsoft.com/office/drawing/2014/main" id="{F4A0B274-6B18-8837-227C-07EF529469A6}"/>
              </a:ext>
            </a:extLst>
          </p:cNvPr>
          <p:cNvCxnSpPr>
            <a:cxnSpLocks/>
            <a:stCxn id="21" idx="3"/>
            <a:endCxn id="22" idx="0"/>
          </p:cNvCxnSpPr>
          <p:nvPr/>
        </p:nvCxnSpPr>
        <p:spPr>
          <a:xfrm flipV="1">
            <a:off x="2845981" y="1603080"/>
            <a:ext cx="48992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B2463A3F-229F-4455-2AE5-5925B7565098}"/>
              </a:ext>
            </a:extLst>
          </p:cNvPr>
          <p:cNvSpPr txBox="1"/>
          <p:nvPr/>
        </p:nvSpPr>
        <p:spPr>
          <a:xfrm>
            <a:off x="816421" y="2141838"/>
            <a:ext cx="1017489" cy="646331"/>
          </a:xfrm>
          <a:prstGeom prst="rect">
            <a:avLst/>
          </a:prstGeom>
          <a:noFill/>
        </p:spPr>
        <p:txBody>
          <a:bodyPr wrap="square" rtlCol="0">
            <a:spAutoFit/>
          </a:bodyPr>
          <a:lstStyle/>
          <a:p>
            <a:r>
              <a:rPr lang="en-US" sz="900" b="1" dirty="0"/>
              <a:t>Conv. Layer</a:t>
            </a:r>
          </a:p>
          <a:p>
            <a:r>
              <a:rPr lang="en-US" sz="900" b="1" dirty="0"/>
              <a:t>    </a:t>
            </a:r>
            <a:r>
              <a:rPr lang="en-US" sz="900" b="1" dirty="0" err="1"/>
              <a:t>ReLU</a:t>
            </a:r>
            <a:r>
              <a:rPr lang="en-US" sz="900" b="1" dirty="0"/>
              <a:t> Layer</a:t>
            </a:r>
          </a:p>
          <a:p>
            <a:r>
              <a:rPr lang="en-US" sz="900" b="1" dirty="0"/>
              <a:t>        Max Pool.</a:t>
            </a:r>
          </a:p>
          <a:p>
            <a:pPr algn="ctr"/>
            <a:r>
              <a:rPr lang="en-US" sz="900" b="1" dirty="0"/>
              <a:t>3x3</a:t>
            </a:r>
            <a:endParaRPr lang="el-GR" sz="900" b="1" dirty="0"/>
          </a:p>
        </p:txBody>
      </p:sp>
      <p:sp>
        <p:nvSpPr>
          <p:cNvPr id="40" name="TextBox 39">
            <a:extLst>
              <a:ext uri="{FF2B5EF4-FFF2-40B4-BE49-F238E27FC236}">
                <a16:creationId xmlns:a16="http://schemas.microsoft.com/office/drawing/2014/main" id="{B5E00901-A7D1-7F77-7608-DC3C074CCBD4}"/>
              </a:ext>
            </a:extLst>
          </p:cNvPr>
          <p:cNvSpPr txBox="1"/>
          <p:nvPr/>
        </p:nvSpPr>
        <p:spPr>
          <a:xfrm>
            <a:off x="1944140" y="2165036"/>
            <a:ext cx="1481742" cy="369332"/>
          </a:xfrm>
          <a:prstGeom prst="rect">
            <a:avLst/>
          </a:prstGeom>
          <a:noFill/>
        </p:spPr>
        <p:txBody>
          <a:bodyPr wrap="square" rtlCol="0">
            <a:spAutoFit/>
          </a:bodyPr>
          <a:lstStyle/>
          <a:p>
            <a:pPr algn="ctr"/>
            <a:r>
              <a:rPr lang="en-US" sz="900" b="1" dirty="0"/>
              <a:t>Fully Connected Layer</a:t>
            </a:r>
          </a:p>
          <a:p>
            <a:pPr algn="ctr"/>
            <a:r>
              <a:rPr lang="en-US" sz="900" b="1" dirty="0"/>
              <a:t>16</a:t>
            </a:r>
            <a:endParaRPr lang="el-GR" sz="900" b="1" dirty="0"/>
          </a:p>
        </p:txBody>
      </p:sp>
      <p:pic>
        <p:nvPicPr>
          <p:cNvPr id="42" name="Εικόνα 41">
            <a:extLst>
              <a:ext uri="{FF2B5EF4-FFF2-40B4-BE49-F238E27FC236}">
                <a16:creationId xmlns:a16="http://schemas.microsoft.com/office/drawing/2014/main" id="{33AF045D-7111-72A6-0078-B0E1463D5DE5}"/>
              </a:ext>
            </a:extLst>
          </p:cNvPr>
          <p:cNvPicPr>
            <a:picLocks noChangeAspect="1"/>
          </p:cNvPicPr>
          <p:nvPr/>
        </p:nvPicPr>
        <p:blipFill rotWithShape="1">
          <a:blip r:embed="rId5"/>
          <a:srcRect t="77407"/>
          <a:stretch/>
        </p:blipFill>
        <p:spPr>
          <a:xfrm>
            <a:off x="274128" y="2842982"/>
            <a:ext cx="4719484" cy="375425"/>
          </a:xfrm>
          <a:prstGeom prst="rect">
            <a:avLst/>
          </a:prstGeom>
        </p:spPr>
      </p:pic>
      <p:pic>
        <p:nvPicPr>
          <p:cNvPr id="44" name="Εικόνα 43">
            <a:extLst>
              <a:ext uri="{FF2B5EF4-FFF2-40B4-BE49-F238E27FC236}">
                <a16:creationId xmlns:a16="http://schemas.microsoft.com/office/drawing/2014/main" id="{3D64CA81-0F74-A40F-F2D1-402848FDC651}"/>
              </a:ext>
            </a:extLst>
          </p:cNvPr>
          <p:cNvPicPr>
            <a:picLocks noChangeAspect="1"/>
          </p:cNvPicPr>
          <p:nvPr/>
        </p:nvPicPr>
        <p:blipFill>
          <a:blip r:embed="rId6"/>
          <a:stretch>
            <a:fillRect/>
          </a:stretch>
        </p:blipFill>
        <p:spPr>
          <a:xfrm>
            <a:off x="278525" y="3290672"/>
            <a:ext cx="3067665" cy="167148"/>
          </a:xfrm>
          <a:prstGeom prst="rect">
            <a:avLst/>
          </a:prstGeom>
        </p:spPr>
      </p:pic>
      <p:pic>
        <p:nvPicPr>
          <p:cNvPr id="50" name="Εικόνα 49"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21A81913-AC0D-37F3-65D2-E705336569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674" y="5158300"/>
            <a:ext cx="1950386" cy="1645920"/>
          </a:xfrm>
          <a:prstGeom prst="rect">
            <a:avLst/>
          </a:prstGeom>
        </p:spPr>
      </p:pic>
      <p:pic>
        <p:nvPicPr>
          <p:cNvPr id="52" name="Εικόνα 51" descr="Εικόνα που περιέχει κείμενο, στιγμιότυπο οθόνης, γραμμή, γράφημα&#10;&#10;Περιγραφή που δημιουργήθηκε αυτόματα">
            <a:extLst>
              <a:ext uri="{FF2B5EF4-FFF2-40B4-BE49-F238E27FC236}">
                <a16:creationId xmlns:a16="http://schemas.microsoft.com/office/drawing/2014/main" id="{265A9DE0-9F66-DFF5-7B1F-C0CE46A941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34649" y="3882257"/>
            <a:ext cx="2884713" cy="2286000"/>
          </a:xfrm>
          <a:prstGeom prst="rect">
            <a:avLst/>
          </a:prstGeom>
        </p:spPr>
      </p:pic>
      <p:sp>
        <p:nvSpPr>
          <p:cNvPr id="53" name="Ορθογώνιο 52">
            <a:extLst>
              <a:ext uri="{FF2B5EF4-FFF2-40B4-BE49-F238E27FC236}">
                <a16:creationId xmlns:a16="http://schemas.microsoft.com/office/drawing/2014/main" id="{600869F5-51D8-EC2E-604C-AA91308BA0B0}"/>
              </a:ext>
            </a:extLst>
          </p:cNvPr>
          <p:cNvSpPr/>
          <p:nvPr/>
        </p:nvSpPr>
        <p:spPr>
          <a:xfrm>
            <a:off x="5357865" y="663556"/>
            <a:ext cx="447869" cy="74353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solidFill>
              <a:srgbClr val="002060"/>
            </a:solidFill>
          </a:ln>
          <a:scene3d>
            <a:camera prst="isometricRightUp">
              <a:rot lat="2100000" lon="18899998" rev="0"/>
            </a:camera>
            <a:lightRig rig="threePt" dir="t"/>
          </a:scene3d>
          <a:sp3d extrusionH="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4" name="Βέλος: Δεξιό 53">
            <a:extLst>
              <a:ext uri="{FF2B5EF4-FFF2-40B4-BE49-F238E27FC236}">
                <a16:creationId xmlns:a16="http://schemas.microsoft.com/office/drawing/2014/main" id="{642B8937-AE05-2D7F-4A2D-FD274D419E2E}"/>
              </a:ext>
            </a:extLst>
          </p:cNvPr>
          <p:cNvSpPr/>
          <p:nvPr/>
        </p:nvSpPr>
        <p:spPr>
          <a:xfrm>
            <a:off x="5898901" y="1500389"/>
            <a:ext cx="298580" cy="158621"/>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5" name="Ορθογώνιο 54">
            <a:extLst>
              <a:ext uri="{FF2B5EF4-FFF2-40B4-BE49-F238E27FC236}">
                <a16:creationId xmlns:a16="http://schemas.microsoft.com/office/drawing/2014/main" id="{B618B4E6-9425-F1FD-1B6A-C5721FE516D8}"/>
              </a:ext>
            </a:extLst>
          </p:cNvPr>
          <p:cNvSpPr/>
          <p:nvPr/>
        </p:nvSpPr>
        <p:spPr>
          <a:xfrm>
            <a:off x="6225625" y="1166390"/>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6" name="Ορθογώνιο 55">
            <a:extLst>
              <a:ext uri="{FF2B5EF4-FFF2-40B4-BE49-F238E27FC236}">
                <a16:creationId xmlns:a16="http://schemas.microsoft.com/office/drawing/2014/main" id="{A3066A79-81D5-F92D-59AC-A165D91E0922}"/>
              </a:ext>
            </a:extLst>
          </p:cNvPr>
          <p:cNvSpPr/>
          <p:nvPr/>
        </p:nvSpPr>
        <p:spPr>
          <a:xfrm>
            <a:off x="6450327" y="1166391"/>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7" name="Ορθογώνιο 56">
            <a:extLst>
              <a:ext uri="{FF2B5EF4-FFF2-40B4-BE49-F238E27FC236}">
                <a16:creationId xmlns:a16="http://schemas.microsoft.com/office/drawing/2014/main" id="{99380B2D-7987-B5BF-A0D9-81479B6885AB}"/>
              </a:ext>
            </a:extLst>
          </p:cNvPr>
          <p:cNvSpPr/>
          <p:nvPr/>
        </p:nvSpPr>
        <p:spPr>
          <a:xfrm>
            <a:off x="6698593" y="1166392"/>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9" name="Ορθογώνιο 58">
            <a:extLst>
              <a:ext uri="{FF2B5EF4-FFF2-40B4-BE49-F238E27FC236}">
                <a16:creationId xmlns:a16="http://schemas.microsoft.com/office/drawing/2014/main" id="{B76A6937-1D0A-888B-DAB3-65617EBAF6E0}"/>
              </a:ext>
            </a:extLst>
          </p:cNvPr>
          <p:cNvSpPr/>
          <p:nvPr/>
        </p:nvSpPr>
        <p:spPr>
          <a:xfrm>
            <a:off x="9827003" y="1035639"/>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1</a:t>
            </a:r>
            <a:endParaRPr lang="el-GR" dirty="0">
              <a:solidFill>
                <a:schemeClr val="bg1"/>
              </a:solidFill>
            </a:endParaRPr>
          </a:p>
        </p:txBody>
      </p:sp>
      <p:sp>
        <p:nvSpPr>
          <p:cNvPr id="60" name="Ορθογώνιο 59">
            <a:extLst>
              <a:ext uri="{FF2B5EF4-FFF2-40B4-BE49-F238E27FC236}">
                <a16:creationId xmlns:a16="http://schemas.microsoft.com/office/drawing/2014/main" id="{55CD45A7-2A61-7C5F-A8D5-C1F31B05D590}"/>
              </a:ext>
            </a:extLst>
          </p:cNvPr>
          <p:cNvSpPr/>
          <p:nvPr/>
        </p:nvSpPr>
        <p:spPr>
          <a:xfrm rot="16200000">
            <a:off x="11385055" y="1103820"/>
            <a:ext cx="367644" cy="93816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Output</a:t>
            </a:r>
            <a:endParaRPr lang="el-GR" dirty="0">
              <a:solidFill>
                <a:schemeClr val="bg1"/>
              </a:solidFill>
            </a:endParaRPr>
          </a:p>
        </p:txBody>
      </p:sp>
      <p:cxnSp>
        <p:nvCxnSpPr>
          <p:cNvPr id="61" name="Ευθύγραμμο βέλος σύνδεσης 60">
            <a:extLst>
              <a:ext uri="{FF2B5EF4-FFF2-40B4-BE49-F238E27FC236}">
                <a16:creationId xmlns:a16="http://schemas.microsoft.com/office/drawing/2014/main" id="{AB804CB1-DCA0-283A-158C-7E67E2F9BF37}"/>
              </a:ext>
            </a:extLst>
          </p:cNvPr>
          <p:cNvCxnSpPr>
            <a:cxnSpLocks/>
            <a:stCxn id="59" idx="3"/>
            <a:endCxn id="69" idx="1"/>
          </p:cNvCxnSpPr>
          <p:nvPr/>
        </p:nvCxnSpPr>
        <p:spPr>
          <a:xfrm flipV="1">
            <a:off x="10148943" y="1576251"/>
            <a:ext cx="258751"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EBC02108-78BC-9930-6E39-BFBFA8B03F3C}"/>
              </a:ext>
            </a:extLst>
          </p:cNvPr>
          <p:cNvSpPr txBox="1"/>
          <p:nvPr/>
        </p:nvSpPr>
        <p:spPr>
          <a:xfrm>
            <a:off x="6048191" y="2157395"/>
            <a:ext cx="1558668" cy="646331"/>
          </a:xfrm>
          <a:prstGeom prst="rect">
            <a:avLst/>
          </a:prstGeom>
          <a:noFill/>
        </p:spPr>
        <p:txBody>
          <a:bodyPr wrap="square" rtlCol="0">
            <a:spAutoFit/>
          </a:bodyPr>
          <a:lstStyle/>
          <a:p>
            <a:r>
              <a:rPr lang="en-US" sz="900" b="1" dirty="0"/>
              <a:t>Conv. Layer 1	5x5</a:t>
            </a:r>
          </a:p>
          <a:p>
            <a:r>
              <a:rPr lang="en-US" sz="900" b="1" dirty="0"/>
              <a:t>    Batch Normalization</a:t>
            </a:r>
          </a:p>
          <a:p>
            <a:r>
              <a:rPr lang="en-US" sz="900" b="1" dirty="0"/>
              <a:t>        </a:t>
            </a:r>
            <a:r>
              <a:rPr lang="en-US" sz="900" b="1" dirty="0" err="1"/>
              <a:t>ReLU</a:t>
            </a:r>
            <a:r>
              <a:rPr lang="en-US" sz="900" b="1" dirty="0"/>
              <a:t> Layer 1</a:t>
            </a:r>
          </a:p>
          <a:p>
            <a:r>
              <a:rPr lang="en-US" sz="900" b="1" dirty="0"/>
              <a:t>            Max Pool. 1    2x2</a:t>
            </a:r>
          </a:p>
        </p:txBody>
      </p:sp>
      <p:sp>
        <p:nvSpPr>
          <p:cNvPr id="69" name="Ορθογώνιο 68">
            <a:extLst>
              <a:ext uri="{FF2B5EF4-FFF2-40B4-BE49-F238E27FC236}">
                <a16:creationId xmlns:a16="http://schemas.microsoft.com/office/drawing/2014/main" id="{14733D07-DCA4-423A-2FAA-F537257103BD}"/>
              </a:ext>
            </a:extLst>
          </p:cNvPr>
          <p:cNvSpPr/>
          <p:nvPr/>
        </p:nvSpPr>
        <p:spPr>
          <a:xfrm>
            <a:off x="10407694" y="1035636"/>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2</a:t>
            </a:r>
            <a:endParaRPr lang="el-GR" dirty="0">
              <a:solidFill>
                <a:schemeClr val="bg1"/>
              </a:solidFill>
            </a:endParaRPr>
          </a:p>
        </p:txBody>
      </p:sp>
      <p:cxnSp>
        <p:nvCxnSpPr>
          <p:cNvPr id="75" name="Ευθύγραμμο βέλος σύνδεσης 74">
            <a:extLst>
              <a:ext uri="{FF2B5EF4-FFF2-40B4-BE49-F238E27FC236}">
                <a16:creationId xmlns:a16="http://schemas.microsoft.com/office/drawing/2014/main" id="{B0D7936E-4455-6C04-5C4C-8E4194B2BD6C}"/>
              </a:ext>
            </a:extLst>
          </p:cNvPr>
          <p:cNvCxnSpPr>
            <a:cxnSpLocks/>
            <a:stCxn id="69" idx="3"/>
            <a:endCxn id="60" idx="0"/>
          </p:cNvCxnSpPr>
          <p:nvPr/>
        </p:nvCxnSpPr>
        <p:spPr>
          <a:xfrm flipV="1">
            <a:off x="10729634" y="1572905"/>
            <a:ext cx="370159" cy="3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E8BB5E23-F46E-74AC-A88D-9797B9F65AA5}"/>
              </a:ext>
            </a:extLst>
          </p:cNvPr>
          <p:cNvSpPr txBox="1"/>
          <p:nvPr/>
        </p:nvSpPr>
        <p:spPr>
          <a:xfrm>
            <a:off x="9537447" y="2157395"/>
            <a:ext cx="1481742" cy="369332"/>
          </a:xfrm>
          <a:prstGeom prst="rect">
            <a:avLst/>
          </a:prstGeom>
          <a:noFill/>
        </p:spPr>
        <p:txBody>
          <a:bodyPr wrap="square" rtlCol="0">
            <a:spAutoFit/>
          </a:bodyPr>
          <a:lstStyle/>
          <a:p>
            <a:pPr algn="ctr"/>
            <a:r>
              <a:rPr lang="en-US" sz="900" b="1" dirty="0"/>
              <a:t>Fully Connected Layers</a:t>
            </a:r>
          </a:p>
          <a:p>
            <a:pPr algn="ctr"/>
            <a:r>
              <a:rPr lang="en-US" sz="900" b="1" dirty="0"/>
              <a:t>512                256</a:t>
            </a:r>
          </a:p>
        </p:txBody>
      </p:sp>
      <p:sp>
        <p:nvSpPr>
          <p:cNvPr id="80" name="Ορθογώνιο 79">
            <a:extLst>
              <a:ext uri="{FF2B5EF4-FFF2-40B4-BE49-F238E27FC236}">
                <a16:creationId xmlns:a16="http://schemas.microsoft.com/office/drawing/2014/main" id="{B83371FB-A341-C27F-6A09-22B4FC55BA7F}"/>
              </a:ext>
            </a:extLst>
          </p:cNvPr>
          <p:cNvSpPr/>
          <p:nvPr/>
        </p:nvSpPr>
        <p:spPr>
          <a:xfrm>
            <a:off x="6942764" y="1153552"/>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58" name="Ευθύγραμμο βέλος σύνδεσης 57">
            <a:extLst>
              <a:ext uri="{FF2B5EF4-FFF2-40B4-BE49-F238E27FC236}">
                <a16:creationId xmlns:a16="http://schemas.microsoft.com/office/drawing/2014/main" id="{D34F621E-5591-6FAD-935A-AF70CA7941AF}"/>
              </a:ext>
            </a:extLst>
          </p:cNvPr>
          <p:cNvCxnSpPr>
            <a:cxnSpLocks/>
            <a:endCxn id="59" idx="1"/>
          </p:cNvCxnSpPr>
          <p:nvPr/>
        </p:nvCxnSpPr>
        <p:spPr>
          <a:xfrm flipV="1">
            <a:off x="7317304" y="1576254"/>
            <a:ext cx="2509699" cy="3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3" name="Ορθογώνιο 82">
            <a:extLst>
              <a:ext uri="{FF2B5EF4-FFF2-40B4-BE49-F238E27FC236}">
                <a16:creationId xmlns:a16="http://schemas.microsoft.com/office/drawing/2014/main" id="{061A3A47-FE83-E5C3-CA7F-1853C2B15095}"/>
              </a:ext>
            </a:extLst>
          </p:cNvPr>
          <p:cNvSpPr/>
          <p:nvPr/>
        </p:nvSpPr>
        <p:spPr>
          <a:xfrm>
            <a:off x="7929426" y="1166180"/>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4" name="Ορθογώνιο 83">
            <a:extLst>
              <a:ext uri="{FF2B5EF4-FFF2-40B4-BE49-F238E27FC236}">
                <a16:creationId xmlns:a16="http://schemas.microsoft.com/office/drawing/2014/main" id="{426A6C26-5918-F53A-D3CF-864DFA8DA5D2}"/>
              </a:ext>
            </a:extLst>
          </p:cNvPr>
          <p:cNvSpPr/>
          <p:nvPr/>
        </p:nvSpPr>
        <p:spPr>
          <a:xfrm>
            <a:off x="8154128" y="1166181"/>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5" name="Ορθογώνιο 84">
            <a:extLst>
              <a:ext uri="{FF2B5EF4-FFF2-40B4-BE49-F238E27FC236}">
                <a16:creationId xmlns:a16="http://schemas.microsoft.com/office/drawing/2014/main" id="{DBB3947F-8CB6-05BD-646A-6C63E05CF38E}"/>
              </a:ext>
            </a:extLst>
          </p:cNvPr>
          <p:cNvSpPr/>
          <p:nvPr/>
        </p:nvSpPr>
        <p:spPr>
          <a:xfrm>
            <a:off x="8402394" y="1166182"/>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6" name="Ορθογώνιο 85">
            <a:extLst>
              <a:ext uri="{FF2B5EF4-FFF2-40B4-BE49-F238E27FC236}">
                <a16:creationId xmlns:a16="http://schemas.microsoft.com/office/drawing/2014/main" id="{6EBFAA62-6AB0-9616-D7B2-00FFF3CA950C}"/>
              </a:ext>
            </a:extLst>
          </p:cNvPr>
          <p:cNvSpPr/>
          <p:nvPr/>
        </p:nvSpPr>
        <p:spPr>
          <a:xfrm>
            <a:off x="8646565" y="1153342"/>
            <a:ext cx="822960" cy="822960"/>
          </a:xfrm>
          <a:prstGeom prst="rect">
            <a:avLst/>
          </a:prstGeom>
          <a:solidFill>
            <a:srgbClr val="0070C0"/>
          </a:solidFill>
          <a:ln>
            <a:solidFill>
              <a:srgbClr val="002060"/>
            </a:solidFill>
          </a:ln>
          <a:scene3d>
            <a:camera prst="isometricRightUp"/>
            <a:lightRig rig="threePt" dir="t"/>
          </a:scene3d>
          <a:sp3d extrusionH="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7" name="TextBox 86">
            <a:extLst>
              <a:ext uri="{FF2B5EF4-FFF2-40B4-BE49-F238E27FC236}">
                <a16:creationId xmlns:a16="http://schemas.microsoft.com/office/drawing/2014/main" id="{B9088517-DE97-93A2-643D-84406CDF042F}"/>
              </a:ext>
            </a:extLst>
          </p:cNvPr>
          <p:cNvSpPr txBox="1"/>
          <p:nvPr/>
        </p:nvSpPr>
        <p:spPr>
          <a:xfrm>
            <a:off x="7914586" y="2142122"/>
            <a:ext cx="1558668" cy="646331"/>
          </a:xfrm>
          <a:prstGeom prst="rect">
            <a:avLst/>
          </a:prstGeom>
          <a:noFill/>
        </p:spPr>
        <p:txBody>
          <a:bodyPr wrap="square" rtlCol="0">
            <a:spAutoFit/>
          </a:bodyPr>
          <a:lstStyle/>
          <a:p>
            <a:r>
              <a:rPr lang="en-US" sz="900" b="1" dirty="0"/>
              <a:t>Conv. Layer 2	3x3</a:t>
            </a:r>
          </a:p>
          <a:p>
            <a:r>
              <a:rPr lang="en-US" sz="900" b="1" dirty="0"/>
              <a:t>    Batch Normalization</a:t>
            </a:r>
          </a:p>
          <a:p>
            <a:r>
              <a:rPr lang="en-US" sz="900" b="1" dirty="0"/>
              <a:t>        </a:t>
            </a:r>
            <a:r>
              <a:rPr lang="en-US" sz="900" b="1" dirty="0" err="1"/>
              <a:t>ReLU</a:t>
            </a:r>
            <a:r>
              <a:rPr lang="en-US" sz="900" b="1" dirty="0"/>
              <a:t> Layer 2</a:t>
            </a:r>
          </a:p>
          <a:p>
            <a:r>
              <a:rPr lang="en-US" sz="900" b="1" dirty="0"/>
              <a:t>            Max Pool. 2    2x2</a:t>
            </a:r>
          </a:p>
        </p:txBody>
      </p:sp>
      <p:sp>
        <p:nvSpPr>
          <p:cNvPr id="88" name="Ορθογώνιο 87">
            <a:extLst>
              <a:ext uri="{FF2B5EF4-FFF2-40B4-BE49-F238E27FC236}">
                <a16:creationId xmlns:a16="http://schemas.microsoft.com/office/drawing/2014/main" id="{809F1A85-7AB3-B871-8147-A549140C9AF4}"/>
              </a:ext>
            </a:extLst>
          </p:cNvPr>
          <p:cNvSpPr/>
          <p:nvPr/>
        </p:nvSpPr>
        <p:spPr>
          <a:xfrm>
            <a:off x="5337601" y="1809757"/>
            <a:ext cx="447869" cy="743533"/>
          </a:xfrm>
          <a:prstGeom prst="rect">
            <a:avLst/>
          </a:prstGeom>
          <a:blipFill dpi="0" rotWithShape="1">
            <a:blip r:embed="rId9">
              <a:extLst>
                <a:ext uri="{BEBA8EAE-BF5A-486C-A8C5-ECC9F3942E4B}">
                  <a14:imgProps xmlns:a14="http://schemas.microsoft.com/office/drawing/2010/main">
                    <a14:imgLayer r:embed="rId10">
                      <a14:imgEffect>
                        <a14:brightnessContrast bright="20000" contrast="-10000"/>
                      </a14:imgEffect>
                    </a14:imgLayer>
                  </a14:imgProps>
                </a:ext>
                <a:ext uri="{28A0092B-C50C-407E-A947-70E740481C1C}">
                  <a14:useLocalDpi xmlns:a14="http://schemas.microsoft.com/office/drawing/2010/main" val="0"/>
                </a:ext>
              </a:extLst>
            </a:blip>
            <a:srcRect/>
            <a:stretch>
              <a:fillRect/>
            </a:stretch>
          </a:blipFill>
          <a:ln>
            <a:solidFill>
              <a:srgbClr val="002060"/>
            </a:solidFill>
          </a:ln>
          <a:scene3d>
            <a:camera prst="isometricRightUp">
              <a:rot lat="2837666" lon="19529340" rev="1357855"/>
            </a:camera>
            <a:lightRig rig="threePt" dir="t">
              <a:rot lat="0" lon="0" rev="0"/>
            </a:lightRig>
          </a:scene3d>
          <a:sp3d extrusionH="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9" name="Σταυρός 88">
            <a:extLst>
              <a:ext uri="{FF2B5EF4-FFF2-40B4-BE49-F238E27FC236}">
                <a16:creationId xmlns:a16="http://schemas.microsoft.com/office/drawing/2014/main" id="{D91E870F-7EC5-6CBC-FEEE-3400F7B839BE}"/>
              </a:ext>
            </a:extLst>
          </p:cNvPr>
          <p:cNvSpPr/>
          <p:nvPr/>
        </p:nvSpPr>
        <p:spPr>
          <a:xfrm>
            <a:off x="5424623" y="1428484"/>
            <a:ext cx="274320" cy="274320"/>
          </a:xfrm>
          <a:prstGeom prst="plus">
            <a:avLst>
              <a:gd name="adj" fmla="val 38318"/>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95" name="Εικόνα 94">
            <a:extLst>
              <a:ext uri="{FF2B5EF4-FFF2-40B4-BE49-F238E27FC236}">
                <a16:creationId xmlns:a16="http://schemas.microsoft.com/office/drawing/2014/main" id="{19A350FD-BB94-7C14-D970-9F3619069541}"/>
              </a:ext>
            </a:extLst>
          </p:cNvPr>
          <p:cNvPicPr>
            <a:picLocks noChangeAspect="1"/>
          </p:cNvPicPr>
          <p:nvPr/>
        </p:nvPicPr>
        <p:blipFill rotWithShape="1">
          <a:blip r:embed="rId11"/>
          <a:srcRect t="87300"/>
          <a:stretch/>
        </p:blipFill>
        <p:spPr>
          <a:xfrm>
            <a:off x="7403927" y="2792258"/>
            <a:ext cx="4640826" cy="312165"/>
          </a:xfrm>
          <a:prstGeom prst="rect">
            <a:avLst/>
          </a:prstGeom>
        </p:spPr>
      </p:pic>
      <p:pic>
        <p:nvPicPr>
          <p:cNvPr id="97" name="Εικόνα 96">
            <a:extLst>
              <a:ext uri="{FF2B5EF4-FFF2-40B4-BE49-F238E27FC236}">
                <a16:creationId xmlns:a16="http://schemas.microsoft.com/office/drawing/2014/main" id="{C0631898-DBB5-BAEC-9729-F8F57A404A96}"/>
              </a:ext>
            </a:extLst>
          </p:cNvPr>
          <p:cNvPicPr>
            <a:picLocks noChangeAspect="1"/>
          </p:cNvPicPr>
          <p:nvPr/>
        </p:nvPicPr>
        <p:blipFill>
          <a:blip r:embed="rId12"/>
          <a:stretch>
            <a:fillRect/>
          </a:stretch>
        </p:blipFill>
        <p:spPr>
          <a:xfrm>
            <a:off x="8977088" y="3152396"/>
            <a:ext cx="3067665" cy="176981"/>
          </a:xfrm>
          <a:prstGeom prst="rect">
            <a:avLst/>
          </a:prstGeom>
        </p:spPr>
      </p:pic>
      <p:pic>
        <p:nvPicPr>
          <p:cNvPr id="99" name="Εικόνα 98"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AC423822-F46A-7D19-619B-2F4F9681D8B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087577" y="3377350"/>
            <a:ext cx="1950385" cy="1645920"/>
          </a:xfrm>
          <a:prstGeom prst="rect">
            <a:avLst/>
          </a:prstGeom>
        </p:spPr>
      </p:pic>
      <p:pic>
        <p:nvPicPr>
          <p:cNvPr id="101" name="Εικόνα 100"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2D0BDA06-513E-9862-4726-0D3C7AFF538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087577" y="5131753"/>
            <a:ext cx="1950382" cy="1645920"/>
          </a:xfrm>
          <a:prstGeom prst="rect">
            <a:avLst/>
          </a:prstGeom>
        </p:spPr>
      </p:pic>
      <p:pic>
        <p:nvPicPr>
          <p:cNvPr id="103" name="Εικόνα 102" descr="Εικόνα που περιέχει κείμενο, στιγμιότυπο οθόνης, γραμμή, γράφημα&#10;&#10;Περιγραφή που δημιουργήθηκε αυτόματα">
            <a:extLst>
              <a:ext uri="{FF2B5EF4-FFF2-40B4-BE49-F238E27FC236}">
                <a16:creationId xmlns:a16="http://schemas.microsoft.com/office/drawing/2014/main" id="{B6CB88BB-6B8F-09D3-74B6-DCAE476068C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827525" y="3823984"/>
            <a:ext cx="2879439" cy="2286000"/>
          </a:xfrm>
          <a:prstGeom prst="rect">
            <a:avLst/>
          </a:prstGeom>
        </p:spPr>
      </p:pic>
      <p:sp>
        <p:nvSpPr>
          <p:cNvPr id="108" name="Βέλος: Δεξιό 107">
            <a:extLst>
              <a:ext uri="{FF2B5EF4-FFF2-40B4-BE49-F238E27FC236}">
                <a16:creationId xmlns:a16="http://schemas.microsoft.com/office/drawing/2014/main" id="{E3BEAE2A-A9F7-D5EF-AD06-CED8AAA84FF1}"/>
              </a:ext>
            </a:extLst>
          </p:cNvPr>
          <p:cNvSpPr/>
          <p:nvPr/>
        </p:nvSpPr>
        <p:spPr>
          <a:xfrm>
            <a:off x="4608212" y="1419257"/>
            <a:ext cx="500124" cy="342752"/>
          </a:xfrm>
          <a:prstGeom prst="rightArrow">
            <a:avLst/>
          </a:prstGeom>
          <a:gradFill>
            <a:gsLst>
              <a:gs pos="0">
                <a:schemeClr val="accent1">
                  <a:lumMod val="5000"/>
                  <a:lumOff val="95000"/>
                </a:schemeClr>
              </a:gs>
              <a:gs pos="43000">
                <a:schemeClr val="accent6">
                  <a:lumMod val="40000"/>
                  <a:lumOff val="60000"/>
                </a:schemeClr>
              </a:gs>
              <a:gs pos="68000">
                <a:schemeClr val="accent6">
                  <a:lumMod val="60000"/>
                  <a:lumOff val="40000"/>
                </a:schemeClr>
              </a:gs>
              <a:gs pos="100000">
                <a:schemeClr val="accent6">
                  <a:lumMod val="100000"/>
                </a:schemeClr>
              </a:gs>
            </a:gsLst>
            <a:lin ang="5400000" scaled="1"/>
          </a:gra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4" name="Ευθύγραμμο βέλος σύνδεσης 3">
            <a:extLst>
              <a:ext uri="{FF2B5EF4-FFF2-40B4-BE49-F238E27FC236}">
                <a16:creationId xmlns:a16="http://schemas.microsoft.com/office/drawing/2014/main" id="{3E32360E-E970-7F4D-2952-36F21E757393}"/>
              </a:ext>
            </a:extLst>
          </p:cNvPr>
          <p:cNvCxnSpPr>
            <a:endCxn id="59" idx="1"/>
          </p:cNvCxnSpPr>
          <p:nvPr/>
        </p:nvCxnSpPr>
        <p:spPr>
          <a:xfrm flipV="1">
            <a:off x="9089409" y="1576254"/>
            <a:ext cx="737594" cy="3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FF26B451-0138-2AF1-3A14-BE722CE3C73C}"/>
              </a:ext>
            </a:extLst>
          </p:cNvPr>
          <p:cNvSpPr txBox="1"/>
          <p:nvPr/>
        </p:nvSpPr>
        <p:spPr>
          <a:xfrm>
            <a:off x="9581026" y="660752"/>
            <a:ext cx="1481742" cy="369332"/>
          </a:xfrm>
          <a:prstGeom prst="rect">
            <a:avLst/>
          </a:prstGeom>
          <a:noFill/>
        </p:spPr>
        <p:txBody>
          <a:bodyPr wrap="square" rtlCol="0">
            <a:spAutoFit/>
          </a:bodyPr>
          <a:lstStyle/>
          <a:p>
            <a:pPr algn="ctr"/>
            <a:r>
              <a:rPr lang="en-US" sz="900" b="1" dirty="0"/>
              <a:t>Dropout</a:t>
            </a:r>
          </a:p>
          <a:p>
            <a:pPr algn="ctr"/>
            <a:r>
              <a:rPr lang="en-US" sz="900" b="1" dirty="0"/>
              <a:t>32%            20%</a:t>
            </a:r>
          </a:p>
        </p:txBody>
      </p:sp>
    </p:spTree>
    <p:extLst>
      <p:ext uri="{BB962C8B-B14F-4D97-AF65-F5344CB8AC3E}">
        <p14:creationId xmlns:p14="http://schemas.microsoft.com/office/powerpoint/2010/main" val="14056565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1000"/>
                                        <p:tgtEl>
                                          <p:spTgt spid="25"/>
                                        </p:tgtEl>
                                      </p:cBhvr>
                                    </p:animEffect>
                                    <p:anim calcmode="lin" valueType="num">
                                      <p:cBhvr>
                                        <p:cTn id="53" dur="1000" fill="hold"/>
                                        <p:tgtEl>
                                          <p:spTgt spid="25"/>
                                        </p:tgtEl>
                                        <p:attrNameLst>
                                          <p:attrName>ppt_x</p:attrName>
                                        </p:attrNameLst>
                                      </p:cBhvr>
                                      <p:tavLst>
                                        <p:tav tm="0">
                                          <p:val>
                                            <p:strVal val="#ppt_x"/>
                                          </p:val>
                                        </p:tav>
                                        <p:tav tm="100000">
                                          <p:val>
                                            <p:strVal val="#ppt_x"/>
                                          </p:val>
                                        </p:tav>
                                      </p:tavLst>
                                    </p:anim>
                                    <p:anim calcmode="lin" valueType="num">
                                      <p:cBhvr>
                                        <p:cTn id="54" dur="1000" fill="hold"/>
                                        <p:tgtEl>
                                          <p:spTgt spid="2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1000"/>
                                        <p:tgtEl>
                                          <p:spTgt spid="39"/>
                                        </p:tgtEl>
                                      </p:cBhvr>
                                    </p:animEffect>
                                    <p:anim calcmode="lin" valueType="num">
                                      <p:cBhvr>
                                        <p:cTn id="58" dur="1000" fill="hold"/>
                                        <p:tgtEl>
                                          <p:spTgt spid="39"/>
                                        </p:tgtEl>
                                        <p:attrNameLst>
                                          <p:attrName>ppt_x</p:attrName>
                                        </p:attrNameLst>
                                      </p:cBhvr>
                                      <p:tavLst>
                                        <p:tav tm="0">
                                          <p:val>
                                            <p:strVal val="#ppt_x"/>
                                          </p:val>
                                        </p:tav>
                                        <p:tav tm="100000">
                                          <p:val>
                                            <p:strVal val="#ppt_x"/>
                                          </p:val>
                                        </p:tav>
                                      </p:tavLst>
                                    </p:anim>
                                    <p:anim calcmode="lin" valueType="num">
                                      <p:cBhvr>
                                        <p:cTn id="59" dur="1000" fill="hold"/>
                                        <p:tgtEl>
                                          <p:spTgt spid="3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1000"/>
                                        <p:tgtEl>
                                          <p:spTgt spid="40"/>
                                        </p:tgtEl>
                                      </p:cBhvr>
                                    </p:animEffect>
                                    <p:anim calcmode="lin" valueType="num">
                                      <p:cBhvr>
                                        <p:cTn id="63" dur="1000" fill="hold"/>
                                        <p:tgtEl>
                                          <p:spTgt spid="40"/>
                                        </p:tgtEl>
                                        <p:attrNameLst>
                                          <p:attrName>ppt_x</p:attrName>
                                        </p:attrNameLst>
                                      </p:cBhvr>
                                      <p:tavLst>
                                        <p:tav tm="0">
                                          <p:val>
                                            <p:strVal val="#ppt_x"/>
                                          </p:val>
                                        </p:tav>
                                        <p:tav tm="100000">
                                          <p:val>
                                            <p:strVal val="#ppt_x"/>
                                          </p:val>
                                        </p:tav>
                                      </p:tavLst>
                                    </p:anim>
                                    <p:anim calcmode="lin" valueType="num">
                                      <p:cBhvr>
                                        <p:cTn id="64" dur="1000" fill="hold"/>
                                        <p:tgtEl>
                                          <p:spTgt spid="40"/>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1000"/>
                                        <p:tgtEl>
                                          <p:spTgt spid="42"/>
                                        </p:tgtEl>
                                      </p:cBhvr>
                                    </p:animEffect>
                                    <p:anim calcmode="lin" valueType="num">
                                      <p:cBhvr>
                                        <p:cTn id="68" dur="1000" fill="hold"/>
                                        <p:tgtEl>
                                          <p:spTgt spid="42"/>
                                        </p:tgtEl>
                                        <p:attrNameLst>
                                          <p:attrName>ppt_x</p:attrName>
                                        </p:attrNameLst>
                                      </p:cBhvr>
                                      <p:tavLst>
                                        <p:tav tm="0">
                                          <p:val>
                                            <p:strVal val="#ppt_x"/>
                                          </p:val>
                                        </p:tav>
                                        <p:tav tm="100000">
                                          <p:val>
                                            <p:strVal val="#ppt_x"/>
                                          </p:val>
                                        </p:tav>
                                      </p:tavLst>
                                    </p:anim>
                                    <p:anim calcmode="lin" valueType="num">
                                      <p:cBhvr>
                                        <p:cTn id="69" dur="1000" fill="hold"/>
                                        <p:tgtEl>
                                          <p:spTgt spid="42"/>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1000"/>
                                        <p:tgtEl>
                                          <p:spTgt spid="44"/>
                                        </p:tgtEl>
                                      </p:cBhvr>
                                    </p:animEffect>
                                    <p:anim calcmode="lin" valueType="num">
                                      <p:cBhvr>
                                        <p:cTn id="73" dur="1000" fill="hold"/>
                                        <p:tgtEl>
                                          <p:spTgt spid="44"/>
                                        </p:tgtEl>
                                        <p:attrNameLst>
                                          <p:attrName>ppt_x</p:attrName>
                                        </p:attrNameLst>
                                      </p:cBhvr>
                                      <p:tavLst>
                                        <p:tav tm="0">
                                          <p:val>
                                            <p:strVal val="#ppt_x"/>
                                          </p:val>
                                        </p:tav>
                                        <p:tav tm="100000">
                                          <p:val>
                                            <p:strVal val="#ppt_x"/>
                                          </p:val>
                                        </p:tav>
                                      </p:tavLst>
                                    </p:anim>
                                    <p:anim calcmode="lin" valueType="num">
                                      <p:cBhvr>
                                        <p:cTn id="74" dur="1000" fill="hold"/>
                                        <p:tgtEl>
                                          <p:spTgt spid="44"/>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1000"/>
                                        <p:tgtEl>
                                          <p:spTgt spid="52"/>
                                        </p:tgtEl>
                                      </p:cBhvr>
                                    </p:animEffect>
                                    <p:anim calcmode="lin" valueType="num">
                                      <p:cBhvr>
                                        <p:cTn id="78" dur="1000" fill="hold"/>
                                        <p:tgtEl>
                                          <p:spTgt spid="52"/>
                                        </p:tgtEl>
                                        <p:attrNameLst>
                                          <p:attrName>ppt_x</p:attrName>
                                        </p:attrNameLst>
                                      </p:cBhvr>
                                      <p:tavLst>
                                        <p:tav tm="0">
                                          <p:val>
                                            <p:strVal val="#ppt_x"/>
                                          </p:val>
                                        </p:tav>
                                        <p:tav tm="100000">
                                          <p:val>
                                            <p:strVal val="#ppt_x"/>
                                          </p:val>
                                        </p:tav>
                                      </p:tavLst>
                                    </p:anim>
                                    <p:anim calcmode="lin" valueType="num">
                                      <p:cBhvr>
                                        <p:cTn id="79" dur="1000" fill="hold"/>
                                        <p:tgtEl>
                                          <p:spTgt spid="5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08"/>
                                        </p:tgtEl>
                                        <p:attrNameLst>
                                          <p:attrName>style.visibility</p:attrName>
                                        </p:attrNameLst>
                                      </p:cBhvr>
                                      <p:to>
                                        <p:strVal val="visible"/>
                                      </p:to>
                                    </p:set>
                                    <p:animEffect transition="in" filter="fade">
                                      <p:cBhvr>
                                        <p:cTn id="82" dur="1000"/>
                                        <p:tgtEl>
                                          <p:spTgt spid="108"/>
                                        </p:tgtEl>
                                      </p:cBhvr>
                                    </p:animEffect>
                                    <p:anim calcmode="lin" valueType="num">
                                      <p:cBhvr>
                                        <p:cTn id="83" dur="1000" fill="hold"/>
                                        <p:tgtEl>
                                          <p:spTgt spid="108"/>
                                        </p:tgtEl>
                                        <p:attrNameLst>
                                          <p:attrName>ppt_x</p:attrName>
                                        </p:attrNameLst>
                                      </p:cBhvr>
                                      <p:tavLst>
                                        <p:tav tm="0">
                                          <p:val>
                                            <p:strVal val="#ppt_x"/>
                                          </p:val>
                                        </p:tav>
                                        <p:tav tm="100000">
                                          <p:val>
                                            <p:strVal val="#ppt_x"/>
                                          </p:val>
                                        </p:tav>
                                      </p:tavLst>
                                    </p:anim>
                                    <p:anim calcmode="lin" valueType="num">
                                      <p:cBhvr>
                                        <p:cTn id="84" dur="1000" fill="hold"/>
                                        <p:tgtEl>
                                          <p:spTgt spid="10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1000"/>
                                        <p:tgtEl>
                                          <p:spTgt spid="50"/>
                                        </p:tgtEl>
                                      </p:cBhvr>
                                    </p:animEffect>
                                    <p:anim calcmode="lin" valueType="num">
                                      <p:cBhvr>
                                        <p:cTn id="88" dur="1000" fill="hold"/>
                                        <p:tgtEl>
                                          <p:spTgt spid="50"/>
                                        </p:tgtEl>
                                        <p:attrNameLst>
                                          <p:attrName>ppt_x</p:attrName>
                                        </p:attrNameLst>
                                      </p:cBhvr>
                                      <p:tavLst>
                                        <p:tav tm="0">
                                          <p:val>
                                            <p:strVal val="#ppt_x"/>
                                          </p:val>
                                        </p:tav>
                                        <p:tav tm="100000">
                                          <p:val>
                                            <p:strVal val="#ppt_x"/>
                                          </p:val>
                                        </p:tav>
                                      </p:tavLst>
                                    </p:anim>
                                    <p:anim calcmode="lin" valueType="num">
                                      <p:cBhvr>
                                        <p:cTn id="8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2" fill="hold" grpId="0" nodeType="clickEffect">
                                  <p:stCondLst>
                                    <p:cond delay="0"/>
                                  </p:stCondLst>
                                  <p:childTnLst>
                                    <p:set>
                                      <p:cBhvr>
                                        <p:cTn id="93" dur="1" fill="hold">
                                          <p:stCondLst>
                                            <p:cond delay="0"/>
                                          </p:stCondLst>
                                        </p:cTn>
                                        <p:tgtEl>
                                          <p:spTgt spid="53"/>
                                        </p:tgtEl>
                                        <p:attrNameLst>
                                          <p:attrName>style.visibility</p:attrName>
                                        </p:attrNameLst>
                                      </p:cBhvr>
                                      <p:to>
                                        <p:strVal val="visible"/>
                                      </p:to>
                                    </p:set>
                                    <p:anim calcmode="lin" valueType="num">
                                      <p:cBhvr additive="base">
                                        <p:cTn id="94" dur="500" fill="hold"/>
                                        <p:tgtEl>
                                          <p:spTgt spid="53"/>
                                        </p:tgtEl>
                                        <p:attrNameLst>
                                          <p:attrName>ppt_x</p:attrName>
                                        </p:attrNameLst>
                                      </p:cBhvr>
                                      <p:tavLst>
                                        <p:tav tm="0">
                                          <p:val>
                                            <p:strVal val="1+#ppt_w/2"/>
                                          </p:val>
                                        </p:tav>
                                        <p:tav tm="100000">
                                          <p:val>
                                            <p:strVal val="#ppt_x"/>
                                          </p:val>
                                        </p:tav>
                                      </p:tavLst>
                                    </p:anim>
                                    <p:anim calcmode="lin" valueType="num">
                                      <p:cBhvr additive="base">
                                        <p:cTn id="95" dur="500" fill="hold"/>
                                        <p:tgtEl>
                                          <p:spTgt spid="53"/>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0"/>
                                  </p:stCondLst>
                                  <p:childTnLst>
                                    <p:set>
                                      <p:cBhvr>
                                        <p:cTn id="97" dur="1" fill="hold">
                                          <p:stCondLst>
                                            <p:cond delay="0"/>
                                          </p:stCondLst>
                                        </p:cTn>
                                        <p:tgtEl>
                                          <p:spTgt spid="54"/>
                                        </p:tgtEl>
                                        <p:attrNameLst>
                                          <p:attrName>style.visibility</p:attrName>
                                        </p:attrNameLst>
                                      </p:cBhvr>
                                      <p:to>
                                        <p:strVal val="visible"/>
                                      </p:to>
                                    </p:set>
                                    <p:anim calcmode="lin" valueType="num">
                                      <p:cBhvr additive="base">
                                        <p:cTn id="98" dur="500" fill="hold"/>
                                        <p:tgtEl>
                                          <p:spTgt spid="54"/>
                                        </p:tgtEl>
                                        <p:attrNameLst>
                                          <p:attrName>ppt_x</p:attrName>
                                        </p:attrNameLst>
                                      </p:cBhvr>
                                      <p:tavLst>
                                        <p:tav tm="0">
                                          <p:val>
                                            <p:strVal val="1+#ppt_w/2"/>
                                          </p:val>
                                        </p:tav>
                                        <p:tav tm="100000">
                                          <p:val>
                                            <p:strVal val="#ppt_x"/>
                                          </p:val>
                                        </p:tav>
                                      </p:tavLst>
                                    </p:anim>
                                    <p:anim calcmode="lin" valueType="num">
                                      <p:cBhvr additive="base">
                                        <p:cTn id="99" dur="500" fill="hold"/>
                                        <p:tgtEl>
                                          <p:spTgt spid="54"/>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0"/>
                                  </p:stCondLst>
                                  <p:childTnLst>
                                    <p:set>
                                      <p:cBhvr>
                                        <p:cTn id="101" dur="1" fill="hold">
                                          <p:stCondLst>
                                            <p:cond delay="0"/>
                                          </p:stCondLst>
                                        </p:cTn>
                                        <p:tgtEl>
                                          <p:spTgt spid="55"/>
                                        </p:tgtEl>
                                        <p:attrNameLst>
                                          <p:attrName>style.visibility</p:attrName>
                                        </p:attrNameLst>
                                      </p:cBhvr>
                                      <p:to>
                                        <p:strVal val="visible"/>
                                      </p:to>
                                    </p:set>
                                    <p:anim calcmode="lin" valueType="num">
                                      <p:cBhvr additive="base">
                                        <p:cTn id="102" dur="500" fill="hold"/>
                                        <p:tgtEl>
                                          <p:spTgt spid="55"/>
                                        </p:tgtEl>
                                        <p:attrNameLst>
                                          <p:attrName>ppt_x</p:attrName>
                                        </p:attrNameLst>
                                      </p:cBhvr>
                                      <p:tavLst>
                                        <p:tav tm="0">
                                          <p:val>
                                            <p:strVal val="1+#ppt_w/2"/>
                                          </p:val>
                                        </p:tav>
                                        <p:tav tm="100000">
                                          <p:val>
                                            <p:strVal val="#ppt_x"/>
                                          </p:val>
                                        </p:tav>
                                      </p:tavLst>
                                    </p:anim>
                                    <p:anim calcmode="lin" valueType="num">
                                      <p:cBhvr additive="base">
                                        <p:cTn id="103" dur="500" fill="hold"/>
                                        <p:tgtEl>
                                          <p:spTgt spid="55"/>
                                        </p:tgtEl>
                                        <p:attrNameLst>
                                          <p:attrName>ppt_y</p:attrName>
                                        </p:attrNameLst>
                                      </p:cBhvr>
                                      <p:tavLst>
                                        <p:tav tm="0">
                                          <p:val>
                                            <p:strVal val="#ppt_y"/>
                                          </p:val>
                                        </p:tav>
                                        <p:tav tm="100000">
                                          <p:val>
                                            <p:strVal val="#ppt_y"/>
                                          </p:val>
                                        </p:tav>
                                      </p:tavLst>
                                    </p:anim>
                                  </p:childTnLst>
                                </p:cTn>
                              </p:par>
                              <p:par>
                                <p:cTn id="104" presetID="2" presetClass="entr" presetSubtype="2"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 calcmode="lin" valueType="num">
                                      <p:cBhvr additive="base">
                                        <p:cTn id="106" dur="500" fill="hold"/>
                                        <p:tgtEl>
                                          <p:spTgt spid="56"/>
                                        </p:tgtEl>
                                        <p:attrNameLst>
                                          <p:attrName>ppt_x</p:attrName>
                                        </p:attrNameLst>
                                      </p:cBhvr>
                                      <p:tavLst>
                                        <p:tav tm="0">
                                          <p:val>
                                            <p:strVal val="1+#ppt_w/2"/>
                                          </p:val>
                                        </p:tav>
                                        <p:tav tm="100000">
                                          <p:val>
                                            <p:strVal val="#ppt_x"/>
                                          </p:val>
                                        </p:tav>
                                      </p:tavLst>
                                    </p:anim>
                                    <p:anim calcmode="lin" valueType="num">
                                      <p:cBhvr additive="base">
                                        <p:cTn id="107" dur="500" fill="hold"/>
                                        <p:tgtEl>
                                          <p:spTgt spid="56"/>
                                        </p:tgtEl>
                                        <p:attrNameLst>
                                          <p:attrName>ppt_y</p:attrName>
                                        </p:attrNameLst>
                                      </p:cBhvr>
                                      <p:tavLst>
                                        <p:tav tm="0">
                                          <p:val>
                                            <p:strVal val="#ppt_y"/>
                                          </p:val>
                                        </p:tav>
                                        <p:tav tm="100000">
                                          <p:val>
                                            <p:strVal val="#ppt_y"/>
                                          </p:val>
                                        </p:tav>
                                      </p:tavLst>
                                    </p:anim>
                                  </p:childTnLst>
                                </p:cTn>
                              </p:par>
                              <p:par>
                                <p:cTn id="108" presetID="2" presetClass="entr" presetSubtype="2"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 calcmode="lin" valueType="num">
                                      <p:cBhvr additive="base">
                                        <p:cTn id="110" dur="500" fill="hold"/>
                                        <p:tgtEl>
                                          <p:spTgt spid="57"/>
                                        </p:tgtEl>
                                        <p:attrNameLst>
                                          <p:attrName>ppt_x</p:attrName>
                                        </p:attrNameLst>
                                      </p:cBhvr>
                                      <p:tavLst>
                                        <p:tav tm="0">
                                          <p:val>
                                            <p:strVal val="1+#ppt_w/2"/>
                                          </p:val>
                                        </p:tav>
                                        <p:tav tm="100000">
                                          <p:val>
                                            <p:strVal val="#ppt_x"/>
                                          </p:val>
                                        </p:tav>
                                      </p:tavLst>
                                    </p:anim>
                                    <p:anim calcmode="lin" valueType="num">
                                      <p:cBhvr additive="base">
                                        <p:cTn id="111" dur="500" fill="hold"/>
                                        <p:tgtEl>
                                          <p:spTgt spid="57"/>
                                        </p:tgtEl>
                                        <p:attrNameLst>
                                          <p:attrName>ppt_y</p:attrName>
                                        </p:attrNameLst>
                                      </p:cBhvr>
                                      <p:tavLst>
                                        <p:tav tm="0">
                                          <p:val>
                                            <p:strVal val="#ppt_y"/>
                                          </p:val>
                                        </p:tav>
                                        <p:tav tm="100000">
                                          <p:val>
                                            <p:strVal val="#ppt_y"/>
                                          </p:val>
                                        </p:tav>
                                      </p:tavLst>
                                    </p:anim>
                                  </p:childTnLst>
                                </p:cTn>
                              </p:par>
                              <p:par>
                                <p:cTn id="112" presetID="2" presetClass="entr" presetSubtype="2"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 calcmode="lin" valueType="num">
                                      <p:cBhvr additive="base">
                                        <p:cTn id="114" dur="500" fill="hold"/>
                                        <p:tgtEl>
                                          <p:spTgt spid="59"/>
                                        </p:tgtEl>
                                        <p:attrNameLst>
                                          <p:attrName>ppt_x</p:attrName>
                                        </p:attrNameLst>
                                      </p:cBhvr>
                                      <p:tavLst>
                                        <p:tav tm="0">
                                          <p:val>
                                            <p:strVal val="1+#ppt_w/2"/>
                                          </p:val>
                                        </p:tav>
                                        <p:tav tm="100000">
                                          <p:val>
                                            <p:strVal val="#ppt_x"/>
                                          </p:val>
                                        </p:tav>
                                      </p:tavLst>
                                    </p:anim>
                                    <p:anim calcmode="lin" valueType="num">
                                      <p:cBhvr additive="base">
                                        <p:cTn id="115" dur="500" fill="hold"/>
                                        <p:tgtEl>
                                          <p:spTgt spid="59"/>
                                        </p:tgtEl>
                                        <p:attrNameLst>
                                          <p:attrName>ppt_y</p:attrName>
                                        </p:attrNameLst>
                                      </p:cBhvr>
                                      <p:tavLst>
                                        <p:tav tm="0">
                                          <p:val>
                                            <p:strVal val="#ppt_y"/>
                                          </p:val>
                                        </p:tav>
                                        <p:tav tm="100000">
                                          <p:val>
                                            <p:strVal val="#ppt_y"/>
                                          </p:val>
                                        </p:tav>
                                      </p:tavLst>
                                    </p:anim>
                                  </p:childTnLst>
                                </p:cTn>
                              </p:par>
                              <p:par>
                                <p:cTn id="116" presetID="2" presetClass="entr" presetSubtype="2" fill="hold" grpId="0" nodeType="withEffect">
                                  <p:stCondLst>
                                    <p:cond delay="0"/>
                                  </p:stCondLst>
                                  <p:childTnLst>
                                    <p:set>
                                      <p:cBhvr>
                                        <p:cTn id="117" dur="1" fill="hold">
                                          <p:stCondLst>
                                            <p:cond delay="0"/>
                                          </p:stCondLst>
                                        </p:cTn>
                                        <p:tgtEl>
                                          <p:spTgt spid="60"/>
                                        </p:tgtEl>
                                        <p:attrNameLst>
                                          <p:attrName>style.visibility</p:attrName>
                                        </p:attrNameLst>
                                      </p:cBhvr>
                                      <p:to>
                                        <p:strVal val="visible"/>
                                      </p:to>
                                    </p:set>
                                    <p:anim calcmode="lin" valueType="num">
                                      <p:cBhvr additive="base">
                                        <p:cTn id="118" dur="500" fill="hold"/>
                                        <p:tgtEl>
                                          <p:spTgt spid="60"/>
                                        </p:tgtEl>
                                        <p:attrNameLst>
                                          <p:attrName>ppt_x</p:attrName>
                                        </p:attrNameLst>
                                      </p:cBhvr>
                                      <p:tavLst>
                                        <p:tav tm="0">
                                          <p:val>
                                            <p:strVal val="1+#ppt_w/2"/>
                                          </p:val>
                                        </p:tav>
                                        <p:tav tm="100000">
                                          <p:val>
                                            <p:strVal val="#ppt_x"/>
                                          </p:val>
                                        </p:tav>
                                      </p:tavLst>
                                    </p:anim>
                                    <p:anim calcmode="lin" valueType="num">
                                      <p:cBhvr additive="base">
                                        <p:cTn id="119" dur="500" fill="hold"/>
                                        <p:tgtEl>
                                          <p:spTgt spid="60"/>
                                        </p:tgtEl>
                                        <p:attrNameLst>
                                          <p:attrName>ppt_y</p:attrName>
                                        </p:attrNameLst>
                                      </p:cBhvr>
                                      <p:tavLst>
                                        <p:tav tm="0">
                                          <p:val>
                                            <p:strVal val="#ppt_y"/>
                                          </p:val>
                                        </p:tav>
                                        <p:tav tm="100000">
                                          <p:val>
                                            <p:strVal val="#ppt_y"/>
                                          </p:val>
                                        </p:tav>
                                      </p:tavLst>
                                    </p:anim>
                                  </p:childTnLst>
                                </p:cTn>
                              </p:par>
                              <p:par>
                                <p:cTn id="120" presetID="2" presetClass="entr" presetSubtype="2" fill="hold" nodeType="withEffect">
                                  <p:stCondLst>
                                    <p:cond delay="0"/>
                                  </p:stCondLst>
                                  <p:childTnLst>
                                    <p:set>
                                      <p:cBhvr>
                                        <p:cTn id="121" dur="1" fill="hold">
                                          <p:stCondLst>
                                            <p:cond delay="0"/>
                                          </p:stCondLst>
                                        </p:cTn>
                                        <p:tgtEl>
                                          <p:spTgt spid="61"/>
                                        </p:tgtEl>
                                        <p:attrNameLst>
                                          <p:attrName>style.visibility</p:attrName>
                                        </p:attrNameLst>
                                      </p:cBhvr>
                                      <p:to>
                                        <p:strVal val="visible"/>
                                      </p:to>
                                    </p:set>
                                    <p:anim calcmode="lin" valueType="num">
                                      <p:cBhvr additive="base">
                                        <p:cTn id="122" dur="500" fill="hold"/>
                                        <p:tgtEl>
                                          <p:spTgt spid="61"/>
                                        </p:tgtEl>
                                        <p:attrNameLst>
                                          <p:attrName>ppt_x</p:attrName>
                                        </p:attrNameLst>
                                      </p:cBhvr>
                                      <p:tavLst>
                                        <p:tav tm="0">
                                          <p:val>
                                            <p:strVal val="1+#ppt_w/2"/>
                                          </p:val>
                                        </p:tav>
                                        <p:tav tm="100000">
                                          <p:val>
                                            <p:strVal val="#ppt_x"/>
                                          </p:val>
                                        </p:tav>
                                      </p:tavLst>
                                    </p:anim>
                                    <p:anim calcmode="lin" valueType="num">
                                      <p:cBhvr additive="base">
                                        <p:cTn id="123" dur="500" fill="hold"/>
                                        <p:tgtEl>
                                          <p:spTgt spid="61"/>
                                        </p:tgtEl>
                                        <p:attrNameLst>
                                          <p:attrName>ppt_y</p:attrName>
                                        </p:attrNameLst>
                                      </p:cBhvr>
                                      <p:tavLst>
                                        <p:tav tm="0">
                                          <p:val>
                                            <p:strVal val="#ppt_y"/>
                                          </p:val>
                                        </p:tav>
                                        <p:tav tm="100000">
                                          <p:val>
                                            <p:strVal val="#ppt_y"/>
                                          </p:val>
                                        </p:tav>
                                      </p:tavLst>
                                    </p:anim>
                                  </p:childTnLst>
                                </p:cTn>
                              </p:par>
                              <p:par>
                                <p:cTn id="124" presetID="2" presetClass="entr" presetSubtype="2" fill="hold" grpId="0" nodeType="withEffect">
                                  <p:stCondLst>
                                    <p:cond delay="0"/>
                                  </p:stCondLst>
                                  <p:childTnLst>
                                    <p:set>
                                      <p:cBhvr>
                                        <p:cTn id="125" dur="1" fill="hold">
                                          <p:stCondLst>
                                            <p:cond delay="0"/>
                                          </p:stCondLst>
                                        </p:cTn>
                                        <p:tgtEl>
                                          <p:spTgt spid="67"/>
                                        </p:tgtEl>
                                        <p:attrNameLst>
                                          <p:attrName>style.visibility</p:attrName>
                                        </p:attrNameLst>
                                      </p:cBhvr>
                                      <p:to>
                                        <p:strVal val="visible"/>
                                      </p:to>
                                    </p:set>
                                    <p:anim calcmode="lin" valueType="num">
                                      <p:cBhvr additive="base">
                                        <p:cTn id="126" dur="500" fill="hold"/>
                                        <p:tgtEl>
                                          <p:spTgt spid="67"/>
                                        </p:tgtEl>
                                        <p:attrNameLst>
                                          <p:attrName>ppt_x</p:attrName>
                                        </p:attrNameLst>
                                      </p:cBhvr>
                                      <p:tavLst>
                                        <p:tav tm="0">
                                          <p:val>
                                            <p:strVal val="1+#ppt_w/2"/>
                                          </p:val>
                                        </p:tav>
                                        <p:tav tm="100000">
                                          <p:val>
                                            <p:strVal val="#ppt_x"/>
                                          </p:val>
                                        </p:tav>
                                      </p:tavLst>
                                    </p:anim>
                                    <p:anim calcmode="lin" valueType="num">
                                      <p:cBhvr additive="base">
                                        <p:cTn id="127" dur="500" fill="hold"/>
                                        <p:tgtEl>
                                          <p:spTgt spid="67"/>
                                        </p:tgtEl>
                                        <p:attrNameLst>
                                          <p:attrName>ppt_y</p:attrName>
                                        </p:attrNameLst>
                                      </p:cBhvr>
                                      <p:tavLst>
                                        <p:tav tm="0">
                                          <p:val>
                                            <p:strVal val="#ppt_y"/>
                                          </p:val>
                                        </p:tav>
                                        <p:tav tm="100000">
                                          <p:val>
                                            <p:strVal val="#ppt_y"/>
                                          </p:val>
                                        </p:tav>
                                      </p:tavLst>
                                    </p:anim>
                                  </p:childTnLst>
                                </p:cTn>
                              </p:par>
                              <p:par>
                                <p:cTn id="128" presetID="2" presetClass="entr" presetSubtype="2" fill="hold" grpId="0" nodeType="withEffect">
                                  <p:stCondLst>
                                    <p:cond delay="0"/>
                                  </p:stCondLst>
                                  <p:childTnLst>
                                    <p:set>
                                      <p:cBhvr>
                                        <p:cTn id="129" dur="1" fill="hold">
                                          <p:stCondLst>
                                            <p:cond delay="0"/>
                                          </p:stCondLst>
                                        </p:cTn>
                                        <p:tgtEl>
                                          <p:spTgt spid="69"/>
                                        </p:tgtEl>
                                        <p:attrNameLst>
                                          <p:attrName>style.visibility</p:attrName>
                                        </p:attrNameLst>
                                      </p:cBhvr>
                                      <p:to>
                                        <p:strVal val="visible"/>
                                      </p:to>
                                    </p:set>
                                    <p:anim calcmode="lin" valueType="num">
                                      <p:cBhvr additive="base">
                                        <p:cTn id="130" dur="500" fill="hold"/>
                                        <p:tgtEl>
                                          <p:spTgt spid="69"/>
                                        </p:tgtEl>
                                        <p:attrNameLst>
                                          <p:attrName>ppt_x</p:attrName>
                                        </p:attrNameLst>
                                      </p:cBhvr>
                                      <p:tavLst>
                                        <p:tav tm="0">
                                          <p:val>
                                            <p:strVal val="1+#ppt_w/2"/>
                                          </p:val>
                                        </p:tav>
                                        <p:tav tm="100000">
                                          <p:val>
                                            <p:strVal val="#ppt_x"/>
                                          </p:val>
                                        </p:tav>
                                      </p:tavLst>
                                    </p:anim>
                                    <p:anim calcmode="lin" valueType="num">
                                      <p:cBhvr additive="base">
                                        <p:cTn id="131" dur="500" fill="hold"/>
                                        <p:tgtEl>
                                          <p:spTgt spid="69"/>
                                        </p:tgtEl>
                                        <p:attrNameLst>
                                          <p:attrName>ppt_y</p:attrName>
                                        </p:attrNameLst>
                                      </p:cBhvr>
                                      <p:tavLst>
                                        <p:tav tm="0">
                                          <p:val>
                                            <p:strVal val="#ppt_y"/>
                                          </p:val>
                                        </p:tav>
                                        <p:tav tm="100000">
                                          <p:val>
                                            <p:strVal val="#ppt_y"/>
                                          </p:val>
                                        </p:tav>
                                      </p:tavLst>
                                    </p:anim>
                                  </p:childTnLst>
                                </p:cTn>
                              </p:par>
                              <p:par>
                                <p:cTn id="132" presetID="2" presetClass="entr" presetSubtype="2" fill="hold" nodeType="withEffect">
                                  <p:stCondLst>
                                    <p:cond delay="0"/>
                                  </p:stCondLst>
                                  <p:childTnLst>
                                    <p:set>
                                      <p:cBhvr>
                                        <p:cTn id="133" dur="1" fill="hold">
                                          <p:stCondLst>
                                            <p:cond delay="0"/>
                                          </p:stCondLst>
                                        </p:cTn>
                                        <p:tgtEl>
                                          <p:spTgt spid="75"/>
                                        </p:tgtEl>
                                        <p:attrNameLst>
                                          <p:attrName>style.visibility</p:attrName>
                                        </p:attrNameLst>
                                      </p:cBhvr>
                                      <p:to>
                                        <p:strVal val="visible"/>
                                      </p:to>
                                    </p:set>
                                    <p:anim calcmode="lin" valueType="num">
                                      <p:cBhvr additive="base">
                                        <p:cTn id="134" dur="500" fill="hold"/>
                                        <p:tgtEl>
                                          <p:spTgt spid="75"/>
                                        </p:tgtEl>
                                        <p:attrNameLst>
                                          <p:attrName>ppt_x</p:attrName>
                                        </p:attrNameLst>
                                      </p:cBhvr>
                                      <p:tavLst>
                                        <p:tav tm="0">
                                          <p:val>
                                            <p:strVal val="1+#ppt_w/2"/>
                                          </p:val>
                                        </p:tav>
                                        <p:tav tm="100000">
                                          <p:val>
                                            <p:strVal val="#ppt_x"/>
                                          </p:val>
                                        </p:tav>
                                      </p:tavLst>
                                    </p:anim>
                                    <p:anim calcmode="lin" valueType="num">
                                      <p:cBhvr additive="base">
                                        <p:cTn id="135" dur="500" fill="hold"/>
                                        <p:tgtEl>
                                          <p:spTgt spid="75"/>
                                        </p:tgtEl>
                                        <p:attrNameLst>
                                          <p:attrName>ppt_y</p:attrName>
                                        </p:attrNameLst>
                                      </p:cBhvr>
                                      <p:tavLst>
                                        <p:tav tm="0">
                                          <p:val>
                                            <p:strVal val="#ppt_y"/>
                                          </p:val>
                                        </p:tav>
                                        <p:tav tm="100000">
                                          <p:val>
                                            <p:strVal val="#ppt_y"/>
                                          </p:val>
                                        </p:tav>
                                      </p:tavLst>
                                    </p:anim>
                                  </p:childTnLst>
                                </p:cTn>
                              </p:par>
                              <p:par>
                                <p:cTn id="136" presetID="2" presetClass="entr" presetSubtype="2" fill="hold" grpId="0" nodeType="withEffect">
                                  <p:stCondLst>
                                    <p:cond delay="0"/>
                                  </p:stCondLst>
                                  <p:childTnLst>
                                    <p:set>
                                      <p:cBhvr>
                                        <p:cTn id="137" dur="1" fill="hold">
                                          <p:stCondLst>
                                            <p:cond delay="0"/>
                                          </p:stCondLst>
                                        </p:cTn>
                                        <p:tgtEl>
                                          <p:spTgt spid="79"/>
                                        </p:tgtEl>
                                        <p:attrNameLst>
                                          <p:attrName>style.visibility</p:attrName>
                                        </p:attrNameLst>
                                      </p:cBhvr>
                                      <p:to>
                                        <p:strVal val="visible"/>
                                      </p:to>
                                    </p:set>
                                    <p:anim calcmode="lin" valueType="num">
                                      <p:cBhvr additive="base">
                                        <p:cTn id="138" dur="500" fill="hold"/>
                                        <p:tgtEl>
                                          <p:spTgt spid="79"/>
                                        </p:tgtEl>
                                        <p:attrNameLst>
                                          <p:attrName>ppt_x</p:attrName>
                                        </p:attrNameLst>
                                      </p:cBhvr>
                                      <p:tavLst>
                                        <p:tav tm="0">
                                          <p:val>
                                            <p:strVal val="1+#ppt_w/2"/>
                                          </p:val>
                                        </p:tav>
                                        <p:tav tm="100000">
                                          <p:val>
                                            <p:strVal val="#ppt_x"/>
                                          </p:val>
                                        </p:tav>
                                      </p:tavLst>
                                    </p:anim>
                                    <p:anim calcmode="lin" valueType="num">
                                      <p:cBhvr additive="base">
                                        <p:cTn id="139" dur="500" fill="hold"/>
                                        <p:tgtEl>
                                          <p:spTgt spid="79"/>
                                        </p:tgtEl>
                                        <p:attrNameLst>
                                          <p:attrName>ppt_y</p:attrName>
                                        </p:attrNameLst>
                                      </p:cBhvr>
                                      <p:tavLst>
                                        <p:tav tm="0">
                                          <p:val>
                                            <p:strVal val="#ppt_y"/>
                                          </p:val>
                                        </p:tav>
                                        <p:tav tm="100000">
                                          <p:val>
                                            <p:strVal val="#ppt_y"/>
                                          </p:val>
                                        </p:tav>
                                      </p:tavLst>
                                    </p:anim>
                                  </p:childTnLst>
                                </p:cTn>
                              </p:par>
                              <p:par>
                                <p:cTn id="140" presetID="2" presetClass="entr" presetSubtype="2" fill="hold" grpId="0" nodeType="withEffect">
                                  <p:stCondLst>
                                    <p:cond delay="0"/>
                                  </p:stCondLst>
                                  <p:childTnLst>
                                    <p:set>
                                      <p:cBhvr>
                                        <p:cTn id="141" dur="1" fill="hold">
                                          <p:stCondLst>
                                            <p:cond delay="0"/>
                                          </p:stCondLst>
                                        </p:cTn>
                                        <p:tgtEl>
                                          <p:spTgt spid="80"/>
                                        </p:tgtEl>
                                        <p:attrNameLst>
                                          <p:attrName>style.visibility</p:attrName>
                                        </p:attrNameLst>
                                      </p:cBhvr>
                                      <p:to>
                                        <p:strVal val="visible"/>
                                      </p:to>
                                    </p:set>
                                    <p:anim calcmode="lin" valueType="num">
                                      <p:cBhvr additive="base">
                                        <p:cTn id="142" dur="500" fill="hold"/>
                                        <p:tgtEl>
                                          <p:spTgt spid="80"/>
                                        </p:tgtEl>
                                        <p:attrNameLst>
                                          <p:attrName>ppt_x</p:attrName>
                                        </p:attrNameLst>
                                      </p:cBhvr>
                                      <p:tavLst>
                                        <p:tav tm="0">
                                          <p:val>
                                            <p:strVal val="1+#ppt_w/2"/>
                                          </p:val>
                                        </p:tav>
                                        <p:tav tm="100000">
                                          <p:val>
                                            <p:strVal val="#ppt_x"/>
                                          </p:val>
                                        </p:tav>
                                      </p:tavLst>
                                    </p:anim>
                                    <p:anim calcmode="lin" valueType="num">
                                      <p:cBhvr additive="base">
                                        <p:cTn id="143" dur="500" fill="hold"/>
                                        <p:tgtEl>
                                          <p:spTgt spid="80"/>
                                        </p:tgtEl>
                                        <p:attrNameLst>
                                          <p:attrName>ppt_y</p:attrName>
                                        </p:attrNameLst>
                                      </p:cBhvr>
                                      <p:tavLst>
                                        <p:tav tm="0">
                                          <p:val>
                                            <p:strVal val="#ppt_y"/>
                                          </p:val>
                                        </p:tav>
                                        <p:tav tm="100000">
                                          <p:val>
                                            <p:strVal val="#ppt_y"/>
                                          </p:val>
                                        </p:tav>
                                      </p:tavLst>
                                    </p:anim>
                                  </p:childTnLst>
                                </p:cTn>
                              </p:par>
                              <p:par>
                                <p:cTn id="144" presetID="2" presetClass="entr" presetSubtype="2" fill="hold" nodeType="withEffect">
                                  <p:stCondLst>
                                    <p:cond delay="0"/>
                                  </p:stCondLst>
                                  <p:childTnLst>
                                    <p:set>
                                      <p:cBhvr>
                                        <p:cTn id="145" dur="1" fill="hold">
                                          <p:stCondLst>
                                            <p:cond delay="0"/>
                                          </p:stCondLst>
                                        </p:cTn>
                                        <p:tgtEl>
                                          <p:spTgt spid="58"/>
                                        </p:tgtEl>
                                        <p:attrNameLst>
                                          <p:attrName>style.visibility</p:attrName>
                                        </p:attrNameLst>
                                      </p:cBhvr>
                                      <p:to>
                                        <p:strVal val="visible"/>
                                      </p:to>
                                    </p:set>
                                    <p:anim calcmode="lin" valueType="num">
                                      <p:cBhvr additive="base">
                                        <p:cTn id="146" dur="500" fill="hold"/>
                                        <p:tgtEl>
                                          <p:spTgt spid="58"/>
                                        </p:tgtEl>
                                        <p:attrNameLst>
                                          <p:attrName>ppt_x</p:attrName>
                                        </p:attrNameLst>
                                      </p:cBhvr>
                                      <p:tavLst>
                                        <p:tav tm="0">
                                          <p:val>
                                            <p:strVal val="1+#ppt_w/2"/>
                                          </p:val>
                                        </p:tav>
                                        <p:tav tm="100000">
                                          <p:val>
                                            <p:strVal val="#ppt_x"/>
                                          </p:val>
                                        </p:tav>
                                      </p:tavLst>
                                    </p:anim>
                                    <p:anim calcmode="lin" valueType="num">
                                      <p:cBhvr additive="base">
                                        <p:cTn id="147" dur="500" fill="hold"/>
                                        <p:tgtEl>
                                          <p:spTgt spid="58"/>
                                        </p:tgtEl>
                                        <p:attrNameLst>
                                          <p:attrName>ppt_y</p:attrName>
                                        </p:attrNameLst>
                                      </p:cBhvr>
                                      <p:tavLst>
                                        <p:tav tm="0">
                                          <p:val>
                                            <p:strVal val="#ppt_y"/>
                                          </p:val>
                                        </p:tav>
                                        <p:tav tm="100000">
                                          <p:val>
                                            <p:strVal val="#ppt_y"/>
                                          </p:val>
                                        </p:tav>
                                      </p:tavLst>
                                    </p:anim>
                                  </p:childTnLst>
                                </p:cTn>
                              </p:par>
                              <p:par>
                                <p:cTn id="148" presetID="2" presetClass="entr" presetSubtype="2" fill="hold" grpId="0" nodeType="withEffect">
                                  <p:stCondLst>
                                    <p:cond delay="0"/>
                                  </p:stCondLst>
                                  <p:childTnLst>
                                    <p:set>
                                      <p:cBhvr>
                                        <p:cTn id="149" dur="1" fill="hold">
                                          <p:stCondLst>
                                            <p:cond delay="0"/>
                                          </p:stCondLst>
                                        </p:cTn>
                                        <p:tgtEl>
                                          <p:spTgt spid="83"/>
                                        </p:tgtEl>
                                        <p:attrNameLst>
                                          <p:attrName>style.visibility</p:attrName>
                                        </p:attrNameLst>
                                      </p:cBhvr>
                                      <p:to>
                                        <p:strVal val="visible"/>
                                      </p:to>
                                    </p:set>
                                    <p:anim calcmode="lin" valueType="num">
                                      <p:cBhvr additive="base">
                                        <p:cTn id="150" dur="500" fill="hold"/>
                                        <p:tgtEl>
                                          <p:spTgt spid="83"/>
                                        </p:tgtEl>
                                        <p:attrNameLst>
                                          <p:attrName>ppt_x</p:attrName>
                                        </p:attrNameLst>
                                      </p:cBhvr>
                                      <p:tavLst>
                                        <p:tav tm="0">
                                          <p:val>
                                            <p:strVal val="1+#ppt_w/2"/>
                                          </p:val>
                                        </p:tav>
                                        <p:tav tm="100000">
                                          <p:val>
                                            <p:strVal val="#ppt_x"/>
                                          </p:val>
                                        </p:tav>
                                      </p:tavLst>
                                    </p:anim>
                                    <p:anim calcmode="lin" valueType="num">
                                      <p:cBhvr additive="base">
                                        <p:cTn id="151" dur="500" fill="hold"/>
                                        <p:tgtEl>
                                          <p:spTgt spid="83"/>
                                        </p:tgtEl>
                                        <p:attrNameLst>
                                          <p:attrName>ppt_y</p:attrName>
                                        </p:attrNameLst>
                                      </p:cBhvr>
                                      <p:tavLst>
                                        <p:tav tm="0">
                                          <p:val>
                                            <p:strVal val="#ppt_y"/>
                                          </p:val>
                                        </p:tav>
                                        <p:tav tm="100000">
                                          <p:val>
                                            <p:strVal val="#ppt_y"/>
                                          </p:val>
                                        </p:tav>
                                      </p:tavLst>
                                    </p:anim>
                                  </p:childTnLst>
                                </p:cTn>
                              </p:par>
                              <p:par>
                                <p:cTn id="152" presetID="2" presetClass="entr" presetSubtype="2" fill="hold" grpId="0" nodeType="withEffect">
                                  <p:stCondLst>
                                    <p:cond delay="0"/>
                                  </p:stCondLst>
                                  <p:childTnLst>
                                    <p:set>
                                      <p:cBhvr>
                                        <p:cTn id="153" dur="1" fill="hold">
                                          <p:stCondLst>
                                            <p:cond delay="0"/>
                                          </p:stCondLst>
                                        </p:cTn>
                                        <p:tgtEl>
                                          <p:spTgt spid="84"/>
                                        </p:tgtEl>
                                        <p:attrNameLst>
                                          <p:attrName>style.visibility</p:attrName>
                                        </p:attrNameLst>
                                      </p:cBhvr>
                                      <p:to>
                                        <p:strVal val="visible"/>
                                      </p:to>
                                    </p:set>
                                    <p:anim calcmode="lin" valueType="num">
                                      <p:cBhvr additive="base">
                                        <p:cTn id="154" dur="500" fill="hold"/>
                                        <p:tgtEl>
                                          <p:spTgt spid="84"/>
                                        </p:tgtEl>
                                        <p:attrNameLst>
                                          <p:attrName>ppt_x</p:attrName>
                                        </p:attrNameLst>
                                      </p:cBhvr>
                                      <p:tavLst>
                                        <p:tav tm="0">
                                          <p:val>
                                            <p:strVal val="1+#ppt_w/2"/>
                                          </p:val>
                                        </p:tav>
                                        <p:tav tm="100000">
                                          <p:val>
                                            <p:strVal val="#ppt_x"/>
                                          </p:val>
                                        </p:tav>
                                      </p:tavLst>
                                    </p:anim>
                                    <p:anim calcmode="lin" valueType="num">
                                      <p:cBhvr additive="base">
                                        <p:cTn id="155" dur="500" fill="hold"/>
                                        <p:tgtEl>
                                          <p:spTgt spid="84"/>
                                        </p:tgtEl>
                                        <p:attrNameLst>
                                          <p:attrName>ppt_y</p:attrName>
                                        </p:attrNameLst>
                                      </p:cBhvr>
                                      <p:tavLst>
                                        <p:tav tm="0">
                                          <p:val>
                                            <p:strVal val="#ppt_y"/>
                                          </p:val>
                                        </p:tav>
                                        <p:tav tm="100000">
                                          <p:val>
                                            <p:strVal val="#ppt_y"/>
                                          </p:val>
                                        </p:tav>
                                      </p:tavLst>
                                    </p:anim>
                                  </p:childTnLst>
                                </p:cTn>
                              </p:par>
                              <p:par>
                                <p:cTn id="156" presetID="2" presetClass="entr" presetSubtype="2" fill="hold" grpId="0" nodeType="withEffect">
                                  <p:stCondLst>
                                    <p:cond delay="0"/>
                                  </p:stCondLst>
                                  <p:childTnLst>
                                    <p:set>
                                      <p:cBhvr>
                                        <p:cTn id="157" dur="1" fill="hold">
                                          <p:stCondLst>
                                            <p:cond delay="0"/>
                                          </p:stCondLst>
                                        </p:cTn>
                                        <p:tgtEl>
                                          <p:spTgt spid="85"/>
                                        </p:tgtEl>
                                        <p:attrNameLst>
                                          <p:attrName>style.visibility</p:attrName>
                                        </p:attrNameLst>
                                      </p:cBhvr>
                                      <p:to>
                                        <p:strVal val="visible"/>
                                      </p:to>
                                    </p:set>
                                    <p:anim calcmode="lin" valueType="num">
                                      <p:cBhvr additive="base">
                                        <p:cTn id="158" dur="500" fill="hold"/>
                                        <p:tgtEl>
                                          <p:spTgt spid="85"/>
                                        </p:tgtEl>
                                        <p:attrNameLst>
                                          <p:attrName>ppt_x</p:attrName>
                                        </p:attrNameLst>
                                      </p:cBhvr>
                                      <p:tavLst>
                                        <p:tav tm="0">
                                          <p:val>
                                            <p:strVal val="1+#ppt_w/2"/>
                                          </p:val>
                                        </p:tav>
                                        <p:tav tm="100000">
                                          <p:val>
                                            <p:strVal val="#ppt_x"/>
                                          </p:val>
                                        </p:tav>
                                      </p:tavLst>
                                    </p:anim>
                                    <p:anim calcmode="lin" valueType="num">
                                      <p:cBhvr additive="base">
                                        <p:cTn id="159" dur="500" fill="hold"/>
                                        <p:tgtEl>
                                          <p:spTgt spid="85"/>
                                        </p:tgtEl>
                                        <p:attrNameLst>
                                          <p:attrName>ppt_y</p:attrName>
                                        </p:attrNameLst>
                                      </p:cBhvr>
                                      <p:tavLst>
                                        <p:tav tm="0">
                                          <p:val>
                                            <p:strVal val="#ppt_y"/>
                                          </p:val>
                                        </p:tav>
                                        <p:tav tm="100000">
                                          <p:val>
                                            <p:strVal val="#ppt_y"/>
                                          </p:val>
                                        </p:tav>
                                      </p:tavLst>
                                    </p:anim>
                                  </p:childTnLst>
                                </p:cTn>
                              </p:par>
                              <p:par>
                                <p:cTn id="160" presetID="2" presetClass="entr" presetSubtype="2" fill="hold" grpId="0" nodeType="withEffect">
                                  <p:stCondLst>
                                    <p:cond delay="0"/>
                                  </p:stCondLst>
                                  <p:childTnLst>
                                    <p:set>
                                      <p:cBhvr>
                                        <p:cTn id="161" dur="1" fill="hold">
                                          <p:stCondLst>
                                            <p:cond delay="0"/>
                                          </p:stCondLst>
                                        </p:cTn>
                                        <p:tgtEl>
                                          <p:spTgt spid="86"/>
                                        </p:tgtEl>
                                        <p:attrNameLst>
                                          <p:attrName>style.visibility</p:attrName>
                                        </p:attrNameLst>
                                      </p:cBhvr>
                                      <p:to>
                                        <p:strVal val="visible"/>
                                      </p:to>
                                    </p:set>
                                    <p:anim calcmode="lin" valueType="num">
                                      <p:cBhvr additive="base">
                                        <p:cTn id="162" dur="500" fill="hold"/>
                                        <p:tgtEl>
                                          <p:spTgt spid="86"/>
                                        </p:tgtEl>
                                        <p:attrNameLst>
                                          <p:attrName>ppt_x</p:attrName>
                                        </p:attrNameLst>
                                      </p:cBhvr>
                                      <p:tavLst>
                                        <p:tav tm="0">
                                          <p:val>
                                            <p:strVal val="1+#ppt_w/2"/>
                                          </p:val>
                                        </p:tav>
                                        <p:tav tm="100000">
                                          <p:val>
                                            <p:strVal val="#ppt_x"/>
                                          </p:val>
                                        </p:tav>
                                      </p:tavLst>
                                    </p:anim>
                                    <p:anim calcmode="lin" valueType="num">
                                      <p:cBhvr additive="base">
                                        <p:cTn id="163" dur="500" fill="hold"/>
                                        <p:tgtEl>
                                          <p:spTgt spid="86"/>
                                        </p:tgtEl>
                                        <p:attrNameLst>
                                          <p:attrName>ppt_y</p:attrName>
                                        </p:attrNameLst>
                                      </p:cBhvr>
                                      <p:tavLst>
                                        <p:tav tm="0">
                                          <p:val>
                                            <p:strVal val="#ppt_y"/>
                                          </p:val>
                                        </p:tav>
                                        <p:tav tm="100000">
                                          <p:val>
                                            <p:strVal val="#ppt_y"/>
                                          </p:val>
                                        </p:tav>
                                      </p:tavLst>
                                    </p:anim>
                                  </p:childTnLst>
                                </p:cTn>
                              </p:par>
                              <p:par>
                                <p:cTn id="164" presetID="2" presetClass="entr" presetSubtype="2" fill="hold" grpId="0" nodeType="withEffect">
                                  <p:stCondLst>
                                    <p:cond delay="0"/>
                                  </p:stCondLst>
                                  <p:childTnLst>
                                    <p:set>
                                      <p:cBhvr>
                                        <p:cTn id="165" dur="1" fill="hold">
                                          <p:stCondLst>
                                            <p:cond delay="0"/>
                                          </p:stCondLst>
                                        </p:cTn>
                                        <p:tgtEl>
                                          <p:spTgt spid="87"/>
                                        </p:tgtEl>
                                        <p:attrNameLst>
                                          <p:attrName>style.visibility</p:attrName>
                                        </p:attrNameLst>
                                      </p:cBhvr>
                                      <p:to>
                                        <p:strVal val="visible"/>
                                      </p:to>
                                    </p:set>
                                    <p:anim calcmode="lin" valueType="num">
                                      <p:cBhvr additive="base">
                                        <p:cTn id="166" dur="500" fill="hold"/>
                                        <p:tgtEl>
                                          <p:spTgt spid="87"/>
                                        </p:tgtEl>
                                        <p:attrNameLst>
                                          <p:attrName>ppt_x</p:attrName>
                                        </p:attrNameLst>
                                      </p:cBhvr>
                                      <p:tavLst>
                                        <p:tav tm="0">
                                          <p:val>
                                            <p:strVal val="1+#ppt_w/2"/>
                                          </p:val>
                                        </p:tav>
                                        <p:tav tm="100000">
                                          <p:val>
                                            <p:strVal val="#ppt_x"/>
                                          </p:val>
                                        </p:tav>
                                      </p:tavLst>
                                    </p:anim>
                                    <p:anim calcmode="lin" valueType="num">
                                      <p:cBhvr additive="base">
                                        <p:cTn id="167" dur="500" fill="hold"/>
                                        <p:tgtEl>
                                          <p:spTgt spid="87"/>
                                        </p:tgtEl>
                                        <p:attrNameLst>
                                          <p:attrName>ppt_y</p:attrName>
                                        </p:attrNameLst>
                                      </p:cBhvr>
                                      <p:tavLst>
                                        <p:tav tm="0">
                                          <p:val>
                                            <p:strVal val="#ppt_y"/>
                                          </p:val>
                                        </p:tav>
                                        <p:tav tm="100000">
                                          <p:val>
                                            <p:strVal val="#ppt_y"/>
                                          </p:val>
                                        </p:tav>
                                      </p:tavLst>
                                    </p:anim>
                                  </p:childTnLst>
                                </p:cTn>
                              </p:par>
                              <p:par>
                                <p:cTn id="168" presetID="2" presetClass="entr" presetSubtype="2" fill="hold" grpId="0" nodeType="withEffect">
                                  <p:stCondLst>
                                    <p:cond delay="0"/>
                                  </p:stCondLst>
                                  <p:childTnLst>
                                    <p:set>
                                      <p:cBhvr>
                                        <p:cTn id="169" dur="1" fill="hold">
                                          <p:stCondLst>
                                            <p:cond delay="0"/>
                                          </p:stCondLst>
                                        </p:cTn>
                                        <p:tgtEl>
                                          <p:spTgt spid="88"/>
                                        </p:tgtEl>
                                        <p:attrNameLst>
                                          <p:attrName>style.visibility</p:attrName>
                                        </p:attrNameLst>
                                      </p:cBhvr>
                                      <p:to>
                                        <p:strVal val="visible"/>
                                      </p:to>
                                    </p:set>
                                    <p:anim calcmode="lin" valueType="num">
                                      <p:cBhvr additive="base">
                                        <p:cTn id="170" dur="500" fill="hold"/>
                                        <p:tgtEl>
                                          <p:spTgt spid="88"/>
                                        </p:tgtEl>
                                        <p:attrNameLst>
                                          <p:attrName>ppt_x</p:attrName>
                                        </p:attrNameLst>
                                      </p:cBhvr>
                                      <p:tavLst>
                                        <p:tav tm="0">
                                          <p:val>
                                            <p:strVal val="1+#ppt_w/2"/>
                                          </p:val>
                                        </p:tav>
                                        <p:tav tm="100000">
                                          <p:val>
                                            <p:strVal val="#ppt_x"/>
                                          </p:val>
                                        </p:tav>
                                      </p:tavLst>
                                    </p:anim>
                                    <p:anim calcmode="lin" valueType="num">
                                      <p:cBhvr additive="base">
                                        <p:cTn id="171" dur="500" fill="hold"/>
                                        <p:tgtEl>
                                          <p:spTgt spid="88"/>
                                        </p:tgtEl>
                                        <p:attrNameLst>
                                          <p:attrName>ppt_y</p:attrName>
                                        </p:attrNameLst>
                                      </p:cBhvr>
                                      <p:tavLst>
                                        <p:tav tm="0">
                                          <p:val>
                                            <p:strVal val="#ppt_y"/>
                                          </p:val>
                                        </p:tav>
                                        <p:tav tm="100000">
                                          <p:val>
                                            <p:strVal val="#ppt_y"/>
                                          </p:val>
                                        </p:tav>
                                      </p:tavLst>
                                    </p:anim>
                                  </p:childTnLst>
                                </p:cTn>
                              </p:par>
                              <p:par>
                                <p:cTn id="172" presetID="2" presetClass="entr" presetSubtype="2" fill="hold" grpId="0" nodeType="withEffect">
                                  <p:stCondLst>
                                    <p:cond delay="0"/>
                                  </p:stCondLst>
                                  <p:childTnLst>
                                    <p:set>
                                      <p:cBhvr>
                                        <p:cTn id="173" dur="1" fill="hold">
                                          <p:stCondLst>
                                            <p:cond delay="0"/>
                                          </p:stCondLst>
                                        </p:cTn>
                                        <p:tgtEl>
                                          <p:spTgt spid="89"/>
                                        </p:tgtEl>
                                        <p:attrNameLst>
                                          <p:attrName>style.visibility</p:attrName>
                                        </p:attrNameLst>
                                      </p:cBhvr>
                                      <p:to>
                                        <p:strVal val="visible"/>
                                      </p:to>
                                    </p:set>
                                    <p:anim calcmode="lin" valueType="num">
                                      <p:cBhvr additive="base">
                                        <p:cTn id="174" dur="500" fill="hold"/>
                                        <p:tgtEl>
                                          <p:spTgt spid="89"/>
                                        </p:tgtEl>
                                        <p:attrNameLst>
                                          <p:attrName>ppt_x</p:attrName>
                                        </p:attrNameLst>
                                      </p:cBhvr>
                                      <p:tavLst>
                                        <p:tav tm="0">
                                          <p:val>
                                            <p:strVal val="1+#ppt_w/2"/>
                                          </p:val>
                                        </p:tav>
                                        <p:tav tm="100000">
                                          <p:val>
                                            <p:strVal val="#ppt_x"/>
                                          </p:val>
                                        </p:tav>
                                      </p:tavLst>
                                    </p:anim>
                                    <p:anim calcmode="lin" valueType="num">
                                      <p:cBhvr additive="base">
                                        <p:cTn id="175" dur="500" fill="hold"/>
                                        <p:tgtEl>
                                          <p:spTgt spid="89"/>
                                        </p:tgtEl>
                                        <p:attrNameLst>
                                          <p:attrName>ppt_y</p:attrName>
                                        </p:attrNameLst>
                                      </p:cBhvr>
                                      <p:tavLst>
                                        <p:tav tm="0">
                                          <p:val>
                                            <p:strVal val="#ppt_y"/>
                                          </p:val>
                                        </p:tav>
                                        <p:tav tm="100000">
                                          <p:val>
                                            <p:strVal val="#ppt_y"/>
                                          </p:val>
                                        </p:tav>
                                      </p:tavLst>
                                    </p:anim>
                                  </p:childTnLst>
                                </p:cTn>
                              </p:par>
                              <p:par>
                                <p:cTn id="176" presetID="2" presetClass="entr" presetSubtype="2" fill="hold" nodeType="withEffect">
                                  <p:stCondLst>
                                    <p:cond delay="0"/>
                                  </p:stCondLst>
                                  <p:childTnLst>
                                    <p:set>
                                      <p:cBhvr>
                                        <p:cTn id="177" dur="1" fill="hold">
                                          <p:stCondLst>
                                            <p:cond delay="0"/>
                                          </p:stCondLst>
                                        </p:cTn>
                                        <p:tgtEl>
                                          <p:spTgt spid="95"/>
                                        </p:tgtEl>
                                        <p:attrNameLst>
                                          <p:attrName>style.visibility</p:attrName>
                                        </p:attrNameLst>
                                      </p:cBhvr>
                                      <p:to>
                                        <p:strVal val="visible"/>
                                      </p:to>
                                    </p:set>
                                    <p:anim calcmode="lin" valueType="num">
                                      <p:cBhvr additive="base">
                                        <p:cTn id="178" dur="500" fill="hold"/>
                                        <p:tgtEl>
                                          <p:spTgt spid="95"/>
                                        </p:tgtEl>
                                        <p:attrNameLst>
                                          <p:attrName>ppt_x</p:attrName>
                                        </p:attrNameLst>
                                      </p:cBhvr>
                                      <p:tavLst>
                                        <p:tav tm="0">
                                          <p:val>
                                            <p:strVal val="1+#ppt_w/2"/>
                                          </p:val>
                                        </p:tav>
                                        <p:tav tm="100000">
                                          <p:val>
                                            <p:strVal val="#ppt_x"/>
                                          </p:val>
                                        </p:tav>
                                      </p:tavLst>
                                    </p:anim>
                                    <p:anim calcmode="lin" valueType="num">
                                      <p:cBhvr additive="base">
                                        <p:cTn id="179" dur="500" fill="hold"/>
                                        <p:tgtEl>
                                          <p:spTgt spid="95"/>
                                        </p:tgtEl>
                                        <p:attrNameLst>
                                          <p:attrName>ppt_y</p:attrName>
                                        </p:attrNameLst>
                                      </p:cBhvr>
                                      <p:tavLst>
                                        <p:tav tm="0">
                                          <p:val>
                                            <p:strVal val="#ppt_y"/>
                                          </p:val>
                                        </p:tav>
                                        <p:tav tm="100000">
                                          <p:val>
                                            <p:strVal val="#ppt_y"/>
                                          </p:val>
                                        </p:tav>
                                      </p:tavLst>
                                    </p:anim>
                                  </p:childTnLst>
                                </p:cTn>
                              </p:par>
                              <p:par>
                                <p:cTn id="180" presetID="2" presetClass="entr" presetSubtype="2" fill="hold" nodeType="withEffect">
                                  <p:stCondLst>
                                    <p:cond delay="0"/>
                                  </p:stCondLst>
                                  <p:childTnLst>
                                    <p:set>
                                      <p:cBhvr>
                                        <p:cTn id="181" dur="1" fill="hold">
                                          <p:stCondLst>
                                            <p:cond delay="0"/>
                                          </p:stCondLst>
                                        </p:cTn>
                                        <p:tgtEl>
                                          <p:spTgt spid="97"/>
                                        </p:tgtEl>
                                        <p:attrNameLst>
                                          <p:attrName>style.visibility</p:attrName>
                                        </p:attrNameLst>
                                      </p:cBhvr>
                                      <p:to>
                                        <p:strVal val="visible"/>
                                      </p:to>
                                    </p:set>
                                    <p:anim calcmode="lin" valueType="num">
                                      <p:cBhvr additive="base">
                                        <p:cTn id="182" dur="500" fill="hold"/>
                                        <p:tgtEl>
                                          <p:spTgt spid="97"/>
                                        </p:tgtEl>
                                        <p:attrNameLst>
                                          <p:attrName>ppt_x</p:attrName>
                                        </p:attrNameLst>
                                      </p:cBhvr>
                                      <p:tavLst>
                                        <p:tav tm="0">
                                          <p:val>
                                            <p:strVal val="1+#ppt_w/2"/>
                                          </p:val>
                                        </p:tav>
                                        <p:tav tm="100000">
                                          <p:val>
                                            <p:strVal val="#ppt_x"/>
                                          </p:val>
                                        </p:tav>
                                      </p:tavLst>
                                    </p:anim>
                                    <p:anim calcmode="lin" valueType="num">
                                      <p:cBhvr additive="base">
                                        <p:cTn id="183" dur="500" fill="hold"/>
                                        <p:tgtEl>
                                          <p:spTgt spid="97"/>
                                        </p:tgtEl>
                                        <p:attrNameLst>
                                          <p:attrName>ppt_y</p:attrName>
                                        </p:attrNameLst>
                                      </p:cBhvr>
                                      <p:tavLst>
                                        <p:tav tm="0">
                                          <p:val>
                                            <p:strVal val="#ppt_y"/>
                                          </p:val>
                                        </p:tav>
                                        <p:tav tm="100000">
                                          <p:val>
                                            <p:strVal val="#ppt_y"/>
                                          </p:val>
                                        </p:tav>
                                      </p:tavLst>
                                    </p:anim>
                                  </p:childTnLst>
                                </p:cTn>
                              </p:par>
                              <p:par>
                                <p:cTn id="184" presetID="2" presetClass="entr" presetSubtype="2" fill="hold" nodeType="withEffect">
                                  <p:stCondLst>
                                    <p:cond delay="0"/>
                                  </p:stCondLst>
                                  <p:childTnLst>
                                    <p:set>
                                      <p:cBhvr>
                                        <p:cTn id="185" dur="1" fill="hold">
                                          <p:stCondLst>
                                            <p:cond delay="0"/>
                                          </p:stCondLst>
                                        </p:cTn>
                                        <p:tgtEl>
                                          <p:spTgt spid="99"/>
                                        </p:tgtEl>
                                        <p:attrNameLst>
                                          <p:attrName>style.visibility</p:attrName>
                                        </p:attrNameLst>
                                      </p:cBhvr>
                                      <p:to>
                                        <p:strVal val="visible"/>
                                      </p:to>
                                    </p:set>
                                    <p:anim calcmode="lin" valueType="num">
                                      <p:cBhvr additive="base">
                                        <p:cTn id="186" dur="500" fill="hold"/>
                                        <p:tgtEl>
                                          <p:spTgt spid="99"/>
                                        </p:tgtEl>
                                        <p:attrNameLst>
                                          <p:attrName>ppt_x</p:attrName>
                                        </p:attrNameLst>
                                      </p:cBhvr>
                                      <p:tavLst>
                                        <p:tav tm="0">
                                          <p:val>
                                            <p:strVal val="1+#ppt_w/2"/>
                                          </p:val>
                                        </p:tav>
                                        <p:tav tm="100000">
                                          <p:val>
                                            <p:strVal val="#ppt_x"/>
                                          </p:val>
                                        </p:tav>
                                      </p:tavLst>
                                    </p:anim>
                                    <p:anim calcmode="lin" valueType="num">
                                      <p:cBhvr additive="base">
                                        <p:cTn id="187" dur="500" fill="hold"/>
                                        <p:tgtEl>
                                          <p:spTgt spid="99"/>
                                        </p:tgtEl>
                                        <p:attrNameLst>
                                          <p:attrName>ppt_y</p:attrName>
                                        </p:attrNameLst>
                                      </p:cBhvr>
                                      <p:tavLst>
                                        <p:tav tm="0">
                                          <p:val>
                                            <p:strVal val="#ppt_y"/>
                                          </p:val>
                                        </p:tav>
                                        <p:tav tm="100000">
                                          <p:val>
                                            <p:strVal val="#ppt_y"/>
                                          </p:val>
                                        </p:tav>
                                      </p:tavLst>
                                    </p:anim>
                                  </p:childTnLst>
                                </p:cTn>
                              </p:par>
                              <p:par>
                                <p:cTn id="188" presetID="2" presetClass="entr" presetSubtype="2" fill="hold" nodeType="withEffect">
                                  <p:stCondLst>
                                    <p:cond delay="0"/>
                                  </p:stCondLst>
                                  <p:childTnLst>
                                    <p:set>
                                      <p:cBhvr>
                                        <p:cTn id="189" dur="1" fill="hold">
                                          <p:stCondLst>
                                            <p:cond delay="0"/>
                                          </p:stCondLst>
                                        </p:cTn>
                                        <p:tgtEl>
                                          <p:spTgt spid="101"/>
                                        </p:tgtEl>
                                        <p:attrNameLst>
                                          <p:attrName>style.visibility</p:attrName>
                                        </p:attrNameLst>
                                      </p:cBhvr>
                                      <p:to>
                                        <p:strVal val="visible"/>
                                      </p:to>
                                    </p:set>
                                    <p:anim calcmode="lin" valueType="num">
                                      <p:cBhvr additive="base">
                                        <p:cTn id="190" dur="500" fill="hold"/>
                                        <p:tgtEl>
                                          <p:spTgt spid="101"/>
                                        </p:tgtEl>
                                        <p:attrNameLst>
                                          <p:attrName>ppt_x</p:attrName>
                                        </p:attrNameLst>
                                      </p:cBhvr>
                                      <p:tavLst>
                                        <p:tav tm="0">
                                          <p:val>
                                            <p:strVal val="1+#ppt_w/2"/>
                                          </p:val>
                                        </p:tav>
                                        <p:tav tm="100000">
                                          <p:val>
                                            <p:strVal val="#ppt_x"/>
                                          </p:val>
                                        </p:tav>
                                      </p:tavLst>
                                    </p:anim>
                                    <p:anim calcmode="lin" valueType="num">
                                      <p:cBhvr additive="base">
                                        <p:cTn id="191" dur="500" fill="hold"/>
                                        <p:tgtEl>
                                          <p:spTgt spid="101"/>
                                        </p:tgtEl>
                                        <p:attrNameLst>
                                          <p:attrName>ppt_y</p:attrName>
                                        </p:attrNameLst>
                                      </p:cBhvr>
                                      <p:tavLst>
                                        <p:tav tm="0">
                                          <p:val>
                                            <p:strVal val="#ppt_y"/>
                                          </p:val>
                                        </p:tav>
                                        <p:tav tm="100000">
                                          <p:val>
                                            <p:strVal val="#ppt_y"/>
                                          </p:val>
                                        </p:tav>
                                      </p:tavLst>
                                    </p:anim>
                                  </p:childTnLst>
                                </p:cTn>
                              </p:par>
                              <p:par>
                                <p:cTn id="192" presetID="2" presetClass="entr" presetSubtype="2" fill="hold" nodeType="withEffect">
                                  <p:stCondLst>
                                    <p:cond delay="0"/>
                                  </p:stCondLst>
                                  <p:childTnLst>
                                    <p:set>
                                      <p:cBhvr>
                                        <p:cTn id="193" dur="1" fill="hold">
                                          <p:stCondLst>
                                            <p:cond delay="0"/>
                                          </p:stCondLst>
                                        </p:cTn>
                                        <p:tgtEl>
                                          <p:spTgt spid="103"/>
                                        </p:tgtEl>
                                        <p:attrNameLst>
                                          <p:attrName>style.visibility</p:attrName>
                                        </p:attrNameLst>
                                      </p:cBhvr>
                                      <p:to>
                                        <p:strVal val="visible"/>
                                      </p:to>
                                    </p:set>
                                    <p:anim calcmode="lin" valueType="num">
                                      <p:cBhvr additive="base">
                                        <p:cTn id="194" dur="500" fill="hold"/>
                                        <p:tgtEl>
                                          <p:spTgt spid="103"/>
                                        </p:tgtEl>
                                        <p:attrNameLst>
                                          <p:attrName>ppt_x</p:attrName>
                                        </p:attrNameLst>
                                      </p:cBhvr>
                                      <p:tavLst>
                                        <p:tav tm="0">
                                          <p:val>
                                            <p:strVal val="1+#ppt_w/2"/>
                                          </p:val>
                                        </p:tav>
                                        <p:tav tm="100000">
                                          <p:val>
                                            <p:strVal val="#ppt_x"/>
                                          </p:val>
                                        </p:tav>
                                      </p:tavLst>
                                    </p:anim>
                                    <p:anim calcmode="lin" valueType="num">
                                      <p:cBhvr additive="base">
                                        <p:cTn id="195" dur="500" fill="hold"/>
                                        <p:tgtEl>
                                          <p:spTgt spid="103"/>
                                        </p:tgtEl>
                                        <p:attrNameLst>
                                          <p:attrName>ppt_y</p:attrName>
                                        </p:attrNameLst>
                                      </p:cBhvr>
                                      <p:tavLst>
                                        <p:tav tm="0">
                                          <p:val>
                                            <p:strVal val="#ppt_y"/>
                                          </p:val>
                                        </p:tav>
                                        <p:tav tm="100000">
                                          <p:val>
                                            <p:strVal val="#ppt_y"/>
                                          </p:val>
                                        </p:tav>
                                      </p:tavLst>
                                    </p:anim>
                                  </p:childTnLst>
                                </p:cTn>
                              </p:par>
                              <p:par>
                                <p:cTn id="196" presetID="2" presetClass="entr" presetSubtype="2" fill="hold" grpId="0" nodeType="withEffect">
                                  <p:stCondLst>
                                    <p:cond delay="0"/>
                                  </p:stCondLst>
                                  <p:childTnLst>
                                    <p:set>
                                      <p:cBhvr>
                                        <p:cTn id="197" dur="1" fill="hold">
                                          <p:stCondLst>
                                            <p:cond delay="0"/>
                                          </p:stCondLst>
                                        </p:cTn>
                                        <p:tgtEl>
                                          <p:spTgt spid="9"/>
                                        </p:tgtEl>
                                        <p:attrNameLst>
                                          <p:attrName>style.visibility</p:attrName>
                                        </p:attrNameLst>
                                      </p:cBhvr>
                                      <p:to>
                                        <p:strVal val="visible"/>
                                      </p:to>
                                    </p:set>
                                    <p:anim calcmode="lin" valueType="num">
                                      <p:cBhvr additive="base">
                                        <p:cTn id="198" dur="500" fill="hold"/>
                                        <p:tgtEl>
                                          <p:spTgt spid="9"/>
                                        </p:tgtEl>
                                        <p:attrNameLst>
                                          <p:attrName>ppt_x</p:attrName>
                                        </p:attrNameLst>
                                      </p:cBhvr>
                                      <p:tavLst>
                                        <p:tav tm="0">
                                          <p:val>
                                            <p:strVal val="1+#ppt_w/2"/>
                                          </p:val>
                                        </p:tav>
                                        <p:tav tm="100000">
                                          <p:val>
                                            <p:strVal val="#ppt_x"/>
                                          </p:val>
                                        </p:tav>
                                      </p:tavLst>
                                    </p:anim>
                                    <p:anim calcmode="lin" valueType="num">
                                      <p:cBhvr additive="base">
                                        <p:cTn id="199"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1" grpId="0" animBg="1"/>
      <p:bldP spid="22" grpId="0" animBg="1"/>
      <p:bldP spid="39" grpId="0"/>
      <p:bldP spid="40" grpId="0"/>
      <p:bldP spid="53" grpId="0" animBg="1"/>
      <p:bldP spid="54" grpId="0" animBg="1"/>
      <p:bldP spid="55" grpId="0" animBg="1"/>
      <p:bldP spid="56" grpId="0" animBg="1"/>
      <p:bldP spid="57" grpId="0" animBg="1"/>
      <p:bldP spid="59" grpId="0" animBg="1"/>
      <p:bldP spid="60" grpId="0" animBg="1"/>
      <p:bldP spid="67" grpId="0"/>
      <p:bldP spid="69" grpId="0" animBg="1"/>
      <p:bldP spid="79" grpId="0"/>
      <p:bldP spid="80" grpId="0" animBg="1"/>
      <p:bldP spid="83" grpId="0" animBg="1"/>
      <p:bldP spid="84" grpId="0" animBg="1"/>
      <p:bldP spid="85" grpId="0" animBg="1"/>
      <p:bldP spid="86" grpId="0" animBg="1"/>
      <p:bldP spid="87" grpId="0"/>
      <p:bldP spid="88" grpId="0" animBg="1"/>
      <p:bldP spid="89" grpId="0" animBg="1"/>
      <p:bldP spid="10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0D85C2A-3682-1218-FE44-D2123DCBDD2F}"/>
              </a:ext>
            </a:extLst>
          </p:cNvPr>
          <p:cNvSpPr>
            <a:spLocks noGrp="1"/>
          </p:cNvSpPr>
          <p:nvPr>
            <p:ph type="title"/>
          </p:nvPr>
        </p:nvSpPr>
        <p:spPr>
          <a:xfrm>
            <a:off x="2738790" y="52389"/>
            <a:ext cx="6714420" cy="587691"/>
          </a:xfrm>
        </p:spPr>
        <p:txBody>
          <a:bodyPr/>
          <a:lstStyle/>
          <a:p>
            <a:r>
              <a:rPr lang="el-GR" b="1" dirty="0">
                <a:latin typeface="Calibri" panose="020F0502020204030204" pitchFamily="34" charset="0"/>
                <a:ea typeface="Calibri" panose="020F0502020204030204" pitchFamily="34" charset="0"/>
                <a:cs typeface="Calibri" panose="020F0502020204030204" pitchFamily="34" charset="0"/>
              </a:rPr>
              <a:t>Χρήση προ</a:t>
            </a:r>
            <a:r>
              <a:rPr lang="en-US" b="1" dirty="0">
                <a:latin typeface="Calibri" panose="020F0502020204030204" pitchFamily="34" charset="0"/>
                <a:ea typeface="Calibri" panose="020F0502020204030204" pitchFamily="34" charset="0"/>
                <a:cs typeface="Calibri" panose="020F0502020204030204" pitchFamily="34" charset="0"/>
              </a:rPr>
              <a:t>-</a:t>
            </a:r>
            <a:r>
              <a:rPr lang="el-GR" b="1" dirty="0">
                <a:latin typeface="Calibri" panose="020F0502020204030204" pitchFamily="34" charset="0"/>
                <a:ea typeface="Calibri" panose="020F0502020204030204" pitchFamily="34" charset="0"/>
                <a:cs typeface="Calibri" panose="020F0502020204030204" pitchFamily="34" charset="0"/>
              </a:rPr>
              <a:t>εκπαιδευμένου </a:t>
            </a:r>
            <a:r>
              <a:rPr lang="en-US" b="1" dirty="0">
                <a:latin typeface="Calibri" panose="020F0502020204030204" pitchFamily="34" charset="0"/>
                <a:ea typeface="Calibri" panose="020F0502020204030204" pitchFamily="34" charset="0"/>
                <a:cs typeface="Calibri" panose="020F0502020204030204" pitchFamily="34" charset="0"/>
              </a:rPr>
              <a:t>Resnet-18</a:t>
            </a:r>
            <a:endParaRPr lang="el-GR"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Θέση περιεχομένου 4" descr="Εικόνα που περιέχει κείμενο, στιγμιότυπο οθόνης, διάγραμμα, γράφημα&#10;&#10;Περιγραφή που δημιουργήθηκε αυτόματα">
            <a:extLst>
              <a:ext uri="{FF2B5EF4-FFF2-40B4-BE49-F238E27FC236}">
                <a16:creationId xmlns:a16="http://schemas.microsoft.com/office/drawing/2014/main" id="{5E3B472F-E196-B09B-A1F0-936F564A5C2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67821" y="822960"/>
            <a:ext cx="5994135" cy="2743200"/>
          </a:xfrm>
        </p:spPr>
      </p:pic>
      <p:sp>
        <p:nvSpPr>
          <p:cNvPr id="6" name="Ορθογώνιο 5">
            <a:extLst>
              <a:ext uri="{FF2B5EF4-FFF2-40B4-BE49-F238E27FC236}">
                <a16:creationId xmlns:a16="http://schemas.microsoft.com/office/drawing/2014/main" id="{15E2FDF1-645F-6253-C679-03DE90225154}"/>
              </a:ext>
            </a:extLst>
          </p:cNvPr>
          <p:cNvSpPr/>
          <p:nvPr/>
        </p:nvSpPr>
        <p:spPr>
          <a:xfrm>
            <a:off x="372562" y="594048"/>
            <a:ext cx="651719" cy="1081955"/>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solidFill>
              <a:srgbClr val="002060"/>
            </a:solidFill>
          </a:ln>
          <a:scene3d>
            <a:camera prst="isometricRightUp">
              <a:rot lat="2100000" lon="18899998" rev="0"/>
            </a:camera>
            <a:lightRig rig="threePt" dir="t"/>
          </a:scene3d>
          <a:sp3d extrusionH="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Βέλος: Δεξιό 6">
            <a:extLst>
              <a:ext uri="{FF2B5EF4-FFF2-40B4-BE49-F238E27FC236}">
                <a16:creationId xmlns:a16="http://schemas.microsoft.com/office/drawing/2014/main" id="{0DDEA253-250E-084F-CC25-0949D8003361}"/>
              </a:ext>
            </a:extLst>
          </p:cNvPr>
          <p:cNvSpPr/>
          <p:nvPr/>
        </p:nvSpPr>
        <p:spPr>
          <a:xfrm>
            <a:off x="1023754" y="1896523"/>
            <a:ext cx="434480" cy="230819"/>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 name="Ορθογώνιο 7">
            <a:extLst>
              <a:ext uri="{FF2B5EF4-FFF2-40B4-BE49-F238E27FC236}">
                <a16:creationId xmlns:a16="http://schemas.microsoft.com/office/drawing/2014/main" id="{37103ED1-ABA3-3245-C5F2-4E0816824AC4}"/>
              </a:ext>
            </a:extLst>
          </p:cNvPr>
          <p:cNvSpPr/>
          <p:nvPr/>
        </p:nvSpPr>
        <p:spPr>
          <a:xfrm>
            <a:off x="372562" y="2484205"/>
            <a:ext cx="651719" cy="1081955"/>
          </a:xfrm>
          <a:prstGeom prst="rect">
            <a:avLst/>
          </a:prstGeom>
          <a:blipFill dpi="0" rotWithShape="1">
            <a:blip r:embed="rId5">
              <a:extLst>
                <a:ext uri="{BEBA8EAE-BF5A-486C-A8C5-ECC9F3942E4B}">
                  <a14:imgProps xmlns:a14="http://schemas.microsoft.com/office/drawing/2010/main">
                    <a14:imgLayer r:embed="rId6">
                      <a14:imgEffect>
                        <a14:brightnessContrast bright="20000" contrast="-10000"/>
                      </a14:imgEffect>
                    </a14:imgLayer>
                  </a14:imgProps>
                </a:ext>
                <a:ext uri="{28A0092B-C50C-407E-A947-70E740481C1C}">
                  <a14:useLocalDpi xmlns:a14="http://schemas.microsoft.com/office/drawing/2010/main" val="0"/>
                </a:ext>
              </a:extLst>
            </a:blip>
            <a:srcRect/>
            <a:stretch>
              <a:fillRect/>
            </a:stretch>
          </a:blipFill>
          <a:ln>
            <a:solidFill>
              <a:srgbClr val="002060"/>
            </a:solidFill>
          </a:ln>
          <a:scene3d>
            <a:camera prst="isometricRightUp">
              <a:rot lat="2837666" lon="19529340" rev="1357855"/>
            </a:camera>
            <a:lightRig rig="threePt" dir="t">
              <a:rot lat="0" lon="0" rev="0"/>
            </a:lightRig>
          </a:scene3d>
          <a:sp3d extrusionH="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Σταυρός 8">
            <a:extLst>
              <a:ext uri="{FF2B5EF4-FFF2-40B4-BE49-F238E27FC236}">
                <a16:creationId xmlns:a16="http://schemas.microsoft.com/office/drawing/2014/main" id="{8581FD69-38C4-4326-68AD-B6613455936A}"/>
              </a:ext>
            </a:extLst>
          </p:cNvPr>
          <p:cNvSpPr/>
          <p:nvPr/>
        </p:nvSpPr>
        <p:spPr>
          <a:xfrm>
            <a:off x="498831" y="1812344"/>
            <a:ext cx="399179" cy="399179"/>
          </a:xfrm>
          <a:prstGeom prst="plus">
            <a:avLst>
              <a:gd name="adj" fmla="val 38318"/>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11" name="Εικόνα 10">
            <a:extLst>
              <a:ext uri="{FF2B5EF4-FFF2-40B4-BE49-F238E27FC236}">
                <a16:creationId xmlns:a16="http://schemas.microsoft.com/office/drawing/2014/main" id="{A9A329D3-D457-CDD8-C011-C0ECD8FAE0BC}"/>
              </a:ext>
            </a:extLst>
          </p:cNvPr>
          <p:cNvPicPr>
            <a:picLocks noChangeAspect="1"/>
          </p:cNvPicPr>
          <p:nvPr/>
        </p:nvPicPr>
        <p:blipFill>
          <a:blip r:embed="rId7"/>
          <a:stretch>
            <a:fillRect/>
          </a:stretch>
        </p:blipFill>
        <p:spPr>
          <a:xfrm>
            <a:off x="8316366" y="2292003"/>
            <a:ext cx="3106994" cy="167148"/>
          </a:xfrm>
          <a:prstGeom prst="rect">
            <a:avLst/>
          </a:prstGeom>
        </p:spPr>
      </p:pic>
      <p:pic>
        <p:nvPicPr>
          <p:cNvPr id="13" name="Εικόνα 12" descr="Εικόνα που περιέχει κείμενο, γραμματοσειρά, στιγμιότυπο οθόνης&#10;&#10;Περιγραφή που δημιουργήθηκε αυτόματα">
            <a:extLst>
              <a:ext uri="{FF2B5EF4-FFF2-40B4-BE49-F238E27FC236}">
                <a16:creationId xmlns:a16="http://schemas.microsoft.com/office/drawing/2014/main" id="{67DFE8CB-81DB-82D5-985F-996C49D5A88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64826" y="927735"/>
            <a:ext cx="4410075" cy="1266825"/>
          </a:xfrm>
          <a:prstGeom prst="rect">
            <a:avLst/>
          </a:prstGeom>
        </p:spPr>
      </p:pic>
      <p:pic>
        <p:nvPicPr>
          <p:cNvPr id="15" name="Εικόνα 14" descr="Εικόνα που περιέχει κείμενο, στιγμιότυπο οθόνης, γραμμή, γράφημα&#10;&#10;Περιγραφή που δημιουργήθηκε αυτόματα">
            <a:extLst>
              <a:ext uri="{FF2B5EF4-FFF2-40B4-BE49-F238E27FC236}">
                <a16:creationId xmlns:a16="http://schemas.microsoft.com/office/drawing/2014/main" id="{E9D0B6C6-BEC6-86F5-47B2-E9F4EA51C1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26626" y="3246120"/>
            <a:ext cx="4148275" cy="3293333"/>
          </a:xfrm>
          <a:prstGeom prst="rect">
            <a:avLst/>
          </a:prstGeom>
        </p:spPr>
      </p:pic>
      <p:pic>
        <p:nvPicPr>
          <p:cNvPr id="17" name="Εικόνα 16"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78AFCF8D-8473-C79F-F339-7691A5809F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76904" y="3749040"/>
            <a:ext cx="3250642" cy="2743200"/>
          </a:xfrm>
          <a:prstGeom prst="rect">
            <a:avLst/>
          </a:prstGeom>
        </p:spPr>
      </p:pic>
      <p:pic>
        <p:nvPicPr>
          <p:cNvPr id="19" name="Εικόνα 18"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F156DB0E-A7BC-411B-696A-3EA1AC43A60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33862" y="3749040"/>
            <a:ext cx="3250642" cy="2743200"/>
          </a:xfrm>
          <a:prstGeom prst="rect">
            <a:avLst/>
          </a:prstGeom>
        </p:spPr>
      </p:pic>
    </p:spTree>
    <p:extLst>
      <p:ext uri="{BB962C8B-B14F-4D97-AF65-F5344CB8AC3E}">
        <p14:creationId xmlns:p14="http://schemas.microsoft.com/office/powerpoint/2010/main" val="16858415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1407390-3F26-9047-1ACB-2FF893571645}"/>
              </a:ext>
            </a:extLst>
          </p:cNvPr>
          <p:cNvSpPr>
            <a:spLocks noGrp="1"/>
          </p:cNvSpPr>
          <p:nvPr>
            <p:ph type="title"/>
          </p:nvPr>
        </p:nvSpPr>
        <p:spPr>
          <a:xfrm>
            <a:off x="989400" y="178119"/>
            <a:ext cx="10213200" cy="564831"/>
          </a:xfrm>
        </p:spPr>
        <p:txBody>
          <a:bodyPr>
            <a:normAutofit fontScale="90000"/>
          </a:bodyPr>
          <a:lstStyle/>
          <a:p>
            <a:r>
              <a:rPr lang="el-GR" b="1" dirty="0">
                <a:latin typeface="Calibri" panose="020F0502020204030204" pitchFamily="34" charset="0"/>
                <a:ea typeface="Calibri" panose="020F0502020204030204" pitchFamily="34" charset="0"/>
                <a:cs typeface="Calibri" panose="020F0502020204030204" pitchFamily="34" charset="0"/>
              </a:rPr>
              <a:t>Δεδομένα που βρίσκονται σε ενδιάμεση κατάσταση</a:t>
            </a:r>
          </a:p>
        </p:txBody>
      </p:sp>
      <p:pic>
        <p:nvPicPr>
          <p:cNvPr id="5" name="Θέση περιεχομένου 4" descr="Εικόνα που περιέχει κείμενο, λογισμικό, λογισμικό πολυμέσων, λογισμικό γραφικών&#10;&#10;Περιγραφή που δημιουργήθηκε αυτόματα">
            <a:extLst>
              <a:ext uri="{FF2B5EF4-FFF2-40B4-BE49-F238E27FC236}">
                <a16:creationId xmlns:a16="http://schemas.microsoft.com/office/drawing/2014/main" id="{B8058218-B466-486B-5548-5E59EECCB5D0}"/>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9306" r="32625"/>
          <a:stretch/>
        </p:blipFill>
        <p:spPr>
          <a:xfrm>
            <a:off x="2665787" y="790902"/>
            <a:ext cx="9070530" cy="369332"/>
          </a:xfrm>
        </p:spPr>
      </p:pic>
      <p:sp>
        <p:nvSpPr>
          <p:cNvPr id="7" name="TextBox 6">
            <a:extLst>
              <a:ext uri="{FF2B5EF4-FFF2-40B4-BE49-F238E27FC236}">
                <a16:creationId xmlns:a16="http://schemas.microsoft.com/office/drawing/2014/main" id="{DED0C401-2832-86E5-2314-9E97BB01CC13}"/>
              </a:ext>
            </a:extLst>
          </p:cNvPr>
          <p:cNvSpPr txBox="1"/>
          <p:nvPr/>
        </p:nvSpPr>
        <p:spPr>
          <a:xfrm>
            <a:off x="408937" y="1654865"/>
            <a:ext cx="5904547" cy="584775"/>
          </a:xfrm>
          <a:prstGeom prst="rect">
            <a:avLst/>
          </a:prstGeom>
          <a:noFill/>
        </p:spPr>
        <p:txBody>
          <a:bodyPr wrap="square" rtlCol="0">
            <a:spAutoFit/>
          </a:bodyPr>
          <a:lstStyle/>
          <a:p>
            <a:r>
              <a:rPr lang="el-GR" sz="1600" b="1" dirty="0">
                <a:latin typeface="Calibri" panose="020F0502020204030204" pitchFamily="34" charset="0"/>
                <a:ea typeface="Calibri" panose="020F0502020204030204" pitchFamily="34" charset="0"/>
                <a:cs typeface="Calibri" panose="020F0502020204030204" pitchFamily="34" charset="0"/>
              </a:rPr>
              <a:t>Τροποποιήσεις εικόνων + Μετακίνηση του </a:t>
            </a:r>
            <a:r>
              <a:rPr lang="en-US" sz="1600" b="1" dirty="0">
                <a:latin typeface="Calibri" panose="020F0502020204030204" pitchFamily="34" charset="0"/>
                <a:ea typeface="Calibri" panose="020F0502020204030204" pitchFamily="34" charset="0"/>
                <a:cs typeface="Calibri" panose="020F0502020204030204" pitchFamily="34" charset="0"/>
              </a:rPr>
              <a:t>threshold (0.5 </a:t>
            </a:r>
            <a:r>
              <a:rPr lang="en-US" sz="1600" b="1"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0.95)</a:t>
            </a:r>
            <a:endParaRPr lang="el-GR" sz="1600" dirty="0"/>
          </a:p>
          <a:p>
            <a:endParaRPr lang="el-GR" sz="1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6D3148C-406A-F7A9-1C9E-69528753B765}"/>
              </a:ext>
            </a:extLst>
          </p:cNvPr>
          <p:cNvSpPr txBox="1"/>
          <p:nvPr/>
        </p:nvSpPr>
        <p:spPr>
          <a:xfrm>
            <a:off x="191453" y="1273760"/>
            <a:ext cx="6828720" cy="400110"/>
          </a:xfrm>
          <a:prstGeom prst="rect">
            <a:avLst/>
          </a:prstGeom>
          <a:noFill/>
        </p:spPr>
        <p:txBody>
          <a:bodyPr wrap="square" rtlCol="0">
            <a:spAutoFit/>
          </a:bodyPr>
          <a:lstStyle/>
          <a:p>
            <a:r>
              <a:rPr lang="el-GR" sz="2000" b="1" dirty="0">
                <a:latin typeface="Calibri" panose="020F0502020204030204" pitchFamily="34" charset="0"/>
                <a:ea typeface="Calibri" panose="020F0502020204030204" pitchFamily="34" charset="0"/>
                <a:cs typeface="Calibri" panose="020F0502020204030204" pitchFamily="34" charset="0"/>
              </a:rPr>
              <a:t> 2. Βελτίωση μόνο για τα νέα δεδομένα (</a:t>
            </a:r>
            <a:r>
              <a:rPr lang="en-US" sz="2000" b="1" dirty="0" err="1">
                <a:latin typeface="Calibri" panose="020F0502020204030204" pitchFamily="34" charset="0"/>
                <a:ea typeface="Calibri" panose="020F0502020204030204" pitchFamily="34" charset="0"/>
                <a:cs typeface="Calibri" panose="020F0502020204030204" pitchFamily="34" charset="0"/>
              </a:rPr>
              <a:t>incorrect_mask_use</a:t>
            </a:r>
            <a:r>
              <a:rPr lang="en-US" sz="2000" b="1" dirty="0">
                <a:latin typeface="Calibri" panose="020F0502020204030204" pitchFamily="34" charset="0"/>
                <a:ea typeface="Calibri" panose="020F0502020204030204" pitchFamily="34" charset="0"/>
                <a:cs typeface="Calibri" panose="020F0502020204030204" pitchFamily="34" charset="0"/>
              </a:rPr>
              <a:t>)</a:t>
            </a:r>
            <a:endParaRPr lang="el-GR" sz="2000" b="1" dirty="0">
              <a:latin typeface="Calibri" panose="020F0502020204030204" pitchFamily="34" charset="0"/>
              <a:ea typeface="Calibri" panose="020F0502020204030204" pitchFamily="34" charset="0"/>
              <a:cs typeface="Calibri" panose="020F0502020204030204" pitchFamily="34" charset="0"/>
            </a:endParaRPr>
          </a:p>
        </p:txBody>
      </p:sp>
      <p:pic>
        <p:nvPicPr>
          <p:cNvPr id="10" name="Εικόνα 9">
            <a:extLst>
              <a:ext uri="{FF2B5EF4-FFF2-40B4-BE49-F238E27FC236}">
                <a16:creationId xmlns:a16="http://schemas.microsoft.com/office/drawing/2014/main" id="{C44A2D56-9D93-16C2-82DA-64D95690D8EA}"/>
              </a:ext>
            </a:extLst>
          </p:cNvPr>
          <p:cNvPicPr>
            <a:picLocks noChangeAspect="1"/>
          </p:cNvPicPr>
          <p:nvPr/>
        </p:nvPicPr>
        <p:blipFill>
          <a:blip r:embed="rId4"/>
          <a:stretch>
            <a:fillRect/>
          </a:stretch>
        </p:blipFill>
        <p:spPr>
          <a:xfrm>
            <a:off x="7326793" y="1541220"/>
            <a:ext cx="2499359" cy="457200"/>
          </a:xfrm>
          <a:prstGeom prst="rect">
            <a:avLst/>
          </a:prstGeom>
        </p:spPr>
      </p:pic>
      <p:sp>
        <p:nvSpPr>
          <p:cNvPr id="15" name="TextBox 14">
            <a:extLst>
              <a:ext uri="{FF2B5EF4-FFF2-40B4-BE49-F238E27FC236}">
                <a16:creationId xmlns:a16="http://schemas.microsoft.com/office/drawing/2014/main" id="{5AC96D90-F982-20E1-2E00-AB32A5DEE073}"/>
              </a:ext>
            </a:extLst>
          </p:cNvPr>
          <p:cNvSpPr txBox="1"/>
          <p:nvPr/>
        </p:nvSpPr>
        <p:spPr>
          <a:xfrm>
            <a:off x="191453" y="742950"/>
            <a:ext cx="2679630" cy="400110"/>
          </a:xfrm>
          <a:prstGeom prst="rect">
            <a:avLst/>
          </a:prstGeom>
          <a:noFill/>
        </p:spPr>
        <p:txBody>
          <a:bodyPr wrap="square" rtlCol="0">
            <a:spAutoFit/>
          </a:bodyPr>
          <a:lstStyle/>
          <a:p>
            <a:r>
              <a:rPr lang="el-GR" sz="2000" b="1" dirty="0">
                <a:latin typeface="Calibri" panose="020F0502020204030204" pitchFamily="34" charset="0"/>
                <a:ea typeface="Calibri" panose="020F0502020204030204" pitchFamily="34" charset="0"/>
                <a:cs typeface="Calibri" panose="020F0502020204030204" pitchFamily="34" charset="0"/>
              </a:rPr>
              <a:t> 1. Άμεση Εισαγωγή</a:t>
            </a:r>
          </a:p>
        </p:txBody>
      </p:sp>
      <p:sp>
        <p:nvSpPr>
          <p:cNvPr id="17" name="TextBox 16">
            <a:extLst>
              <a:ext uri="{FF2B5EF4-FFF2-40B4-BE49-F238E27FC236}">
                <a16:creationId xmlns:a16="http://schemas.microsoft.com/office/drawing/2014/main" id="{5A28CF02-25B3-6486-873E-E203F1992DBC}"/>
              </a:ext>
            </a:extLst>
          </p:cNvPr>
          <p:cNvSpPr txBox="1"/>
          <p:nvPr/>
        </p:nvSpPr>
        <p:spPr>
          <a:xfrm>
            <a:off x="191453" y="2170568"/>
            <a:ext cx="7135340" cy="400110"/>
          </a:xfrm>
          <a:prstGeom prst="rect">
            <a:avLst/>
          </a:prstGeom>
          <a:noFill/>
        </p:spPr>
        <p:txBody>
          <a:bodyPr wrap="square" rtlCol="0">
            <a:spAutoFit/>
          </a:bodyPr>
          <a:lstStyle/>
          <a:p>
            <a:r>
              <a:rPr lang="el-GR" sz="2000" b="1" dirty="0">
                <a:latin typeface="Calibri" panose="020F0502020204030204" pitchFamily="34" charset="0"/>
                <a:ea typeface="Calibri" panose="020F0502020204030204" pitchFamily="34" charset="0"/>
                <a:cs typeface="Calibri" panose="020F0502020204030204" pitchFamily="34" charset="0"/>
              </a:rPr>
              <a:t> 3. Βελτίωση για δεδομένα που πρέπει να ταξινομηθούν ως 0</a:t>
            </a:r>
          </a:p>
        </p:txBody>
      </p:sp>
      <p:sp>
        <p:nvSpPr>
          <p:cNvPr id="24" name="TextBox 23">
            <a:extLst>
              <a:ext uri="{FF2B5EF4-FFF2-40B4-BE49-F238E27FC236}">
                <a16:creationId xmlns:a16="http://schemas.microsoft.com/office/drawing/2014/main" id="{DE9AA199-F8E3-A2FD-0B9D-02DE612CA6F5}"/>
              </a:ext>
            </a:extLst>
          </p:cNvPr>
          <p:cNvSpPr txBox="1"/>
          <p:nvPr/>
        </p:nvSpPr>
        <p:spPr>
          <a:xfrm>
            <a:off x="408937" y="2583091"/>
            <a:ext cx="3399171" cy="338554"/>
          </a:xfrm>
          <a:prstGeom prst="rect">
            <a:avLst/>
          </a:prstGeom>
          <a:noFill/>
        </p:spPr>
        <p:txBody>
          <a:bodyPr wrap="square" rtlCol="0">
            <a:spAutoFit/>
          </a:bodyPr>
          <a:lstStyle/>
          <a:p>
            <a:r>
              <a:rPr lang="el-GR" sz="1600" b="1" dirty="0">
                <a:latin typeface="Calibri" panose="020F0502020204030204" pitchFamily="34" charset="0"/>
                <a:ea typeface="Calibri" panose="020F0502020204030204" pitchFamily="34" charset="0"/>
                <a:cs typeface="Calibri" panose="020F0502020204030204" pitchFamily="34" charset="0"/>
              </a:rPr>
              <a:t>Μικρή τροποποίηση (</a:t>
            </a:r>
            <a:r>
              <a:rPr lang="en-US" sz="1600" b="1" dirty="0">
                <a:latin typeface="Calibri" panose="020F0502020204030204" pitchFamily="34" charset="0"/>
                <a:ea typeface="Calibri" panose="020F0502020204030204" pitchFamily="34" charset="0"/>
                <a:cs typeface="Calibri" panose="020F0502020204030204" pitchFamily="34" charset="0"/>
              </a:rPr>
              <a:t>threshold 0.95)</a:t>
            </a:r>
            <a:endParaRPr lang="el-GR"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26" name="Εικόνα 25">
            <a:extLst>
              <a:ext uri="{FF2B5EF4-FFF2-40B4-BE49-F238E27FC236}">
                <a16:creationId xmlns:a16="http://schemas.microsoft.com/office/drawing/2014/main" id="{BA8DDC32-C6E2-977B-0CB1-9AF7C9AAB6CC}"/>
              </a:ext>
            </a:extLst>
          </p:cNvPr>
          <p:cNvPicPr>
            <a:picLocks noChangeAspect="1"/>
          </p:cNvPicPr>
          <p:nvPr/>
        </p:nvPicPr>
        <p:blipFill>
          <a:blip r:embed="rId5"/>
          <a:stretch>
            <a:fillRect/>
          </a:stretch>
        </p:blipFill>
        <p:spPr>
          <a:xfrm>
            <a:off x="4075748" y="2620745"/>
            <a:ext cx="2399389" cy="365760"/>
          </a:xfrm>
          <a:prstGeom prst="rect">
            <a:avLst/>
          </a:prstGeom>
        </p:spPr>
      </p:pic>
      <p:sp>
        <p:nvSpPr>
          <p:cNvPr id="27" name="TextBox 26">
            <a:extLst>
              <a:ext uri="{FF2B5EF4-FFF2-40B4-BE49-F238E27FC236}">
                <a16:creationId xmlns:a16="http://schemas.microsoft.com/office/drawing/2014/main" id="{68A1032B-2E18-C1DF-A23D-CCC8628E5289}"/>
              </a:ext>
            </a:extLst>
          </p:cNvPr>
          <p:cNvSpPr txBox="1"/>
          <p:nvPr/>
        </p:nvSpPr>
        <p:spPr>
          <a:xfrm>
            <a:off x="191453" y="3223914"/>
            <a:ext cx="4051313" cy="400110"/>
          </a:xfrm>
          <a:prstGeom prst="rect">
            <a:avLst/>
          </a:prstGeom>
          <a:noFill/>
        </p:spPr>
        <p:txBody>
          <a:bodyPr wrap="square" rtlCol="0">
            <a:spAutoFit/>
          </a:bodyPr>
          <a:lstStyle/>
          <a:p>
            <a:r>
              <a:rPr lang="el-GR" sz="2000" b="1" dirty="0">
                <a:latin typeface="Calibri" panose="020F0502020204030204" pitchFamily="34" charset="0"/>
                <a:ea typeface="Calibri" panose="020F0502020204030204" pitchFamily="34" charset="0"/>
                <a:cs typeface="Calibri" panose="020F0502020204030204" pitchFamily="34" charset="0"/>
              </a:rPr>
              <a:t> 4. Βελτίωση για όλα τα δεδομένα</a:t>
            </a:r>
          </a:p>
        </p:txBody>
      </p:sp>
      <p:sp>
        <p:nvSpPr>
          <p:cNvPr id="31" name="TextBox 30">
            <a:extLst>
              <a:ext uri="{FF2B5EF4-FFF2-40B4-BE49-F238E27FC236}">
                <a16:creationId xmlns:a16="http://schemas.microsoft.com/office/drawing/2014/main" id="{80B24D6C-18D7-2BD8-4901-F16DE12B5DEF}"/>
              </a:ext>
            </a:extLst>
          </p:cNvPr>
          <p:cNvSpPr txBox="1"/>
          <p:nvPr/>
        </p:nvSpPr>
        <p:spPr>
          <a:xfrm>
            <a:off x="212272" y="3587739"/>
            <a:ext cx="3393541" cy="338554"/>
          </a:xfrm>
          <a:prstGeom prst="rect">
            <a:avLst/>
          </a:prstGeom>
          <a:noFill/>
        </p:spPr>
        <p:txBody>
          <a:bodyPr wrap="square" rtlCol="0">
            <a:spAutoFit/>
          </a:bodyPr>
          <a:lstStyle/>
          <a:p>
            <a:r>
              <a:rPr lang="el-GR" sz="1600" b="1" dirty="0">
                <a:latin typeface="Calibri" panose="020F0502020204030204" pitchFamily="34" charset="0"/>
                <a:ea typeface="Calibri" panose="020F0502020204030204" pitchFamily="34" charset="0"/>
                <a:cs typeface="Calibri" panose="020F0502020204030204" pitchFamily="34" charset="0"/>
              </a:rPr>
              <a:t>Χωρίς τροποποίηση (</a:t>
            </a:r>
            <a:r>
              <a:rPr lang="en-US" sz="1600" b="1" dirty="0">
                <a:latin typeface="Calibri" panose="020F0502020204030204" pitchFamily="34" charset="0"/>
                <a:ea typeface="Calibri" panose="020F0502020204030204" pitchFamily="34" charset="0"/>
                <a:cs typeface="Calibri" panose="020F0502020204030204" pitchFamily="34" charset="0"/>
              </a:rPr>
              <a:t>threshold 0.95)</a:t>
            </a:r>
            <a:endParaRPr lang="el-GR"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33" name="Εικόνα 32">
            <a:extLst>
              <a:ext uri="{FF2B5EF4-FFF2-40B4-BE49-F238E27FC236}">
                <a16:creationId xmlns:a16="http://schemas.microsoft.com/office/drawing/2014/main" id="{81BEE10B-2D36-EF59-3EBE-D1E0FAB463E9}"/>
              </a:ext>
            </a:extLst>
          </p:cNvPr>
          <p:cNvPicPr>
            <a:picLocks noChangeAspect="1"/>
          </p:cNvPicPr>
          <p:nvPr/>
        </p:nvPicPr>
        <p:blipFill>
          <a:blip r:embed="rId6"/>
          <a:stretch>
            <a:fillRect/>
          </a:stretch>
        </p:blipFill>
        <p:spPr>
          <a:xfrm>
            <a:off x="291998" y="3991809"/>
            <a:ext cx="2726569" cy="365760"/>
          </a:xfrm>
          <a:prstGeom prst="rect">
            <a:avLst/>
          </a:prstGeom>
        </p:spPr>
      </p:pic>
      <p:pic>
        <p:nvPicPr>
          <p:cNvPr id="35" name="Εικόνα 34"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B1BBC772-D085-47FD-5E12-7ACC4AAB77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75748" y="3422381"/>
            <a:ext cx="3792417" cy="3200400"/>
          </a:xfrm>
          <a:prstGeom prst="rect">
            <a:avLst/>
          </a:prstGeom>
        </p:spPr>
      </p:pic>
      <p:sp>
        <p:nvSpPr>
          <p:cNvPr id="40" name="TextBox 39">
            <a:extLst>
              <a:ext uri="{FF2B5EF4-FFF2-40B4-BE49-F238E27FC236}">
                <a16:creationId xmlns:a16="http://schemas.microsoft.com/office/drawing/2014/main" id="{EAA7FED0-A7A7-50DF-327F-B6F906365612}"/>
              </a:ext>
            </a:extLst>
          </p:cNvPr>
          <p:cNvSpPr txBox="1"/>
          <p:nvPr/>
        </p:nvSpPr>
        <p:spPr>
          <a:xfrm>
            <a:off x="191454" y="4381383"/>
            <a:ext cx="3706176" cy="338554"/>
          </a:xfrm>
          <a:prstGeom prst="rect">
            <a:avLst/>
          </a:prstGeom>
          <a:noFill/>
        </p:spPr>
        <p:txBody>
          <a:bodyPr wrap="square" rtlCol="0">
            <a:spAutoFit/>
          </a:bodyPr>
          <a:lstStyle/>
          <a:p>
            <a:r>
              <a:rPr lang="el-GR" sz="1600" b="1" dirty="0">
                <a:latin typeface="Calibri" panose="020F0502020204030204" pitchFamily="34" charset="0"/>
                <a:ea typeface="Calibri" panose="020F0502020204030204" pitchFamily="34" charset="0"/>
                <a:cs typeface="Calibri" panose="020F0502020204030204" pitchFamily="34" charset="0"/>
              </a:rPr>
              <a:t>Χωρίς τροποποίηση (</a:t>
            </a:r>
            <a:r>
              <a:rPr lang="en-US" sz="1600" b="1" dirty="0">
                <a:latin typeface="Calibri" panose="020F0502020204030204" pitchFamily="34" charset="0"/>
                <a:ea typeface="Calibri" panose="020F0502020204030204" pitchFamily="34" charset="0"/>
                <a:cs typeface="Calibri" panose="020F0502020204030204" pitchFamily="34" charset="0"/>
              </a:rPr>
              <a:t>threshold 0.999998)</a:t>
            </a:r>
            <a:endParaRPr lang="el-GR"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43" name="Εικόνα 42">
            <a:extLst>
              <a:ext uri="{FF2B5EF4-FFF2-40B4-BE49-F238E27FC236}">
                <a16:creationId xmlns:a16="http://schemas.microsoft.com/office/drawing/2014/main" id="{1E9F3DD4-119B-A530-B48D-792699B6CA63}"/>
              </a:ext>
            </a:extLst>
          </p:cNvPr>
          <p:cNvPicPr>
            <a:picLocks noChangeAspect="1"/>
          </p:cNvPicPr>
          <p:nvPr/>
        </p:nvPicPr>
        <p:blipFill>
          <a:blip r:embed="rId8"/>
          <a:stretch>
            <a:fillRect/>
          </a:stretch>
        </p:blipFill>
        <p:spPr>
          <a:xfrm>
            <a:off x="291998" y="4839701"/>
            <a:ext cx="3234087" cy="365760"/>
          </a:xfrm>
          <a:prstGeom prst="rect">
            <a:avLst/>
          </a:prstGeom>
        </p:spPr>
      </p:pic>
      <p:pic>
        <p:nvPicPr>
          <p:cNvPr id="45" name="Εικόνα 44"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7397C80A-54CA-368B-7779-CC6976E9454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208129" y="3419400"/>
            <a:ext cx="3792417" cy="3200400"/>
          </a:xfrm>
          <a:prstGeom prst="rect">
            <a:avLst/>
          </a:prstGeom>
        </p:spPr>
      </p:pic>
      <p:sp>
        <p:nvSpPr>
          <p:cNvPr id="46" name="TextBox 45">
            <a:extLst>
              <a:ext uri="{FF2B5EF4-FFF2-40B4-BE49-F238E27FC236}">
                <a16:creationId xmlns:a16="http://schemas.microsoft.com/office/drawing/2014/main" id="{003FE3D0-9D5F-7545-D993-690551023B06}"/>
              </a:ext>
            </a:extLst>
          </p:cNvPr>
          <p:cNvSpPr txBox="1"/>
          <p:nvPr/>
        </p:nvSpPr>
        <p:spPr>
          <a:xfrm>
            <a:off x="191453" y="5543907"/>
            <a:ext cx="3043237" cy="338554"/>
          </a:xfrm>
          <a:prstGeom prst="rect">
            <a:avLst/>
          </a:prstGeom>
          <a:noFill/>
        </p:spPr>
        <p:txBody>
          <a:bodyPr wrap="square" rtlCol="0">
            <a:spAutoFit/>
          </a:bodyPr>
          <a:lstStyle/>
          <a:p>
            <a:r>
              <a:rPr lang="el-GR" sz="1600" dirty="0">
                <a:latin typeface="Calibri" panose="020F0502020204030204" pitchFamily="34" charset="0"/>
                <a:ea typeface="Calibri" panose="020F0502020204030204" pitchFamily="34" charset="0"/>
                <a:cs typeface="Calibri" panose="020F0502020204030204" pitchFamily="34" charset="0"/>
              </a:rPr>
              <a:t>Μόνο </a:t>
            </a:r>
            <a:r>
              <a:rPr lang="en-US" sz="1600" dirty="0" err="1">
                <a:latin typeface="Calibri" panose="020F0502020204030204" pitchFamily="34" charset="0"/>
                <a:ea typeface="Calibri" panose="020F0502020204030204" pitchFamily="34" charset="0"/>
                <a:cs typeface="Calibri" panose="020F0502020204030204" pitchFamily="34" charset="0"/>
              </a:rPr>
              <a:t>incorrect_mask_use</a:t>
            </a:r>
            <a:r>
              <a:rPr lang="en-US" sz="1600" dirty="0">
                <a:latin typeface="Calibri" panose="020F0502020204030204" pitchFamily="34" charset="0"/>
                <a:ea typeface="Calibri" panose="020F0502020204030204" pitchFamily="34" charset="0"/>
                <a:cs typeface="Calibri" panose="020F0502020204030204" pitchFamily="34" charset="0"/>
              </a:rPr>
              <a:t> : ≈52%</a:t>
            </a:r>
            <a:endParaRPr lang="el-GR" sz="1600" dirty="0">
              <a:latin typeface="Calibri" panose="020F0502020204030204"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C4FADE7E-40BA-627C-1D89-159FA1CEBC72}"/>
              </a:ext>
            </a:extLst>
          </p:cNvPr>
          <p:cNvSpPr txBox="1"/>
          <p:nvPr/>
        </p:nvSpPr>
        <p:spPr>
          <a:xfrm>
            <a:off x="191453" y="6016161"/>
            <a:ext cx="2474334" cy="338554"/>
          </a:xfrm>
          <a:prstGeom prst="rect">
            <a:avLst/>
          </a:prstGeom>
          <a:noFill/>
        </p:spPr>
        <p:txBody>
          <a:bodyPr wrap="square" rtlCol="0">
            <a:spAutoFit/>
          </a:bodyPr>
          <a:lstStyle/>
          <a:p>
            <a:r>
              <a:rPr lang="el-GR" sz="1600" dirty="0">
                <a:latin typeface="Calibri" panose="020F0502020204030204" pitchFamily="34" charset="0"/>
                <a:ea typeface="Calibri" panose="020F0502020204030204" pitchFamily="34" charset="0"/>
                <a:cs typeface="Calibri" panose="020F0502020204030204" pitchFamily="34" charset="0"/>
              </a:rPr>
              <a:t>Μόνο </a:t>
            </a:r>
            <a:r>
              <a:rPr lang="en-US" sz="1600" dirty="0">
                <a:latin typeface="Calibri" panose="020F0502020204030204" pitchFamily="34" charset="0"/>
                <a:ea typeface="Calibri" panose="020F0502020204030204" pitchFamily="34" charset="0"/>
                <a:cs typeface="Calibri" panose="020F0502020204030204" pitchFamily="34" charset="0"/>
              </a:rPr>
              <a:t>Label 0 : 85.11%</a:t>
            </a:r>
            <a:endParaRPr lang="el-GR"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39794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1000"/>
                                        <p:tgtEl>
                                          <p:spTgt spid="26"/>
                                        </p:tgtEl>
                                      </p:cBhvr>
                                    </p:animEffect>
                                    <p:anim calcmode="lin" valueType="num">
                                      <p:cBhvr>
                                        <p:cTn id="47" dur="1000" fill="hold"/>
                                        <p:tgtEl>
                                          <p:spTgt spid="26"/>
                                        </p:tgtEl>
                                        <p:attrNameLst>
                                          <p:attrName>ppt_x</p:attrName>
                                        </p:attrNameLst>
                                      </p:cBhvr>
                                      <p:tavLst>
                                        <p:tav tm="0">
                                          <p:val>
                                            <p:strVal val="#ppt_x"/>
                                          </p:val>
                                        </p:tav>
                                        <p:tav tm="100000">
                                          <p:val>
                                            <p:strVal val="#ppt_x"/>
                                          </p:val>
                                        </p:tav>
                                      </p:tavLst>
                                    </p:anim>
                                    <p:anim calcmode="lin" valueType="num">
                                      <p:cBhvr>
                                        <p:cTn id="4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1000"/>
                                        <p:tgtEl>
                                          <p:spTgt spid="31"/>
                                        </p:tgtEl>
                                      </p:cBhvr>
                                    </p:animEffect>
                                    <p:anim calcmode="lin" valueType="num">
                                      <p:cBhvr>
                                        <p:cTn id="54" dur="1000" fill="hold"/>
                                        <p:tgtEl>
                                          <p:spTgt spid="31"/>
                                        </p:tgtEl>
                                        <p:attrNameLst>
                                          <p:attrName>ppt_x</p:attrName>
                                        </p:attrNameLst>
                                      </p:cBhvr>
                                      <p:tavLst>
                                        <p:tav tm="0">
                                          <p:val>
                                            <p:strVal val="#ppt_x"/>
                                          </p:val>
                                        </p:tav>
                                        <p:tav tm="100000">
                                          <p:val>
                                            <p:strVal val="#ppt_x"/>
                                          </p:val>
                                        </p:tav>
                                      </p:tavLst>
                                    </p:anim>
                                    <p:anim calcmode="lin" valueType="num">
                                      <p:cBhvr>
                                        <p:cTn id="55" dur="1000" fill="hold"/>
                                        <p:tgtEl>
                                          <p:spTgt spid="31"/>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anim calcmode="lin" valueType="num">
                                      <p:cBhvr>
                                        <p:cTn id="59" dur="1000" fill="hold"/>
                                        <p:tgtEl>
                                          <p:spTgt spid="33"/>
                                        </p:tgtEl>
                                        <p:attrNameLst>
                                          <p:attrName>ppt_x</p:attrName>
                                        </p:attrNameLst>
                                      </p:cBhvr>
                                      <p:tavLst>
                                        <p:tav tm="0">
                                          <p:val>
                                            <p:strVal val="#ppt_x"/>
                                          </p:val>
                                        </p:tav>
                                        <p:tav tm="100000">
                                          <p:val>
                                            <p:strVal val="#ppt_x"/>
                                          </p:val>
                                        </p:tav>
                                      </p:tavLst>
                                    </p:anim>
                                    <p:anim calcmode="lin" valueType="num">
                                      <p:cBhvr>
                                        <p:cTn id="60" dur="1000" fill="hold"/>
                                        <p:tgtEl>
                                          <p:spTgt spid="3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000"/>
                                        <p:tgtEl>
                                          <p:spTgt spid="27"/>
                                        </p:tgtEl>
                                      </p:cBhvr>
                                    </p:animEffect>
                                    <p:anim calcmode="lin" valueType="num">
                                      <p:cBhvr>
                                        <p:cTn id="64" dur="1000" fill="hold"/>
                                        <p:tgtEl>
                                          <p:spTgt spid="27"/>
                                        </p:tgtEl>
                                        <p:attrNameLst>
                                          <p:attrName>ppt_x</p:attrName>
                                        </p:attrNameLst>
                                      </p:cBhvr>
                                      <p:tavLst>
                                        <p:tav tm="0">
                                          <p:val>
                                            <p:strVal val="#ppt_x"/>
                                          </p:val>
                                        </p:tav>
                                        <p:tav tm="100000">
                                          <p:val>
                                            <p:strVal val="#ppt_x"/>
                                          </p:val>
                                        </p:tav>
                                      </p:tavLst>
                                    </p:anim>
                                    <p:anim calcmode="lin" valueType="num">
                                      <p:cBhvr>
                                        <p:cTn id="65" dur="1000" fill="hold"/>
                                        <p:tgtEl>
                                          <p:spTgt spid="27"/>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1000"/>
                                        <p:tgtEl>
                                          <p:spTgt spid="35"/>
                                        </p:tgtEl>
                                      </p:cBhvr>
                                    </p:animEffect>
                                    <p:anim calcmode="lin" valueType="num">
                                      <p:cBhvr>
                                        <p:cTn id="69" dur="1000" fill="hold"/>
                                        <p:tgtEl>
                                          <p:spTgt spid="35"/>
                                        </p:tgtEl>
                                        <p:attrNameLst>
                                          <p:attrName>ppt_x</p:attrName>
                                        </p:attrNameLst>
                                      </p:cBhvr>
                                      <p:tavLst>
                                        <p:tav tm="0">
                                          <p:val>
                                            <p:strVal val="#ppt_x"/>
                                          </p:val>
                                        </p:tav>
                                        <p:tav tm="100000">
                                          <p:val>
                                            <p:strVal val="#ppt_x"/>
                                          </p:val>
                                        </p:tav>
                                      </p:tavLst>
                                    </p:anim>
                                    <p:anim calcmode="lin" valueType="num">
                                      <p:cBhvr>
                                        <p:cTn id="70"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1000"/>
                                        <p:tgtEl>
                                          <p:spTgt spid="40"/>
                                        </p:tgtEl>
                                      </p:cBhvr>
                                    </p:animEffect>
                                    <p:anim calcmode="lin" valueType="num">
                                      <p:cBhvr>
                                        <p:cTn id="76" dur="1000" fill="hold"/>
                                        <p:tgtEl>
                                          <p:spTgt spid="40"/>
                                        </p:tgtEl>
                                        <p:attrNameLst>
                                          <p:attrName>ppt_x</p:attrName>
                                        </p:attrNameLst>
                                      </p:cBhvr>
                                      <p:tavLst>
                                        <p:tav tm="0">
                                          <p:val>
                                            <p:strVal val="#ppt_x"/>
                                          </p:val>
                                        </p:tav>
                                        <p:tav tm="100000">
                                          <p:val>
                                            <p:strVal val="#ppt_x"/>
                                          </p:val>
                                        </p:tav>
                                      </p:tavLst>
                                    </p:anim>
                                    <p:anim calcmode="lin" valueType="num">
                                      <p:cBhvr>
                                        <p:cTn id="77" dur="1000" fill="hold"/>
                                        <p:tgtEl>
                                          <p:spTgt spid="4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1000"/>
                                        <p:tgtEl>
                                          <p:spTgt spid="43"/>
                                        </p:tgtEl>
                                      </p:cBhvr>
                                    </p:animEffect>
                                    <p:anim calcmode="lin" valueType="num">
                                      <p:cBhvr>
                                        <p:cTn id="81" dur="1000" fill="hold"/>
                                        <p:tgtEl>
                                          <p:spTgt spid="43"/>
                                        </p:tgtEl>
                                        <p:attrNameLst>
                                          <p:attrName>ppt_x</p:attrName>
                                        </p:attrNameLst>
                                      </p:cBhvr>
                                      <p:tavLst>
                                        <p:tav tm="0">
                                          <p:val>
                                            <p:strVal val="#ppt_x"/>
                                          </p:val>
                                        </p:tav>
                                        <p:tav tm="100000">
                                          <p:val>
                                            <p:strVal val="#ppt_x"/>
                                          </p:val>
                                        </p:tav>
                                      </p:tavLst>
                                    </p:anim>
                                    <p:anim calcmode="lin" valueType="num">
                                      <p:cBhvr>
                                        <p:cTn id="82" dur="1000" fill="hold"/>
                                        <p:tgtEl>
                                          <p:spTgt spid="43"/>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fade">
                                      <p:cBhvr>
                                        <p:cTn id="85" dur="1000"/>
                                        <p:tgtEl>
                                          <p:spTgt spid="46"/>
                                        </p:tgtEl>
                                      </p:cBhvr>
                                    </p:animEffect>
                                    <p:anim calcmode="lin" valueType="num">
                                      <p:cBhvr>
                                        <p:cTn id="86" dur="1000" fill="hold"/>
                                        <p:tgtEl>
                                          <p:spTgt spid="46"/>
                                        </p:tgtEl>
                                        <p:attrNameLst>
                                          <p:attrName>ppt_x</p:attrName>
                                        </p:attrNameLst>
                                      </p:cBhvr>
                                      <p:tavLst>
                                        <p:tav tm="0">
                                          <p:val>
                                            <p:strVal val="#ppt_x"/>
                                          </p:val>
                                        </p:tav>
                                        <p:tav tm="100000">
                                          <p:val>
                                            <p:strVal val="#ppt_x"/>
                                          </p:val>
                                        </p:tav>
                                      </p:tavLst>
                                    </p:anim>
                                    <p:anim calcmode="lin" valueType="num">
                                      <p:cBhvr>
                                        <p:cTn id="87" dur="1000" fill="hold"/>
                                        <p:tgtEl>
                                          <p:spTgt spid="46"/>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1000"/>
                                        <p:tgtEl>
                                          <p:spTgt spid="47"/>
                                        </p:tgtEl>
                                      </p:cBhvr>
                                    </p:animEffect>
                                    <p:anim calcmode="lin" valueType="num">
                                      <p:cBhvr>
                                        <p:cTn id="91" dur="1000" fill="hold"/>
                                        <p:tgtEl>
                                          <p:spTgt spid="47"/>
                                        </p:tgtEl>
                                        <p:attrNameLst>
                                          <p:attrName>ppt_x</p:attrName>
                                        </p:attrNameLst>
                                      </p:cBhvr>
                                      <p:tavLst>
                                        <p:tav tm="0">
                                          <p:val>
                                            <p:strVal val="#ppt_x"/>
                                          </p:val>
                                        </p:tav>
                                        <p:tav tm="100000">
                                          <p:val>
                                            <p:strVal val="#ppt_x"/>
                                          </p:val>
                                        </p:tav>
                                      </p:tavLst>
                                    </p:anim>
                                    <p:anim calcmode="lin" valueType="num">
                                      <p:cBhvr>
                                        <p:cTn id="92" dur="1000" fill="hold"/>
                                        <p:tgtEl>
                                          <p:spTgt spid="47"/>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1000"/>
                                        <p:tgtEl>
                                          <p:spTgt spid="45"/>
                                        </p:tgtEl>
                                      </p:cBhvr>
                                    </p:animEffect>
                                    <p:anim calcmode="lin" valueType="num">
                                      <p:cBhvr>
                                        <p:cTn id="96" dur="1000" fill="hold"/>
                                        <p:tgtEl>
                                          <p:spTgt spid="45"/>
                                        </p:tgtEl>
                                        <p:attrNameLst>
                                          <p:attrName>ppt_x</p:attrName>
                                        </p:attrNameLst>
                                      </p:cBhvr>
                                      <p:tavLst>
                                        <p:tav tm="0">
                                          <p:val>
                                            <p:strVal val="#ppt_x"/>
                                          </p:val>
                                        </p:tav>
                                        <p:tav tm="100000">
                                          <p:val>
                                            <p:strVal val="#ppt_x"/>
                                          </p:val>
                                        </p:tav>
                                      </p:tavLst>
                                    </p:anim>
                                    <p:anim calcmode="lin" valueType="num">
                                      <p:cBhvr>
                                        <p:cTn id="9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5" grpId="0"/>
      <p:bldP spid="17" grpId="0"/>
      <p:bldP spid="24" grpId="0"/>
      <p:bldP spid="27" grpId="0"/>
      <p:bldP spid="31" grpId="0"/>
      <p:bldP spid="40" grpId="0"/>
      <p:bldP spid="46"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BA06A3-BB61-5BDC-A217-F56D3755E7BC}"/>
              </a:ext>
            </a:extLst>
          </p:cNvPr>
          <p:cNvSpPr>
            <a:spLocks noGrp="1"/>
          </p:cNvSpPr>
          <p:nvPr>
            <p:ph type="title"/>
          </p:nvPr>
        </p:nvSpPr>
        <p:spPr>
          <a:xfrm>
            <a:off x="17850" y="29529"/>
            <a:ext cx="10213200" cy="519111"/>
          </a:xfrm>
        </p:spPr>
        <p:txBody>
          <a:bodyPr>
            <a:noAutofit/>
          </a:bodyPr>
          <a:lstStyle/>
          <a:p>
            <a:r>
              <a:rPr lang="el-GR" sz="2400" b="1" dirty="0">
                <a:latin typeface="Calibri" panose="020F0502020204030204" pitchFamily="34" charset="0"/>
                <a:ea typeface="Calibri" panose="020F0502020204030204" pitchFamily="34" charset="0"/>
                <a:cs typeface="Calibri" panose="020F0502020204030204" pitchFamily="34" charset="0"/>
              </a:rPr>
              <a:t>Μέρος 2 - </a:t>
            </a:r>
            <a:r>
              <a:rPr lang="el-GR" sz="2400" b="1" i="0" u="none" strike="noStrike" baseline="0" dirty="0">
                <a:solidFill>
                  <a:srgbClr val="000000"/>
                </a:solidFill>
                <a:latin typeface="Calibri" panose="020F0502020204030204" pitchFamily="34" charset="0"/>
              </a:rPr>
              <a:t>Πρόβλεψη πρόσδεσης χημικών μορίων σε βιολογικούς υποδοχείς </a:t>
            </a:r>
            <a:endParaRPr lang="el-GR" sz="2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Θέση κειμένου 2">
            <a:extLst>
              <a:ext uri="{FF2B5EF4-FFF2-40B4-BE49-F238E27FC236}">
                <a16:creationId xmlns:a16="http://schemas.microsoft.com/office/drawing/2014/main" id="{4F6EE32A-03D0-BB8A-C8E2-39EC404A5654}"/>
              </a:ext>
            </a:extLst>
          </p:cNvPr>
          <p:cNvSpPr>
            <a:spLocks noGrp="1"/>
          </p:cNvSpPr>
          <p:nvPr>
            <p:ph type="body" idx="1"/>
          </p:nvPr>
        </p:nvSpPr>
        <p:spPr>
          <a:xfrm>
            <a:off x="115666" y="1441508"/>
            <a:ext cx="4928400" cy="501687"/>
          </a:xfrm>
        </p:spPr>
        <p:txBody>
          <a:bodyPr>
            <a:normAutofit/>
          </a:bodyPr>
          <a:lstStyle/>
          <a:p>
            <a:pPr algn="ctr"/>
            <a:r>
              <a:rPr lang="el-GR" sz="2000" b="1" cap="none" spc="0" dirty="0">
                <a:solidFill>
                  <a:srgbClr val="000000"/>
                </a:solidFill>
                <a:latin typeface="Calibri" panose="020F0502020204030204" pitchFamily="34" charset="0"/>
                <a:ea typeface="+mj-ea"/>
                <a:cs typeface="+mj-cs"/>
              </a:rPr>
              <a:t>Νευρωνικό</a:t>
            </a:r>
          </a:p>
        </p:txBody>
      </p:sp>
      <p:sp>
        <p:nvSpPr>
          <p:cNvPr id="4" name="Θέση περιεχομένου 3">
            <a:extLst>
              <a:ext uri="{FF2B5EF4-FFF2-40B4-BE49-F238E27FC236}">
                <a16:creationId xmlns:a16="http://schemas.microsoft.com/office/drawing/2014/main" id="{D13BD29B-8FFB-22C0-FED2-A10EFF4C1A01}"/>
              </a:ext>
            </a:extLst>
          </p:cNvPr>
          <p:cNvSpPr>
            <a:spLocks noGrp="1"/>
          </p:cNvSpPr>
          <p:nvPr>
            <p:ph sz="half" idx="2"/>
          </p:nvPr>
        </p:nvSpPr>
        <p:spPr>
          <a:xfrm>
            <a:off x="115666" y="2005086"/>
            <a:ext cx="4928400" cy="1119727"/>
          </a:xfrm>
        </p:spPr>
        <p:txBody>
          <a:bodyPr>
            <a:normAutofit/>
          </a:bodyPr>
          <a:lstStyle/>
          <a:p>
            <a:pPr marL="0" indent="0">
              <a:lnSpc>
                <a:spcPct val="100000"/>
              </a:lnSpc>
              <a:buNone/>
            </a:pPr>
            <a:r>
              <a:rPr lang="el-GR" sz="1600" spc="0" dirty="0">
                <a:solidFill>
                  <a:srgbClr val="000000"/>
                </a:solidFill>
                <a:latin typeface="Calibri" panose="020F0502020204030204" pitchFamily="34" charset="0"/>
                <a:ea typeface="+mj-ea"/>
                <a:cs typeface="+mj-cs"/>
              </a:rPr>
              <a:t>Εκτέλεση </a:t>
            </a:r>
            <a:r>
              <a:rPr lang="en-US" sz="1600" spc="0" dirty="0">
                <a:solidFill>
                  <a:srgbClr val="000000"/>
                </a:solidFill>
                <a:latin typeface="Calibri" panose="020F0502020204030204" pitchFamily="34" charset="0"/>
                <a:ea typeface="+mj-ea"/>
                <a:cs typeface="+mj-cs"/>
              </a:rPr>
              <a:t>Bayesian </a:t>
            </a:r>
            <a:r>
              <a:rPr lang="el-GR" sz="1600" spc="0" dirty="0">
                <a:solidFill>
                  <a:srgbClr val="000000"/>
                </a:solidFill>
                <a:latin typeface="Calibri" panose="020F0502020204030204" pitchFamily="34" charset="0"/>
                <a:ea typeface="+mj-ea"/>
                <a:cs typeface="+mj-cs"/>
              </a:rPr>
              <a:t>αναζήτησης για την επιλογή των τελικών παραμέτρων του νευρωνικού δικτύου.</a:t>
            </a:r>
          </a:p>
          <a:p>
            <a:pPr marL="0" indent="0">
              <a:lnSpc>
                <a:spcPct val="100000"/>
              </a:lnSpc>
              <a:buNone/>
            </a:pPr>
            <a:r>
              <a:rPr lang="el-GR" sz="1600" spc="0" dirty="0">
                <a:solidFill>
                  <a:srgbClr val="000000"/>
                </a:solidFill>
                <a:latin typeface="Calibri" panose="020F0502020204030204" pitchFamily="34" charset="0"/>
                <a:ea typeface="+mj-ea"/>
                <a:cs typeface="+mj-cs"/>
              </a:rPr>
              <a:t>Τελικό Νευρωνικό:</a:t>
            </a:r>
          </a:p>
        </p:txBody>
      </p:sp>
      <p:sp>
        <p:nvSpPr>
          <p:cNvPr id="5" name="Θέση κειμένου 4">
            <a:extLst>
              <a:ext uri="{FF2B5EF4-FFF2-40B4-BE49-F238E27FC236}">
                <a16:creationId xmlns:a16="http://schemas.microsoft.com/office/drawing/2014/main" id="{9C8E0230-D58A-D18C-BF06-4D179977A1B6}"/>
              </a:ext>
            </a:extLst>
          </p:cNvPr>
          <p:cNvSpPr>
            <a:spLocks noGrp="1"/>
          </p:cNvSpPr>
          <p:nvPr>
            <p:ph type="body" sz="quarter" idx="3"/>
          </p:nvPr>
        </p:nvSpPr>
        <p:spPr>
          <a:xfrm>
            <a:off x="6399878" y="1436441"/>
            <a:ext cx="4928400" cy="501687"/>
          </a:xfrm>
        </p:spPr>
        <p:txBody>
          <a:bodyPr>
            <a:normAutofit/>
          </a:bodyPr>
          <a:lstStyle/>
          <a:p>
            <a:pPr algn="ctr"/>
            <a:r>
              <a:rPr lang="en-US" sz="2000" b="1" cap="none" spc="0" dirty="0">
                <a:solidFill>
                  <a:srgbClr val="000000"/>
                </a:solidFill>
                <a:latin typeface="Calibri" panose="020F0502020204030204" pitchFamily="34" charset="0"/>
                <a:ea typeface="+mj-ea"/>
                <a:cs typeface="+mj-cs"/>
              </a:rPr>
              <a:t>SVM</a:t>
            </a:r>
            <a:endParaRPr lang="el-GR" sz="2000" b="1" cap="none" spc="0" dirty="0">
              <a:solidFill>
                <a:srgbClr val="000000"/>
              </a:solidFill>
              <a:latin typeface="Calibri" panose="020F0502020204030204" pitchFamily="34" charset="0"/>
              <a:ea typeface="+mj-ea"/>
              <a:cs typeface="+mj-cs"/>
            </a:endParaRPr>
          </a:p>
        </p:txBody>
      </p:sp>
      <p:sp>
        <p:nvSpPr>
          <p:cNvPr id="7" name="Ορθογώνιο 6">
            <a:extLst>
              <a:ext uri="{FF2B5EF4-FFF2-40B4-BE49-F238E27FC236}">
                <a16:creationId xmlns:a16="http://schemas.microsoft.com/office/drawing/2014/main" id="{ED97F5C4-0FDE-E983-0C5A-5394830DA6E2}"/>
              </a:ext>
            </a:extLst>
          </p:cNvPr>
          <p:cNvSpPr/>
          <p:nvPr/>
        </p:nvSpPr>
        <p:spPr>
          <a:xfrm rot="5400000">
            <a:off x="52578" y="3627381"/>
            <a:ext cx="793515" cy="342735"/>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endParaRPr lang="el-GR" dirty="0"/>
          </a:p>
        </p:txBody>
      </p:sp>
      <p:sp>
        <p:nvSpPr>
          <p:cNvPr id="8" name="Βέλος: Δεξιό 7">
            <a:extLst>
              <a:ext uri="{FF2B5EF4-FFF2-40B4-BE49-F238E27FC236}">
                <a16:creationId xmlns:a16="http://schemas.microsoft.com/office/drawing/2014/main" id="{3EC930E6-2750-0D4E-0AEC-0D880BDEACE2}"/>
              </a:ext>
            </a:extLst>
          </p:cNvPr>
          <p:cNvSpPr/>
          <p:nvPr/>
        </p:nvSpPr>
        <p:spPr>
          <a:xfrm>
            <a:off x="708543" y="3713023"/>
            <a:ext cx="359340" cy="171450"/>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Ορθογώνιο 8">
            <a:extLst>
              <a:ext uri="{FF2B5EF4-FFF2-40B4-BE49-F238E27FC236}">
                <a16:creationId xmlns:a16="http://schemas.microsoft.com/office/drawing/2014/main" id="{218A7FB7-B22E-A663-D25D-FFD9AD296F94}"/>
              </a:ext>
            </a:extLst>
          </p:cNvPr>
          <p:cNvSpPr/>
          <p:nvPr/>
        </p:nvSpPr>
        <p:spPr>
          <a:xfrm>
            <a:off x="1159848" y="3258133"/>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1</a:t>
            </a:r>
            <a:endParaRPr lang="el-GR" dirty="0">
              <a:solidFill>
                <a:schemeClr val="bg1"/>
              </a:solidFill>
            </a:endParaRPr>
          </a:p>
        </p:txBody>
      </p:sp>
      <p:sp>
        <p:nvSpPr>
          <p:cNvPr id="10" name="Ορθογώνιο 9">
            <a:extLst>
              <a:ext uri="{FF2B5EF4-FFF2-40B4-BE49-F238E27FC236}">
                <a16:creationId xmlns:a16="http://schemas.microsoft.com/office/drawing/2014/main" id="{A330F442-004A-9668-D3EB-2C9172C5069A}"/>
              </a:ext>
            </a:extLst>
          </p:cNvPr>
          <p:cNvSpPr/>
          <p:nvPr/>
        </p:nvSpPr>
        <p:spPr>
          <a:xfrm>
            <a:off x="2000084" y="3258133"/>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a:t>
            </a:r>
            <a:r>
              <a:rPr lang="el-GR" dirty="0">
                <a:solidFill>
                  <a:schemeClr val="bg1"/>
                </a:solidFill>
              </a:rPr>
              <a:t>2</a:t>
            </a:r>
          </a:p>
        </p:txBody>
      </p:sp>
      <p:sp>
        <p:nvSpPr>
          <p:cNvPr id="11" name="Ορθογώνιο 10">
            <a:extLst>
              <a:ext uri="{FF2B5EF4-FFF2-40B4-BE49-F238E27FC236}">
                <a16:creationId xmlns:a16="http://schemas.microsoft.com/office/drawing/2014/main" id="{7FC207B0-260A-422D-BBD9-85C17814BF55}"/>
              </a:ext>
            </a:extLst>
          </p:cNvPr>
          <p:cNvSpPr/>
          <p:nvPr/>
        </p:nvSpPr>
        <p:spPr>
          <a:xfrm rot="16200000">
            <a:off x="4035336" y="3050025"/>
            <a:ext cx="321940" cy="1497443"/>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Output Layer</a:t>
            </a:r>
            <a:endParaRPr lang="el-GR" dirty="0">
              <a:solidFill>
                <a:schemeClr val="bg1"/>
              </a:solidFill>
            </a:endParaRPr>
          </a:p>
        </p:txBody>
      </p:sp>
      <p:cxnSp>
        <p:nvCxnSpPr>
          <p:cNvPr id="13" name="Ευθύγραμμο βέλος σύνδεσης 12">
            <a:extLst>
              <a:ext uri="{FF2B5EF4-FFF2-40B4-BE49-F238E27FC236}">
                <a16:creationId xmlns:a16="http://schemas.microsoft.com/office/drawing/2014/main" id="{1203F615-472E-9C8F-5683-5C190CF16AD0}"/>
              </a:ext>
            </a:extLst>
          </p:cNvPr>
          <p:cNvCxnSpPr>
            <a:stCxn id="9" idx="3"/>
            <a:endCxn id="10" idx="1"/>
          </p:cNvCxnSpPr>
          <p:nvPr/>
        </p:nvCxnSpPr>
        <p:spPr>
          <a:xfrm>
            <a:off x="1481788" y="3798748"/>
            <a:ext cx="5182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Ευθύγραμμο βέλος σύνδεσης 14">
            <a:extLst>
              <a:ext uri="{FF2B5EF4-FFF2-40B4-BE49-F238E27FC236}">
                <a16:creationId xmlns:a16="http://schemas.microsoft.com/office/drawing/2014/main" id="{15825E32-25B4-7082-4334-E806C0A95274}"/>
              </a:ext>
            </a:extLst>
          </p:cNvPr>
          <p:cNvCxnSpPr>
            <a:cxnSpLocks/>
            <a:stCxn id="10" idx="3"/>
            <a:endCxn id="31" idx="1"/>
          </p:cNvCxnSpPr>
          <p:nvPr/>
        </p:nvCxnSpPr>
        <p:spPr>
          <a:xfrm flipV="1">
            <a:off x="2322024" y="3798747"/>
            <a:ext cx="51702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Ευθύγραμμο βέλος σύνδεσης 16">
            <a:extLst>
              <a:ext uri="{FF2B5EF4-FFF2-40B4-BE49-F238E27FC236}">
                <a16:creationId xmlns:a16="http://schemas.microsoft.com/office/drawing/2014/main" id="{CB7B58DC-FD17-FB52-B511-CCD470668871}"/>
              </a:ext>
            </a:extLst>
          </p:cNvPr>
          <p:cNvCxnSpPr>
            <a:stCxn id="11" idx="2"/>
          </p:cNvCxnSpPr>
          <p:nvPr/>
        </p:nvCxnSpPr>
        <p:spPr>
          <a:xfrm>
            <a:off x="4945028" y="3798746"/>
            <a:ext cx="3170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Θέση κειμένου 2">
            <a:extLst>
              <a:ext uri="{FF2B5EF4-FFF2-40B4-BE49-F238E27FC236}">
                <a16:creationId xmlns:a16="http://schemas.microsoft.com/office/drawing/2014/main" id="{22A7DEFB-413D-6FC7-4354-E88CED38C2A6}"/>
              </a:ext>
            </a:extLst>
          </p:cNvPr>
          <p:cNvSpPr txBox="1">
            <a:spLocks/>
          </p:cNvSpPr>
          <p:nvPr/>
        </p:nvSpPr>
        <p:spPr>
          <a:xfrm>
            <a:off x="3631800" y="352110"/>
            <a:ext cx="4928400" cy="501687"/>
          </a:xfrm>
          <a:prstGeom prst="rect">
            <a:avLst/>
          </a:prstGeom>
        </p:spPr>
        <p:txBody>
          <a:bodyPr vert="horz" lIns="91440" tIns="45720" rIns="91440" bIns="45720" rtlCol="0" anchor="b">
            <a:normAutofit/>
          </a:bodyPr>
          <a:lstStyle>
            <a:lvl1pPr marL="0" indent="0" algn="l" defTabSz="914400" rtl="0" eaLnBrk="1" latinLnBrk="0" hangingPunct="1">
              <a:lnSpc>
                <a:spcPct val="150000"/>
              </a:lnSpc>
              <a:spcBef>
                <a:spcPts val="1000"/>
              </a:spcBef>
              <a:buClr>
                <a:schemeClr val="accent3"/>
              </a:buClr>
              <a:buFont typeface="Wingdings" panose="05000000000000000000" pitchFamily="2" charset="2"/>
              <a:buNone/>
              <a:defRPr sz="1600" b="0" kern="1200" cap="all" spc="300" baseline="0">
                <a:solidFill>
                  <a:schemeClr val="tx1">
                    <a:alpha val="60000"/>
                  </a:schemeClr>
                </a:solidFill>
                <a:latin typeface="+mn-lt"/>
                <a:ea typeface="+mn-ea"/>
                <a:cs typeface="+mn-cs"/>
              </a:defRPr>
            </a:lvl1pPr>
            <a:lvl2pPr marL="457200" indent="0" algn="l" defTabSz="914400" rtl="0" eaLnBrk="1" latinLnBrk="0" hangingPunct="1">
              <a:lnSpc>
                <a:spcPct val="150000"/>
              </a:lnSpc>
              <a:spcBef>
                <a:spcPts val="500"/>
              </a:spcBef>
              <a:buFontTx/>
              <a:buNone/>
              <a:defRPr sz="2000" b="1" i="1" kern="1200" spc="50" baseline="0">
                <a:solidFill>
                  <a:schemeClr val="tx1">
                    <a:alpha val="60000"/>
                  </a:schemeClr>
                </a:solidFill>
                <a:latin typeface="+mn-lt"/>
                <a:ea typeface="+mn-ea"/>
                <a:cs typeface="+mn-cs"/>
              </a:defRPr>
            </a:lvl2pPr>
            <a:lvl3pPr marL="914400" indent="0" algn="l" defTabSz="914400" rtl="0" eaLnBrk="1" latinLnBrk="0" hangingPunct="1">
              <a:lnSpc>
                <a:spcPct val="150000"/>
              </a:lnSpc>
              <a:spcBef>
                <a:spcPts val="500"/>
              </a:spcBef>
              <a:buClr>
                <a:schemeClr val="accent3"/>
              </a:buClr>
              <a:buFont typeface="Wingdings" panose="05000000000000000000" pitchFamily="2" charset="2"/>
              <a:buNone/>
              <a:defRPr sz="1800" b="1" kern="1200" spc="50">
                <a:solidFill>
                  <a:schemeClr val="tx1">
                    <a:alpha val="60000"/>
                  </a:schemeClr>
                </a:solidFill>
                <a:latin typeface="+mn-lt"/>
                <a:ea typeface="+mn-ea"/>
                <a:cs typeface="+mn-cs"/>
              </a:defRPr>
            </a:lvl3pPr>
            <a:lvl4pPr marL="1371600" indent="0" algn="l" defTabSz="914400" rtl="0" eaLnBrk="1" latinLnBrk="0" hangingPunct="1">
              <a:lnSpc>
                <a:spcPct val="150000"/>
              </a:lnSpc>
              <a:spcBef>
                <a:spcPts val="500"/>
              </a:spcBef>
              <a:buClr>
                <a:schemeClr val="accent3"/>
              </a:buClr>
              <a:buFontTx/>
              <a:buNone/>
              <a:defRPr sz="1600" b="1" i="1" kern="1200" spc="50" baseline="0">
                <a:solidFill>
                  <a:schemeClr val="tx1">
                    <a:alpha val="60000"/>
                  </a:schemeClr>
                </a:solidFill>
                <a:latin typeface="+mn-lt"/>
                <a:ea typeface="+mn-ea"/>
                <a:cs typeface="+mn-cs"/>
              </a:defRPr>
            </a:lvl4pPr>
            <a:lvl5pPr marL="1828800" indent="0" algn="l" defTabSz="914400" rtl="0" eaLnBrk="1" latinLnBrk="0" hangingPunct="1">
              <a:lnSpc>
                <a:spcPct val="150000"/>
              </a:lnSpc>
              <a:spcBef>
                <a:spcPts val="500"/>
              </a:spcBef>
              <a:buClr>
                <a:schemeClr val="accent3"/>
              </a:buClr>
              <a:buFont typeface="Wingdings" panose="05000000000000000000" pitchFamily="2" charset="2"/>
              <a:buNone/>
              <a:defRPr sz="1600" b="1" kern="1200" spc="50">
                <a:solidFill>
                  <a:schemeClr val="tx1">
                    <a:alpha val="60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l-GR" sz="2000" b="1" cap="none" spc="0" dirty="0">
                <a:solidFill>
                  <a:srgbClr val="000000"/>
                </a:solidFill>
                <a:latin typeface="Calibri" panose="020F0502020204030204" pitchFamily="34" charset="0"/>
                <a:ea typeface="+mj-ea"/>
                <a:cs typeface="+mj-cs"/>
              </a:rPr>
              <a:t>Προ-επεξεργασία Δεδομένων</a:t>
            </a:r>
          </a:p>
        </p:txBody>
      </p:sp>
      <p:sp>
        <p:nvSpPr>
          <p:cNvPr id="19" name="TextBox 18">
            <a:extLst>
              <a:ext uri="{FF2B5EF4-FFF2-40B4-BE49-F238E27FC236}">
                <a16:creationId xmlns:a16="http://schemas.microsoft.com/office/drawing/2014/main" id="{D770A699-70B3-23D5-88B4-FB085BD62BE6}"/>
              </a:ext>
            </a:extLst>
          </p:cNvPr>
          <p:cNvSpPr txBox="1"/>
          <p:nvPr/>
        </p:nvSpPr>
        <p:spPr>
          <a:xfrm>
            <a:off x="29829" y="827639"/>
            <a:ext cx="3324392" cy="584775"/>
          </a:xfrm>
          <a:prstGeom prst="rect">
            <a:avLst/>
          </a:prstGeom>
          <a:noFill/>
        </p:spPr>
        <p:txBody>
          <a:bodyPr wrap="square" rtlCol="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1. </a:t>
            </a:r>
            <a:r>
              <a:rPr lang="el-GR" sz="1600" dirty="0">
                <a:latin typeface="Calibri" panose="020F0502020204030204" pitchFamily="34" charset="0"/>
                <a:ea typeface="Calibri" panose="020F0502020204030204" pitchFamily="34" charset="0"/>
                <a:cs typeface="Calibri" panose="020F0502020204030204" pitchFamily="34" charset="0"/>
              </a:rPr>
              <a:t>Διαχωρισμός δεδομένων σε 3 μικρότερα σετ</a:t>
            </a:r>
            <a:r>
              <a:rPr lang="en-US" sz="1600" dirty="0">
                <a:latin typeface="Calibri" panose="020F0502020204030204" pitchFamily="34" charset="0"/>
                <a:ea typeface="Calibri" panose="020F0502020204030204" pitchFamily="34" charset="0"/>
                <a:cs typeface="Calibri" panose="020F0502020204030204" pitchFamily="34" charset="0"/>
              </a:rPr>
              <a:t> </a:t>
            </a:r>
            <a:r>
              <a:rPr lang="el-GR" sz="1600"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Train, Validation, Test)</a:t>
            </a:r>
          </a:p>
        </p:txBody>
      </p:sp>
      <p:sp>
        <p:nvSpPr>
          <p:cNvPr id="20" name="TextBox 19">
            <a:extLst>
              <a:ext uri="{FF2B5EF4-FFF2-40B4-BE49-F238E27FC236}">
                <a16:creationId xmlns:a16="http://schemas.microsoft.com/office/drawing/2014/main" id="{2B7931A5-0035-3144-965B-0350EAC7187A}"/>
              </a:ext>
            </a:extLst>
          </p:cNvPr>
          <p:cNvSpPr txBox="1"/>
          <p:nvPr/>
        </p:nvSpPr>
        <p:spPr>
          <a:xfrm>
            <a:off x="6274200" y="831205"/>
            <a:ext cx="3499803" cy="830997"/>
          </a:xfrm>
          <a:prstGeom prst="rect">
            <a:avLst/>
          </a:prstGeom>
          <a:noFill/>
        </p:spPr>
        <p:txBody>
          <a:bodyPr wrap="square" rtlCol="0">
            <a:spAutoFit/>
          </a:bodyPr>
          <a:lstStyle/>
          <a:p>
            <a:r>
              <a:rPr lang="el-GR" sz="1600" dirty="0">
                <a:latin typeface="Calibri" panose="020F0502020204030204" pitchFamily="34" charset="0"/>
                <a:ea typeface="Calibri" panose="020F0502020204030204" pitchFamily="34" charset="0"/>
                <a:cs typeface="Calibri" panose="020F0502020204030204" pitchFamily="34" charset="0"/>
              </a:rPr>
              <a:t>3</a:t>
            </a:r>
            <a:r>
              <a:rPr lang="en-US" sz="1600" dirty="0">
                <a:latin typeface="Calibri" panose="020F0502020204030204" pitchFamily="34" charset="0"/>
                <a:ea typeface="Calibri" panose="020F0502020204030204" pitchFamily="34" charset="0"/>
                <a:cs typeface="Calibri" panose="020F0502020204030204" pitchFamily="34" charset="0"/>
              </a:rPr>
              <a:t>. </a:t>
            </a:r>
            <a:r>
              <a:rPr lang="el-GR" sz="1600" dirty="0">
                <a:latin typeface="Calibri" panose="020F0502020204030204" pitchFamily="34" charset="0"/>
                <a:ea typeface="Calibri" panose="020F0502020204030204" pitchFamily="34" charset="0"/>
                <a:cs typeface="Calibri" panose="020F0502020204030204" pitchFamily="34" charset="0"/>
              </a:rPr>
              <a:t>Εφαρμογή </a:t>
            </a:r>
            <a:r>
              <a:rPr lang="en-US" sz="1600" dirty="0">
                <a:latin typeface="Calibri" panose="020F0502020204030204" pitchFamily="34" charset="0"/>
                <a:ea typeface="Calibri" panose="020F0502020204030204" pitchFamily="34" charset="0"/>
                <a:cs typeface="Calibri" panose="020F0502020204030204" pitchFamily="34" charset="0"/>
              </a:rPr>
              <a:t>PCA </a:t>
            </a:r>
            <a:r>
              <a:rPr lang="el-GR" sz="1600" dirty="0">
                <a:latin typeface="Calibri" panose="020F0502020204030204" pitchFamily="34" charset="0"/>
                <a:ea typeface="Calibri" panose="020F0502020204030204" pitchFamily="34" charset="0"/>
                <a:cs typeface="Calibri" panose="020F0502020204030204" pitchFamily="34" charset="0"/>
              </a:rPr>
              <a:t>για 426 κύριες συνιστώσες (99.5% Αρχικής διασποράς)</a:t>
            </a:r>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7004CC89-10FA-FADF-DD58-C672F8E1E2A8}"/>
              </a:ext>
            </a:extLst>
          </p:cNvPr>
          <p:cNvSpPr txBox="1"/>
          <p:nvPr/>
        </p:nvSpPr>
        <p:spPr>
          <a:xfrm>
            <a:off x="10231050" y="863330"/>
            <a:ext cx="1753305" cy="338554"/>
          </a:xfrm>
          <a:prstGeom prst="rect">
            <a:avLst/>
          </a:prstGeom>
          <a:noFill/>
        </p:spPr>
        <p:txBody>
          <a:bodyPr wrap="square">
            <a:spAutoFit/>
          </a:bodyPr>
          <a:lstStyle/>
          <a:p>
            <a:r>
              <a:rPr lang="el-GR" sz="1600" dirty="0">
                <a:latin typeface="Calibri" panose="020F0502020204030204" pitchFamily="34" charset="0"/>
                <a:ea typeface="Calibri" panose="020F0502020204030204" pitchFamily="34" charset="0"/>
                <a:cs typeface="Calibri" panose="020F0502020204030204" pitchFamily="34" charset="0"/>
              </a:rPr>
              <a:t>4. Εφαρμογή </a:t>
            </a:r>
            <a:r>
              <a:rPr lang="en-US" sz="1600" dirty="0">
                <a:latin typeface="Calibri" panose="020F0502020204030204" pitchFamily="34" charset="0"/>
                <a:ea typeface="Calibri" panose="020F0502020204030204" pitchFamily="34" charset="0"/>
                <a:cs typeface="Calibri" panose="020F0502020204030204" pitchFamily="34" charset="0"/>
              </a:rPr>
              <a:t>LDA</a:t>
            </a:r>
            <a:endParaRPr lang="el-GR" sz="1600" dirty="0">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4F170B78-004D-39B9-D45A-76C29C47B61B}"/>
              </a:ext>
            </a:extLst>
          </p:cNvPr>
          <p:cNvSpPr txBox="1"/>
          <p:nvPr/>
        </p:nvSpPr>
        <p:spPr>
          <a:xfrm>
            <a:off x="3345750" y="863330"/>
            <a:ext cx="3324392" cy="338554"/>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2. </a:t>
            </a:r>
            <a:r>
              <a:rPr lang="el-GR" sz="1600" dirty="0">
                <a:latin typeface="Calibri" panose="020F0502020204030204" pitchFamily="34" charset="0"/>
                <a:ea typeface="Calibri" panose="020F0502020204030204" pitchFamily="34" charset="0"/>
                <a:cs typeface="Calibri" panose="020F0502020204030204" pitchFamily="34" charset="0"/>
              </a:rPr>
              <a:t>Κανονικοποίηση Δεδομένων</a:t>
            </a:r>
          </a:p>
        </p:txBody>
      </p:sp>
      <p:sp>
        <p:nvSpPr>
          <p:cNvPr id="25" name="TextBox 24">
            <a:extLst>
              <a:ext uri="{FF2B5EF4-FFF2-40B4-BE49-F238E27FC236}">
                <a16:creationId xmlns:a16="http://schemas.microsoft.com/office/drawing/2014/main" id="{970D63CD-143B-5DAA-3761-018F94BF3044}"/>
              </a:ext>
            </a:extLst>
          </p:cNvPr>
          <p:cNvSpPr txBox="1"/>
          <p:nvPr/>
        </p:nvSpPr>
        <p:spPr>
          <a:xfrm>
            <a:off x="277968" y="4403282"/>
            <a:ext cx="342735" cy="369332"/>
          </a:xfrm>
          <a:prstGeom prst="rect">
            <a:avLst/>
          </a:prstGeom>
          <a:noFill/>
        </p:spPr>
        <p:txBody>
          <a:bodyPr wrap="square" rtlCol="0">
            <a:spAutoFit/>
          </a:bodyPr>
          <a:lstStyle/>
          <a:p>
            <a:r>
              <a:rPr lang="en-US"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1</a:t>
            </a:r>
            <a:endPar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E65AC3FC-E718-3135-F9A5-DA0838FB4F29}"/>
              </a:ext>
            </a:extLst>
          </p:cNvPr>
          <p:cNvSpPr txBox="1"/>
          <p:nvPr/>
        </p:nvSpPr>
        <p:spPr>
          <a:xfrm>
            <a:off x="1024741" y="4397436"/>
            <a:ext cx="601912" cy="369332"/>
          </a:xfrm>
          <a:prstGeom prst="rect">
            <a:avLst/>
          </a:prstGeom>
          <a:noFill/>
        </p:spPr>
        <p:txBody>
          <a:bodyPr wrap="square" rtlCol="0">
            <a:spAutoFit/>
          </a:bodyPr>
          <a:lstStyle/>
          <a:p>
            <a:pPr algn="ctr"/>
            <a:r>
              <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175</a:t>
            </a:r>
          </a:p>
        </p:txBody>
      </p:sp>
      <p:sp>
        <p:nvSpPr>
          <p:cNvPr id="27" name="TextBox 26">
            <a:extLst>
              <a:ext uri="{FF2B5EF4-FFF2-40B4-BE49-F238E27FC236}">
                <a16:creationId xmlns:a16="http://schemas.microsoft.com/office/drawing/2014/main" id="{EFF7EEFC-1C2F-B8A5-B488-125B0148EB45}"/>
              </a:ext>
            </a:extLst>
          </p:cNvPr>
          <p:cNvSpPr txBox="1"/>
          <p:nvPr/>
        </p:nvSpPr>
        <p:spPr>
          <a:xfrm>
            <a:off x="1860098" y="4397436"/>
            <a:ext cx="601912" cy="369332"/>
          </a:xfrm>
          <a:prstGeom prst="rect">
            <a:avLst/>
          </a:prstGeom>
          <a:noFill/>
        </p:spPr>
        <p:txBody>
          <a:bodyPr wrap="square" rtlCol="0">
            <a:spAutoFit/>
          </a:bodyPr>
          <a:lstStyle/>
          <a:p>
            <a:pPr algn="ctr"/>
            <a:r>
              <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275</a:t>
            </a:r>
          </a:p>
        </p:txBody>
      </p:sp>
      <p:sp>
        <p:nvSpPr>
          <p:cNvPr id="28" name="TextBox 27">
            <a:extLst>
              <a:ext uri="{FF2B5EF4-FFF2-40B4-BE49-F238E27FC236}">
                <a16:creationId xmlns:a16="http://schemas.microsoft.com/office/drawing/2014/main" id="{26027535-5863-3B47-0950-221795D06A2D}"/>
              </a:ext>
            </a:extLst>
          </p:cNvPr>
          <p:cNvSpPr txBox="1"/>
          <p:nvPr/>
        </p:nvSpPr>
        <p:spPr>
          <a:xfrm>
            <a:off x="4024938" y="4399909"/>
            <a:ext cx="342735" cy="369332"/>
          </a:xfrm>
          <a:prstGeom prst="rect">
            <a:avLst/>
          </a:prstGeom>
          <a:noFill/>
        </p:spPr>
        <p:txBody>
          <a:bodyPr wrap="square" rtlCol="0">
            <a:spAutoFit/>
          </a:bodyPr>
          <a:lstStyle/>
          <a:p>
            <a:pPr algn="ctr"/>
            <a:r>
              <a:rPr lang="en-US"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1</a:t>
            </a:r>
            <a:endPar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Ορθογώνιο 30">
            <a:extLst>
              <a:ext uri="{FF2B5EF4-FFF2-40B4-BE49-F238E27FC236}">
                <a16:creationId xmlns:a16="http://schemas.microsoft.com/office/drawing/2014/main" id="{627D1175-CEC9-F6B8-CB81-332628E728A5}"/>
              </a:ext>
            </a:extLst>
          </p:cNvPr>
          <p:cNvSpPr/>
          <p:nvPr/>
        </p:nvSpPr>
        <p:spPr>
          <a:xfrm>
            <a:off x="2839047" y="3258132"/>
            <a:ext cx="321940" cy="1081229"/>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bg1"/>
                </a:solidFill>
              </a:rPr>
              <a:t>Layer </a:t>
            </a:r>
            <a:r>
              <a:rPr lang="el-GR" dirty="0">
                <a:solidFill>
                  <a:schemeClr val="bg1"/>
                </a:solidFill>
              </a:rPr>
              <a:t>3</a:t>
            </a:r>
          </a:p>
        </p:txBody>
      </p:sp>
      <p:sp>
        <p:nvSpPr>
          <p:cNvPr id="35" name="TextBox 34">
            <a:extLst>
              <a:ext uri="{FF2B5EF4-FFF2-40B4-BE49-F238E27FC236}">
                <a16:creationId xmlns:a16="http://schemas.microsoft.com/office/drawing/2014/main" id="{1885AE42-E996-AB1A-60F5-8F91962F028F}"/>
              </a:ext>
            </a:extLst>
          </p:cNvPr>
          <p:cNvSpPr txBox="1"/>
          <p:nvPr/>
        </p:nvSpPr>
        <p:spPr>
          <a:xfrm>
            <a:off x="2695455" y="4397436"/>
            <a:ext cx="601912" cy="369332"/>
          </a:xfrm>
          <a:prstGeom prst="rect">
            <a:avLst/>
          </a:prstGeom>
          <a:noFill/>
        </p:spPr>
        <p:txBody>
          <a:bodyPr wrap="square" rtlCol="0">
            <a:spAutoFit/>
          </a:bodyPr>
          <a:lstStyle/>
          <a:p>
            <a:pPr algn="ctr"/>
            <a:r>
              <a:rPr lang="el-GR"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65</a:t>
            </a:r>
          </a:p>
        </p:txBody>
      </p:sp>
      <p:cxnSp>
        <p:nvCxnSpPr>
          <p:cNvPr id="37" name="Ευθύγραμμο βέλος σύνδεσης 36">
            <a:extLst>
              <a:ext uri="{FF2B5EF4-FFF2-40B4-BE49-F238E27FC236}">
                <a16:creationId xmlns:a16="http://schemas.microsoft.com/office/drawing/2014/main" id="{8B8F42D4-6C9B-5CB5-02A8-7A75F7E355F2}"/>
              </a:ext>
            </a:extLst>
          </p:cNvPr>
          <p:cNvCxnSpPr>
            <a:cxnSpLocks/>
            <a:stCxn id="31" idx="3"/>
            <a:endCxn id="11" idx="0"/>
          </p:cNvCxnSpPr>
          <p:nvPr/>
        </p:nvCxnSpPr>
        <p:spPr>
          <a:xfrm>
            <a:off x="3160987" y="3798747"/>
            <a:ext cx="2865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3" name="Εικόνα 42" descr="Εικόνα που περιέχει κείμενο, διάγραμμα, γραμμή, γράφημα&#10;&#10;Περιγραφή που δημιουργήθηκε αυτόματα">
            <a:extLst>
              <a:ext uri="{FF2B5EF4-FFF2-40B4-BE49-F238E27FC236}">
                <a16:creationId xmlns:a16="http://schemas.microsoft.com/office/drawing/2014/main" id="{77FBC39E-2589-1A7A-FC8E-D2DB60BAA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89" y="4783716"/>
            <a:ext cx="2465858" cy="1920240"/>
          </a:xfrm>
          <a:prstGeom prst="rect">
            <a:avLst/>
          </a:prstGeom>
        </p:spPr>
      </p:pic>
      <p:pic>
        <p:nvPicPr>
          <p:cNvPr id="49" name="Θέση περιεχομένου 48"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E2D40E11-50E1-FCA0-DD7D-C819302BD5BD}"/>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44106" y="4935582"/>
            <a:ext cx="2032205" cy="1737360"/>
          </a:xfrm>
        </p:spPr>
      </p:pic>
      <p:pic>
        <p:nvPicPr>
          <p:cNvPr id="47" name="Εικόνα 46">
            <a:extLst>
              <a:ext uri="{FF2B5EF4-FFF2-40B4-BE49-F238E27FC236}">
                <a16:creationId xmlns:a16="http://schemas.microsoft.com/office/drawing/2014/main" id="{24414668-EAAB-B9D3-FE11-6D9193774EF9}"/>
              </a:ext>
            </a:extLst>
          </p:cNvPr>
          <p:cNvPicPr>
            <a:picLocks noChangeAspect="1"/>
          </p:cNvPicPr>
          <p:nvPr/>
        </p:nvPicPr>
        <p:blipFill>
          <a:blip r:embed="rId5"/>
          <a:stretch>
            <a:fillRect/>
          </a:stretch>
        </p:blipFill>
        <p:spPr>
          <a:xfrm>
            <a:off x="3028335" y="4738937"/>
            <a:ext cx="3067665" cy="196645"/>
          </a:xfrm>
          <a:prstGeom prst="rect">
            <a:avLst/>
          </a:prstGeom>
        </p:spPr>
      </p:pic>
      <p:pic>
        <p:nvPicPr>
          <p:cNvPr id="51" name="Εικόνα 50" descr="Εικόνα που περιέχει κείμενο, στιγμιότυπο οθόνης, διάγραμμα, ορθογώνιο παραλληλόγραμμο&#10;&#10;Περιγραφή που δημιουργήθηκε αυτόματα">
            <a:extLst>
              <a:ext uri="{FF2B5EF4-FFF2-40B4-BE49-F238E27FC236}">
                <a16:creationId xmlns:a16="http://schemas.microsoft.com/office/drawing/2014/main" id="{F3BF1702-3C9F-7113-A1D1-5998616E01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17016" y="4955514"/>
            <a:ext cx="2029567" cy="1737360"/>
          </a:xfrm>
          <a:prstGeom prst="rect">
            <a:avLst/>
          </a:prstGeom>
        </p:spPr>
      </p:pic>
      <p:sp>
        <p:nvSpPr>
          <p:cNvPr id="52" name="Θέση περιεχομένου 3">
            <a:extLst>
              <a:ext uri="{FF2B5EF4-FFF2-40B4-BE49-F238E27FC236}">
                <a16:creationId xmlns:a16="http://schemas.microsoft.com/office/drawing/2014/main" id="{5572AED7-BF2B-119C-6DC2-62046AB6E4B7}"/>
              </a:ext>
            </a:extLst>
          </p:cNvPr>
          <p:cNvSpPr txBox="1">
            <a:spLocks/>
          </p:cNvSpPr>
          <p:nvPr/>
        </p:nvSpPr>
        <p:spPr>
          <a:xfrm>
            <a:off x="6670142" y="1944767"/>
            <a:ext cx="4928400" cy="1813959"/>
          </a:xfrm>
          <a:prstGeom prst="rect">
            <a:avLst/>
          </a:prstGeom>
        </p:spPr>
        <p:txBody>
          <a:bodyPr vert="horz" lIns="91440" tIns="45720" rIns="91440" bIns="45720" rtlCol="0">
            <a:normAutofit fontScale="85000" lnSpcReduction="20000"/>
          </a:bodyPr>
          <a:lst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Wingdings" panose="05000000000000000000" pitchFamily="2" charset="2"/>
              <a:buNone/>
            </a:pPr>
            <a:r>
              <a:rPr lang="el-GR" sz="1600" spc="0" dirty="0">
                <a:solidFill>
                  <a:srgbClr val="000000"/>
                </a:solidFill>
                <a:latin typeface="Calibri" panose="020F0502020204030204" pitchFamily="34" charset="0"/>
                <a:ea typeface="+mj-ea"/>
                <a:cs typeface="+mj-cs"/>
              </a:rPr>
              <a:t>Εκτέλεση </a:t>
            </a:r>
            <a:r>
              <a:rPr lang="en-US" sz="1600" spc="0" dirty="0" err="1">
                <a:solidFill>
                  <a:srgbClr val="000000"/>
                </a:solidFill>
                <a:latin typeface="Calibri" panose="020F0502020204030204" pitchFamily="34" charset="0"/>
                <a:ea typeface="+mj-ea"/>
                <a:cs typeface="+mj-cs"/>
              </a:rPr>
              <a:t>GridSearch</a:t>
            </a:r>
            <a:r>
              <a:rPr lang="en-US" sz="1600" spc="0" dirty="0">
                <a:solidFill>
                  <a:srgbClr val="000000"/>
                </a:solidFill>
                <a:latin typeface="Calibri" panose="020F0502020204030204" pitchFamily="34" charset="0"/>
                <a:ea typeface="+mj-ea"/>
                <a:cs typeface="+mj-cs"/>
              </a:rPr>
              <a:t> </a:t>
            </a:r>
            <a:r>
              <a:rPr lang="el-GR" sz="1600" spc="0" dirty="0">
                <a:solidFill>
                  <a:srgbClr val="000000"/>
                </a:solidFill>
                <a:latin typeface="Calibri" panose="020F0502020204030204" pitchFamily="34" charset="0"/>
                <a:ea typeface="+mj-ea"/>
                <a:cs typeface="+mj-cs"/>
              </a:rPr>
              <a:t>για την εύρεση των καλύτερων παραμέτρων για την δημιουργία και την εκπαίδευση ενός </a:t>
            </a:r>
            <a:r>
              <a:rPr lang="en-US" sz="1600" spc="0" dirty="0">
                <a:solidFill>
                  <a:srgbClr val="000000"/>
                </a:solidFill>
                <a:latin typeface="Calibri" panose="020F0502020204030204" pitchFamily="34" charset="0"/>
                <a:ea typeface="+mj-ea"/>
                <a:cs typeface="+mj-cs"/>
              </a:rPr>
              <a:t>SVM </a:t>
            </a:r>
            <a:r>
              <a:rPr lang="el-GR" sz="1600" spc="0" dirty="0">
                <a:solidFill>
                  <a:srgbClr val="000000"/>
                </a:solidFill>
                <a:latin typeface="Calibri" panose="020F0502020204030204" pitchFamily="34" charset="0"/>
                <a:ea typeface="+mj-ea"/>
                <a:cs typeface="+mj-cs"/>
              </a:rPr>
              <a:t>ταξινομητή.</a:t>
            </a:r>
          </a:p>
          <a:p>
            <a:pPr marL="0" indent="0">
              <a:lnSpc>
                <a:spcPct val="100000"/>
              </a:lnSpc>
              <a:buFont typeface="Wingdings" panose="05000000000000000000" pitchFamily="2" charset="2"/>
              <a:buNone/>
            </a:pPr>
            <a:r>
              <a:rPr lang="el-GR" sz="1600" spc="0" dirty="0">
                <a:solidFill>
                  <a:srgbClr val="000000"/>
                </a:solidFill>
                <a:latin typeface="Calibri" panose="020F0502020204030204" pitchFamily="34" charset="0"/>
                <a:ea typeface="+mj-ea"/>
                <a:cs typeface="+mj-cs"/>
              </a:rPr>
              <a:t>Τελικές Παράμετροι:</a:t>
            </a:r>
          </a:p>
          <a:p>
            <a:pPr>
              <a:lnSpc>
                <a:spcPct val="100000"/>
              </a:lnSpc>
            </a:pPr>
            <a:r>
              <a:rPr lang="en-US" sz="1600" spc="0" dirty="0">
                <a:solidFill>
                  <a:srgbClr val="000000"/>
                </a:solidFill>
                <a:latin typeface="Calibri" panose="020F0502020204030204" pitchFamily="34" charset="0"/>
                <a:ea typeface="+mj-ea"/>
                <a:cs typeface="+mj-cs"/>
              </a:rPr>
              <a:t>Box Constrain, C=0.1</a:t>
            </a:r>
          </a:p>
          <a:p>
            <a:pPr>
              <a:lnSpc>
                <a:spcPct val="100000"/>
              </a:lnSpc>
            </a:pPr>
            <a:r>
              <a:rPr lang="en-US" sz="1600" spc="0" dirty="0">
                <a:solidFill>
                  <a:srgbClr val="000000"/>
                </a:solidFill>
                <a:latin typeface="Calibri" panose="020F0502020204030204" pitchFamily="34" charset="0"/>
                <a:ea typeface="+mj-ea"/>
                <a:cs typeface="+mj-cs"/>
              </a:rPr>
              <a:t>Kernel = Linear</a:t>
            </a:r>
          </a:p>
          <a:p>
            <a:pPr marL="0" indent="0">
              <a:lnSpc>
                <a:spcPct val="100000"/>
              </a:lnSpc>
              <a:buNone/>
            </a:pPr>
            <a:r>
              <a:rPr lang="el-GR" sz="1600" spc="0" dirty="0">
                <a:solidFill>
                  <a:srgbClr val="000000"/>
                </a:solidFill>
                <a:latin typeface="Calibri" panose="020F0502020204030204" pitchFamily="34" charset="0"/>
                <a:ea typeface="+mj-ea"/>
                <a:cs typeface="+mj-cs"/>
              </a:rPr>
              <a:t>Αξιολόγηση του ταξινομητή στα δύο σετ (επαλήθευσης, δοκιμής):</a:t>
            </a:r>
          </a:p>
        </p:txBody>
      </p:sp>
      <p:pic>
        <p:nvPicPr>
          <p:cNvPr id="54" name="Εικόνα 53">
            <a:extLst>
              <a:ext uri="{FF2B5EF4-FFF2-40B4-BE49-F238E27FC236}">
                <a16:creationId xmlns:a16="http://schemas.microsoft.com/office/drawing/2014/main" id="{ABC47A77-C3F3-B109-63F9-9BBBF85D861A}"/>
              </a:ext>
            </a:extLst>
          </p:cNvPr>
          <p:cNvPicPr>
            <a:picLocks noChangeAspect="1"/>
          </p:cNvPicPr>
          <p:nvPr/>
        </p:nvPicPr>
        <p:blipFill>
          <a:blip r:embed="rId7"/>
          <a:stretch>
            <a:fillRect/>
          </a:stretch>
        </p:blipFill>
        <p:spPr>
          <a:xfrm>
            <a:off x="7436170" y="3765365"/>
            <a:ext cx="3396343" cy="457200"/>
          </a:xfrm>
          <a:prstGeom prst="rect">
            <a:avLst/>
          </a:prstGeom>
        </p:spPr>
      </p:pic>
      <p:pic>
        <p:nvPicPr>
          <p:cNvPr id="12" name="Εικόνα 11" descr="Εικόνα που περιέχει γραμμή, γράφημα, διάγραμμα, κείμενο&#10;&#10;Περιγραφή που δημιουργήθηκε αυτόματα">
            <a:extLst>
              <a:ext uri="{FF2B5EF4-FFF2-40B4-BE49-F238E27FC236}">
                <a16:creationId xmlns:a16="http://schemas.microsoft.com/office/drawing/2014/main" id="{3C950267-960F-1B0E-BD7D-24350B5105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92817" y="4339361"/>
            <a:ext cx="4162372" cy="2317909"/>
          </a:xfrm>
          <a:prstGeom prst="rect">
            <a:avLst/>
          </a:prstGeom>
        </p:spPr>
      </p:pic>
    </p:spTree>
    <p:extLst>
      <p:ext uri="{BB962C8B-B14F-4D97-AF65-F5344CB8AC3E}">
        <p14:creationId xmlns:p14="http://schemas.microsoft.com/office/powerpoint/2010/main" val="38928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tgtEl>
                                          <p:spTgt spid="4">
                                            <p:txEl>
                                              <p:pRg st="1" end="1"/>
                                            </p:txEl>
                                          </p:spTgt>
                                        </p:tgtEl>
                                      </p:cBhvr>
                                    </p:animEffect>
                                    <p:anim calcmode="lin" valueType="num">
                                      <p:cBhvr>
                                        <p:cTn id="1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1000"/>
                                        <p:tgtEl>
                                          <p:spTgt spid="17"/>
                                        </p:tgtEl>
                                      </p:cBhvr>
                                    </p:animEffect>
                                    <p:anim calcmode="lin" valueType="num">
                                      <p:cBhvr>
                                        <p:cTn id="58" dur="1000" fill="hold"/>
                                        <p:tgtEl>
                                          <p:spTgt spid="17"/>
                                        </p:tgtEl>
                                        <p:attrNameLst>
                                          <p:attrName>ppt_x</p:attrName>
                                        </p:attrNameLst>
                                      </p:cBhvr>
                                      <p:tavLst>
                                        <p:tav tm="0">
                                          <p:val>
                                            <p:strVal val="#ppt_x"/>
                                          </p:val>
                                        </p:tav>
                                        <p:tav tm="100000">
                                          <p:val>
                                            <p:strVal val="#ppt_x"/>
                                          </p:val>
                                        </p:tav>
                                      </p:tavLst>
                                    </p:anim>
                                    <p:anim calcmode="lin" valueType="num">
                                      <p:cBhvr>
                                        <p:cTn id="59" dur="100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1000"/>
                                        <p:tgtEl>
                                          <p:spTgt spid="26"/>
                                        </p:tgtEl>
                                      </p:cBhvr>
                                    </p:animEffect>
                                    <p:anim calcmode="lin" valueType="num">
                                      <p:cBhvr>
                                        <p:cTn id="68" dur="1000" fill="hold"/>
                                        <p:tgtEl>
                                          <p:spTgt spid="26"/>
                                        </p:tgtEl>
                                        <p:attrNameLst>
                                          <p:attrName>ppt_x</p:attrName>
                                        </p:attrNameLst>
                                      </p:cBhvr>
                                      <p:tavLst>
                                        <p:tav tm="0">
                                          <p:val>
                                            <p:strVal val="#ppt_x"/>
                                          </p:val>
                                        </p:tav>
                                        <p:tav tm="100000">
                                          <p:val>
                                            <p:strVal val="#ppt_x"/>
                                          </p:val>
                                        </p:tav>
                                      </p:tavLst>
                                    </p:anim>
                                    <p:anim calcmode="lin" valueType="num">
                                      <p:cBhvr>
                                        <p:cTn id="69" dur="1000" fill="hold"/>
                                        <p:tgtEl>
                                          <p:spTgt spid="2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1000"/>
                                        <p:tgtEl>
                                          <p:spTgt spid="27"/>
                                        </p:tgtEl>
                                      </p:cBhvr>
                                    </p:animEffect>
                                    <p:anim calcmode="lin" valueType="num">
                                      <p:cBhvr>
                                        <p:cTn id="73" dur="1000" fill="hold"/>
                                        <p:tgtEl>
                                          <p:spTgt spid="27"/>
                                        </p:tgtEl>
                                        <p:attrNameLst>
                                          <p:attrName>ppt_x</p:attrName>
                                        </p:attrNameLst>
                                      </p:cBhvr>
                                      <p:tavLst>
                                        <p:tav tm="0">
                                          <p:val>
                                            <p:strVal val="#ppt_x"/>
                                          </p:val>
                                        </p:tav>
                                        <p:tav tm="100000">
                                          <p:val>
                                            <p:strVal val="#ppt_x"/>
                                          </p:val>
                                        </p:tav>
                                      </p:tavLst>
                                    </p:anim>
                                    <p:anim calcmode="lin" valueType="num">
                                      <p:cBhvr>
                                        <p:cTn id="74" dur="1000" fill="hold"/>
                                        <p:tgtEl>
                                          <p:spTgt spid="27"/>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1000"/>
                                        <p:tgtEl>
                                          <p:spTgt spid="28"/>
                                        </p:tgtEl>
                                      </p:cBhvr>
                                    </p:animEffect>
                                    <p:anim calcmode="lin" valueType="num">
                                      <p:cBhvr>
                                        <p:cTn id="78" dur="1000" fill="hold"/>
                                        <p:tgtEl>
                                          <p:spTgt spid="28"/>
                                        </p:tgtEl>
                                        <p:attrNameLst>
                                          <p:attrName>ppt_x</p:attrName>
                                        </p:attrNameLst>
                                      </p:cBhvr>
                                      <p:tavLst>
                                        <p:tav tm="0">
                                          <p:val>
                                            <p:strVal val="#ppt_x"/>
                                          </p:val>
                                        </p:tav>
                                        <p:tav tm="100000">
                                          <p:val>
                                            <p:strVal val="#ppt_x"/>
                                          </p:val>
                                        </p:tav>
                                      </p:tavLst>
                                    </p:anim>
                                    <p:anim calcmode="lin" valueType="num">
                                      <p:cBhvr>
                                        <p:cTn id="79" dur="1000" fill="hold"/>
                                        <p:tgtEl>
                                          <p:spTgt spid="2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1000"/>
                                        <p:tgtEl>
                                          <p:spTgt spid="31"/>
                                        </p:tgtEl>
                                      </p:cBhvr>
                                    </p:animEffect>
                                    <p:anim calcmode="lin" valueType="num">
                                      <p:cBhvr>
                                        <p:cTn id="83" dur="1000" fill="hold"/>
                                        <p:tgtEl>
                                          <p:spTgt spid="31"/>
                                        </p:tgtEl>
                                        <p:attrNameLst>
                                          <p:attrName>ppt_x</p:attrName>
                                        </p:attrNameLst>
                                      </p:cBhvr>
                                      <p:tavLst>
                                        <p:tav tm="0">
                                          <p:val>
                                            <p:strVal val="#ppt_x"/>
                                          </p:val>
                                        </p:tav>
                                        <p:tav tm="100000">
                                          <p:val>
                                            <p:strVal val="#ppt_x"/>
                                          </p:val>
                                        </p:tav>
                                      </p:tavLst>
                                    </p:anim>
                                    <p:anim calcmode="lin" valueType="num">
                                      <p:cBhvr>
                                        <p:cTn id="84" dur="1000" fill="hold"/>
                                        <p:tgtEl>
                                          <p:spTgt spid="31"/>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1000"/>
                                        <p:tgtEl>
                                          <p:spTgt spid="35"/>
                                        </p:tgtEl>
                                      </p:cBhvr>
                                    </p:animEffect>
                                    <p:anim calcmode="lin" valueType="num">
                                      <p:cBhvr>
                                        <p:cTn id="88" dur="1000" fill="hold"/>
                                        <p:tgtEl>
                                          <p:spTgt spid="35"/>
                                        </p:tgtEl>
                                        <p:attrNameLst>
                                          <p:attrName>ppt_x</p:attrName>
                                        </p:attrNameLst>
                                      </p:cBhvr>
                                      <p:tavLst>
                                        <p:tav tm="0">
                                          <p:val>
                                            <p:strVal val="#ppt_x"/>
                                          </p:val>
                                        </p:tav>
                                        <p:tav tm="100000">
                                          <p:val>
                                            <p:strVal val="#ppt_x"/>
                                          </p:val>
                                        </p:tav>
                                      </p:tavLst>
                                    </p:anim>
                                    <p:anim calcmode="lin" valueType="num">
                                      <p:cBhvr>
                                        <p:cTn id="89" dur="1000" fill="hold"/>
                                        <p:tgtEl>
                                          <p:spTgt spid="35"/>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1000"/>
                                        <p:tgtEl>
                                          <p:spTgt spid="37"/>
                                        </p:tgtEl>
                                      </p:cBhvr>
                                    </p:animEffect>
                                    <p:anim calcmode="lin" valueType="num">
                                      <p:cBhvr>
                                        <p:cTn id="93" dur="1000" fill="hold"/>
                                        <p:tgtEl>
                                          <p:spTgt spid="37"/>
                                        </p:tgtEl>
                                        <p:attrNameLst>
                                          <p:attrName>ppt_x</p:attrName>
                                        </p:attrNameLst>
                                      </p:cBhvr>
                                      <p:tavLst>
                                        <p:tav tm="0">
                                          <p:val>
                                            <p:strVal val="#ppt_x"/>
                                          </p:val>
                                        </p:tav>
                                        <p:tav tm="100000">
                                          <p:val>
                                            <p:strVal val="#ppt_x"/>
                                          </p:val>
                                        </p:tav>
                                      </p:tavLst>
                                    </p:anim>
                                    <p:anim calcmode="lin" valueType="num">
                                      <p:cBhvr>
                                        <p:cTn id="94" dur="1000" fill="hold"/>
                                        <p:tgtEl>
                                          <p:spTgt spid="37"/>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1000"/>
                                        <p:tgtEl>
                                          <p:spTgt spid="43"/>
                                        </p:tgtEl>
                                      </p:cBhvr>
                                    </p:animEffect>
                                    <p:anim calcmode="lin" valueType="num">
                                      <p:cBhvr>
                                        <p:cTn id="98" dur="1000" fill="hold"/>
                                        <p:tgtEl>
                                          <p:spTgt spid="43"/>
                                        </p:tgtEl>
                                        <p:attrNameLst>
                                          <p:attrName>ppt_x</p:attrName>
                                        </p:attrNameLst>
                                      </p:cBhvr>
                                      <p:tavLst>
                                        <p:tav tm="0">
                                          <p:val>
                                            <p:strVal val="#ppt_x"/>
                                          </p:val>
                                        </p:tav>
                                        <p:tav tm="100000">
                                          <p:val>
                                            <p:strVal val="#ppt_x"/>
                                          </p:val>
                                        </p:tav>
                                      </p:tavLst>
                                    </p:anim>
                                    <p:anim calcmode="lin" valueType="num">
                                      <p:cBhvr>
                                        <p:cTn id="99" dur="1000" fill="hold"/>
                                        <p:tgtEl>
                                          <p:spTgt spid="43"/>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fade">
                                      <p:cBhvr>
                                        <p:cTn id="102" dur="1000"/>
                                        <p:tgtEl>
                                          <p:spTgt spid="49"/>
                                        </p:tgtEl>
                                      </p:cBhvr>
                                    </p:animEffect>
                                    <p:anim calcmode="lin" valueType="num">
                                      <p:cBhvr>
                                        <p:cTn id="103" dur="1000" fill="hold"/>
                                        <p:tgtEl>
                                          <p:spTgt spid="49"/>
                                        </p:tgtEl>
                                        <p:attrNameLst>
                                          <p:attrName>ppt_x</p:attrName>
                                        </p:attrNameLst>
                                      </p:cBhvr>
                                      <p:tavLst>
                                        <p:tav tm="0">
                                          <p:val>
                                            <p:strVal val="#ppt_x"/>
                                          </p:val>
                                        </p:tav>
                                        <p:tav tm="100000">
                                          <p:val>
                                            <p:strVal val="#ppt_x"/>
                                          </p:val>
                                        </p:tav>
                                      </p:tavLst>
                                    </p:anim>
                                    <p:anim calcmode="lin" valueType="num">
                                      <p:cBhvr>
                                        <p:cTn id="104" dur="1000" fill="hold"/>
                                        <p:tgtEl>
                                          <p:spTgt spid="49"/>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1000"/>
                                        <p:tgtEl>
                                          <p:spTgt spid="47"/>
                                        </p:tgtEl>
                                      </p:cBhvr>
                                    </p:animEffect>
                                    <p:anim calcmode="lin" valueType="num">
                                      <p:cBhvr>
                                        <p:cTn id="108" dur="1000" fill="hold"/>
                                        <p:tgtEl>
                                          <p:spTgt spid="47"/>
                                        </p:tgtEl>
                                        <p:attrNameLst>
                                          <p:attrName>ppt_x</p:attrName>
                                        </p:attrNameLst>
                                      </p:cBhvr>
                                      <p:tavLst>
                                        <p:tav tm="0">
                                          <p:val>
                                            <p:strVal val="#ppt_x"/>
                                          </p:val>
                                        </p:tav>
                                        <p:tav tm="100000">
                                          <p:val>
                                            <p:strVal val="#ppt_x"/>
                                          </p:val>
                                        </p:tav>
                                      </p:tavLst>
                                    </p:anim>
                                    <p:anim calcmode="lin" valueType="num">
                                      <p:cBhvr>
                                        <p:cTn id="109" dur="1000" fill="hold"/>
                                        <p:tgtEl>
                                          <p:spTgt spid="47"/>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1000"/>
                                        <p:tgtEl>
                                          <p:spTgt spid="51"/>
                                        </p:tgtEl>
                                      </p:cBhvr>
                                    </p:animEffect>
                                    <p:anim calcmode="lin" valueType="num">
                                      <p:cBhvr>
                                        <p:cTn id="113" dur="1000" fill="hold"/>
                                        <p:tgtEl>
                                          <p:spTgt spid="51"/>
                                        </p:tgtEl>
                                        <p:attrNameLst>
                                          <p:attrName>ppt_x</p:attrName>
                                        </p:attrNameLst>
                                      </p:cBhvr>
                                      <p:tavLst>
                                        <p:tav tm="0">
                                          <p:val>
                                            <p:strVal val="#ppt_x"/>
                                          </p:val>
                                        </p:tav>
                                        <p:tav tm="100000">
                                          <p:val>
                                            <p:strVal val="#ppt_x"/>
                                          </p:val>
                                        </p:tav>
                                      </p:tavLst>
                                    </p:anim>
                                    <p:anim calcmode="lin" valueType="num">
                                      <p:cBhvr>
                                        <p:cTn id="11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5">
                                            <p:txEl>
                                              <p:pRg st="0" end="0"/>
                                            </p:txEl>
                                          </p:spTgt>
                                        </p:tgtEl>
                                        <p:attrNameLst>
                                          <p:attrName>style.visibility</p:attrName>
                                        </p:attrNameLst>
                                      </p:cBhvr>
                                      <p:to>
                                        <p:strVal val="visible"/>
                                      </p:to>
                                    </p:set>
                                    <p:animEffect transition="in" filter="fade">
                                      <p:cBhvr>
                                        <p:cTn id="119" dur="1000"/>
                                        <p:tgtEl>
                                          <p:spTgt spid="5">
                                            <p:txEl>
                                              <p:pRg st="0" end="0"/>
                                            </p:txEl>
                                          </p:spTgt>
                                        </p:tgtEl>
                                      </p:cBhvr>
                                    </p:animEffect>
                                    <p:anim calcmode="lin" valueType="num">
                                      <p:cBhvr>
                                        <p:cTn id="12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21"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1000"/>
                                        <p:tgtEl>
                                          <p:spTgt spid="52"/>
                                        </p:tgtEl>
                                      </p:cBhvr>
                                    </p:animEffect>
                                    <p:anim calcmode="lin" valueType="num">
                                      <p:cBhvr>
                                        <p:cTn id="125" dur="1000" fill="hold"/>
                                        <p:tgtEl>
                                          <p:spTgt spid="52"/>
                                        </p:tgtEl>
                                        <p:attrNameLst>
                                          <p:attrName>ppt_x</p:attrName>
                                        </p:attrNameLst>
                                      </p:cBhvr>
                                      <p:tavLst>
                                        <p:tav tm="0">
                                          <p:val>
                                            <p:strVal val="#ppt_x"/>
                                          </p:val>
                                        </p:tav>
                                        <p:tav tm="100000">
                                          <p:val>
                                            <p:strVal val="#ppt_x"/>
                                          </p:val>
                                        </p:tav>
                                      </p:tavLst>
                                    </p:anim>
                                    <p:anim calcmode="lin" valueType="num">
                                      <p:cBhvr>
                                        <p:cTn id="126" dur="1000" fill="hold"/>
                                        <p:tgtEl>
                                          <p:spTgt spid="52"/>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1000"/>
                                        <p:tgtEl>
                                          <p:spTgt spid="54"/>
                                        </p:tgtEl>
                                      </p:cBhvr>
                                    </p:animEffect>
                                    <p:anim calcmode="lin" valueType="num">
                                      <p:cBhvr>
                                        <p:cTn id="130" dur="1000" fill="hold"/>
                                        <p:tgtEl>
                                          <p:spTgt spid="54"/>
                                        </p:tgtEl>
                                        <p:attrNameLst>
                                          <p:attrName>ppt_x</p:attrName>
                                        </p:attrNameLst>
                                      </p:cBhvr>
                                      <p:tavLst>
                                        <p:tav tm="0">
                                          <p:val>
                                            <p:strVal val="#ppt_x"/>
                                          </p:val>
                                        </p:tav>
                                        <p:tav tm="100000">
                                          <p:val>
                                            <p:strVal val="#ppt_x"/>
                                          </p:val>
                                        </p:tav>
                                      </p:tavLst>
                                    </p:anim>
                                    <p:anim calcmode="lin" valueType="num">
                                      <p:cBhvr>
                                        <p:cTn id="131" dur="1000" fill="hold"/>
                                        <p:tgtEl>
                                          <p:spTgt spid="54"/>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12"/>
                                        </p:tgtEl>
                                        <p:attrNameLst>
                                          <p:attrName>style.visibility</p:attrName>
                                        </p:attrNameLst>
                                      </p:cBhvr>
                                      <p:to>
                                        <p:strVal val="visible"/>
                                      </p:to>
                                    </p:set>
                                    <p:animEffect transition="in" filter="fade">
                                      <p:cBhvr>
                                        <p:cTn id="134" dur="1000"/>
                                        <p:tgtEl>
                                          <p:spTgt spid="12"/>
                                        </p:tgtEl>
                                      </p:cBhvr>
                                    </p:animEffect>
                                    <p:anim calcmode="lin" valueType="num">
                                      <p:cBhvr>
                                        <p:cTn id="135" dur="1000" fill="hold"/>
                                        <p:tgtEl>
                                          <p:spTgt spid="12"/>
                                        </p:tgtEl>
                                        <p:attrNameLst>
                                          <p:attrName>ppt_x</p:attrName>
                                        </p:attrNameLst>
                                      </p:cBhvr>
                                      <p:tavLst>
                                        <p:tav tm="0">
                                          <p:val>
                                            <p:strVal val="#ppt_x"/>
                                          </p:val>
                                        </p:tav>
                                        <p:tav tm="100000">
                                          <p:val>
                                            <p:strVal val="#ppt_x"/>
                                          </p:val>
                                        </p:tav>
                                      </p:tavLst>
                                    </p:anim>
                                    <p:anim calcmode="lin" valueType="num">
                                      <p:cBhvr>
                                        <p:cTn id="1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7" grpId="0" animBg="1"/>
      <p:bldP spid="8" grpId="0" animBg="1"/>
      <p:bldP spid="9" grpId="0" animBg="1"/>
      <p:bldP spid="10" grpId="0" animBg="1"/>
      <p:bldP spid="11" grpId="0" animBg="1"/>
      <p:bldP spid="25" grpId="0"/>
      <p:bldP spid="26" grpId="0"/>
      <p:bldP spid="27" grpId="0"/>
      <p:bldP spid="28" grpId="0"/>
      <p:bldP spid="31" grpId="0" animBg="1"/>
      <p:bldP spid="35"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Θέση κειμένου 2">
            <a:extLst>
              <a:ext uri="{FF2B5EF4-FFF2-40B4-BE49-F238E27FC236}">
                <a16:creationId xmlns:a16="http://schemas.microsoft.com/office/drawing/2014/main" id="{0266F78D-559D-E6C5-746B-210D1D113C7F}"/>
              </a:ext>
            </a:extLst>
          </p:cNvPr>
          <p:cNvSpPr txBox="1">
            <a:spLocks/>
          </p:cNvSpPr>
          <p:nvPr/>
        </p:nvSpPr>
        <p:spPr>
          <a:xfrm>
            <a:off x="3631800" y="160777"/>
            <a:ext cx="4928400" cy="582801"/>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150000"/>
              </a:lnSpc>
              <a:spcBef>
                <a:spcPts val="1000"/>
              </a:spcBef>
              <a:buClr>
                <a:schemeClr val="accent3"/>
              </a:buClr>
              <a:buFont typeface="Wingdings" panose="05000000000000000000" pitchFamily="2" charset="2"/>
              <a:buNone/>
              <a:defRPr sz="1600" b="0" kern="1200" cap="all" spc="300" baseline="0">
                <a:solidFill>
                  <a:schemeClr val="tx1">
                    <a:alpha val="60000"/>
                  </a:schemeClr>
                </a:solidFill>
                <a:latin typeface="+mn-lt"/>
                <a:ea typeface="+mn-ea"/>
                <a:cs typeface="+mn-cs"/>
              </a:defRPr>
            </a:lvl1pPr>
            <a:lvl2pPr marL="457200" indent="0" algn="l" defTabSz="914400" rtl="0" eaLnBrk="1" latinLnBrk="0" hangingPunct="1">
              <a:lnSpc>
                <a:spcPct val="150000"/>
              </a:lnSpc>
              <a:spcBef>
                <a:spcPts val="500"/>
              </a:spcBef>
              <a:buFontTx/>
              <a:buNone/>
              <a:defRPr sz="2000" b="1" i="1" kern="1200" spc="50" baseline="0">
                <a:solidFill>
                  <a:schemeClr val="tx1">
                    <a:alpha val="60000"/>
                  </a:schemeClr>
                </a:solidFill>
                <a:latin typeface="+mn-lt"/>
                <a:ea typeface="+mn-ea"/>
                <a:cs typeface="+mn-cs"/>
              </a:defRPr>
            </a:lvl2pPr>
            <a:lvl3pPr marL="914400" indent="0" algn="l" defTabSz="914400" rtl="0" eaLnBrk="1" latinLnBrk="0" hangingPunct="1">
              <a:lnSpc>
                <a:spcPct val="150000"/>
              </a:lnSpc>
              <a:spcBef>
                <a:spcPts val="500"/>
              </a:spcBef>
              <a:buClr>
                <a:schemeClr val="accent3"/>
              </a:buClr>
              <a:buFont typeface="Wingdings" panose="05000000000000000000" pitchFamily="2" charset="2"/>
              <a:buNone/>
              <a:defRPr sz="1800" b="1" kern="1200" spc="50">
                <a:solidFill>
                  <a:schemeClr val="tx1">
                    <a:alpha val="60000"/>
                  </a:schemeClr>
                </a:solidFill>
                <a:latin typeface="+mn-lt"/>
                <a:ea typeface="+mn-ea"/>
                <a:cs typeface="+mn-cs"/>
              </a:defRPr>
            </a:lvl3pPr>
            <a:lvl4pPr marL="1371600" indent="0" algn="l" defTabSz="914400" rtl="0" eaLnBrk="1" latinLnBrk="0" hangingPunct="1">
              <a:lnSpc>
                <a:spcPct val="150000"/>
              </a:lnSpc>
              <a:spcBef>
                <a:spcPts val="500"/>
              </a:spcBef>
              <a:buClr>
                <a:schemeClr val="accent3"/>
              </a:buClr>
              <a:buFontTx/>
              <a:buNone/>
              <a:defRPr sz="1600" b="1" i="1" kern="1200" spc="50" baseline="0">
                <a:solidFill>
                  <a:schemeClr val="tx1">
                    <a:alpha val="60000"/>
                  </a:schemeClr>
                </a:solidFill>
                <a:latin typeface="+mn-lt"/>
                <a:ea typeface="+mn-ea"/>
                <a:cs typeface="+mn-cs"/>
              </a:defRPr>
            </a:lvl4pPr>
            <a:lvl5pPr marL="1828800" indent="0" algn="l" defTabSz="914400" rtl="0" eaLnBrk="1" latinLnBrk="0" hangingPunct="1">
              <a:lnSpc>
                <a:spcPct val="150000"/>
              </a:lnSpc>
              <a:spcBef>
                <a:spcPts val="500"/>
              </a:spcBef>
              <a:buClr>
                <a:schemeClr val="accent3"/>
              </a:buClr>
              <a:buFont typeface="Wingdings" panose="05000000000000000000" pitchFamily="2" charset="2"/>
              <a:buNone/>
              <a:defRPr sz="1600" b="1" kern="1200" spc="50">
                <a:solidFill>
                  <a:schemeClr val="tx1">
                    <a:alpha val="60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l-GR" sz="2400" b="1" cap="none" spc="0" dirty="0">
                <a:solidFill>
                  <a:srgbClr val="000000"/>
                </a:solidFill>
                <a:latin typeface="Calibri" panose="020F0502020204030204" pitchFamily="34" charset="0"/>
                <a:ea typeface="+mj-ea"/>
                <a:cs typeface="+mj-cs"/>
              </a:rPr>
              <a:t>Συνδυασμός Ταξινομητών</a:t>
            </a:r>
          </a:p>
        </p:txBody>
      </p:sp>
      <p:sp>
        <p:nvSpPr>
          <p:cNvPr id="5" name="Ορθογώνιο 4">
            <a:extLst>
              <a:ext uri="{FF2B5EF4-FFF2-40B4-BE49-F238E27FC236}">
                <a16:creationId xmlns:a16="http://schemas.microsoft.com/office/drawing/2014/main" id="{793BCFDB-6901-6154-327C-649186299295}"/>
              </a:ext>
            </a:extLst>
          </p:cNvPr>
          <p:cNvSpPr/>
          <p:nvPr/>
        </p:nvSpPr>
        <p:spPr>
          <a:xfrm>
            <a:off x="1467059" y="1150693"/>
            <a:ext cx="1527350" cy="813917"/>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dirty="0" err="1"/>
              <a:t>Νευρωνικός</a:t>
            </a:r>
            <a:endParaRPr lang="el-GR" dirty="0"/>
          </a:p>
          <a:p>
            <a:pPr algn="ctr"/>
            <a:r>
              <a:rPr lang="el-GR" dirty="0"/>
              <a:t>Ταξινομητής</a:t>
            </a:r>
          </a:p>
        </p:txBody>
      </p:sp>
      <p:sp>
        <p:nvSpPr>
          <p:cNvPr id="6" name="Ορθογώνιο 5">
            <a:extLst>
              <a:ext uri="{FF2B5EF4-FFF2-40B4-BE49-F238E27FC236}">
                <a16:creationId xmlns:a16="http://schemas.microsoft.com/office/drawing/2014/main" id="{EA5DD936-17DE-46CD-E680-6591C2D1AC11}"/>
              </a:ext>
            </a:extLst>
          </p:cNvPr>
          <p:cNvSpPr/>
          <p:nvPr/>
        </p:nvSpPr>
        <p:spPr>
          <a:xfrm>
            <a:off x="1467059" y="2488798"/>
            <a:ext cx="1527350" cy="813917"/>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SVM</a:t>
            </a:r>
          </a:p>
          <a:p>
            <a:pPr algn="ctr"/>
            <a:r>
              <a:rPr lang="el-GR" dirty="0"/>
              <a:t>Ταξινομητής</a:t>
            </a:r>
          </a:p>
        </p:txBody>
      </p:sp>
      <p:sp>
        <p:nvSpPr>
          <p:cNvPr id="7" name="Ορθογώνιο 6">
            <a:extLst>
              <a:ext uri="{FF2B5EF4-FFF2-40B4-BE49-F238E27FC236}">
                <a16:creationId xmlns:a16="http://schemas.microsoft.com/office/drawing/2014/main" id="{668E256C-989D-D170-3EA4-5CBA421F4237}"/>
              </a:ext>
            </a:extLst>
          </p:cNvPr>
          <p:cNvSpPr/>
          <p:nvPr/>
        </p:nvSpPr>
        <p:spPr>
          <a:xfrm rot="5400000">
            <a:off x="-198731" y="2012067"/>
            <a:ext cx="1326386" cy="417556"/>
          </a:xfrm>
          <a:prstGeom prst="rect">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dirty="0"/>
              <a:t>Δεδομένο</a:t>
            </a:r>
          </a:p>
        </p:txBody>
      </p:sp>
      <p:sp>
        <p:nvSpPr>
          <p:cNvPr id="8" name="Βέλος: Δεξιό 7">
            <a:extLst>
              <a:ext uri="{FF2B5EF4-FFF2-40B4-BE49-F238E27FC236}">
                <a16:creationId xmlns:a16="http://schemas.microsoft.com/office/drawing/2014/main" id="{639CDA80-90E9-7B84-858E-F8883B42B2CF}"/>
              </a:ext>
            </a:extLst>
          </p:cNvPr>
          <p:cNvSpPr/>
          <p:nvPr/>
        </p:nvSpPr>
        <p:spPr>
          <a:xfrm>
            <a:off x="728505" y="1557651"/>
            <a:ext cx="683288" cy="295326"/>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Βέλος: Δεξιό 8">
            <a:extLst>
              <a:ext uri="{FF2B5EF4-FFF2-40B4-BE49-F238E27FC236}">
                <a16:creationId xmlns:a16="http://schemas.microsoft.com/office/drawing/2014/main" id="{3005FF40-BBB3-1F91-7FDC-A37DCB62D1AF}"/>
              </a:ext>
            </a:extLst>
          </p:cNvPr>
          <p:cNvSpPr/>
          <p:nvPr/>
        </p:nvSpPr>
        <p:spPr>
          <a:xfrm>
            <a:off x="728505" y="2588712"/>
            <a:ext cx="683288" cy="295326"/>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 name="Οβάλ 9">
            <a:extLst>
              <a:ext uri="{FF2B5EF4-FFF2-40B4-BE49-F238E27FC236}">
                <a16:creationId xmlns:a16="http://schemas.microsoft.com/office/drawing/2014/main" id="{940AFE57-46B7-18FB-BDE4-7263CB3157C2}"/>
              </a:ext>
            </a:extLst>
          </p:cNvPr>
          <p:cNvSpPr/>
          <p:nvPr/>
        </p:nvSpPr>
        <p:spPr>
          <a:xfrm>
            <a:off x="3808325" y="1150693"/>
            <a:ext cx="2287675" cy="2152022"/>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dirty="0"/>
              <a:t>Έξοδος 1</a:t>
            </a:r>
          </a:p>
          <a:p>
            <a:pPr algn="ctr"/>
            <a:r>
              <a:rPr lang="el-GR" dirty="0"/>
              <a:t>|0.5-Εξοδος 1|</a:t>
            </a:r>
          </a:p>
          <a:p>
            <a:pPr algn="ctr"/>
            <a:endParaRPr lang="el-GR" dirty="0"/>
          </a:p>
          <a:p>
            <a:pPr algn="ctr"/>
            <a:endParaRPr lang="el-GR" dirty="0"/>
          </a:p>
          <a:p>
            <a:pPr algn="ctr"/>
            <a:r>
              <a:rPr lang="el-GR" dirty="0"/>
              <a:t>|0.5-Εξοδος 2|</a:t>
            </a:r>
          </a:p>
          <a:p>
            <a:pPr algn="ctr"/>
            <a:r>
              <a:rPr lang="el-GR" dirty="0"/>
              <a:t>Έξοδος 2</a:t>
            </a:r>
          </a:p>
        </p:txBody>
      </p:sp>
      <p:cxnSp>
        <p:nvCxnSpPr>
          <p:cNvPr id="12" name="Ευθεία γραμμή σύνδεσης 11">
            <a:extLst>
              <a:ext uri="{FF2B5EF4-FFF2-40B4-BE49-F238E27FC236}">
                <a16:creationId xmlns:a16="http://schemas.microsoft.com/office/drawing/2014/main" id="{FE82DAFB-0C3E-76A9-8351-F183EA9EB469}"/>
              </a:ext>
            </a:extLst>
          </p:cNvPr>
          <p:cNvCxnSpPr>
            <a:cxnSpLocks/>
            <a:stCxn id="10" idx="2"/>
            <a:endCxn id="10" idx="6"/>
          </p:cNvCxnSpPr>
          <p:nvPr/>
        </p:nvCxnSpPr>
        <p:spPr>
          <a:xfrm>
            <a:off x="3808325" y="2226704"/>
            <a:ext cx="2287675" cy="0"/>
          </a:xfrm>
          <a:prstGeom prst="line">
            <a:avLst/>
          </a:prstGeom>
          <a:ln w="38100"/>
        </p:spPr>
        <p:style>
          <a:lnRef idx="1">
            <a:schemeClr val="dk1"/>
          </a:lnRef>
          <a:fillRef idx="0">
            <a:schemeClr val="dk1"/>
          </a:fillRef>
          <a:effectRef idx="0">
            <a:schemeClr val="dk1"/>
          </a:effectRef>
          <a:fontRef idx="minor">
            <a:schemeClr val="tx1"/>
          </a:fontRef>
        </p:style>
      </p:cxnSp>
      <p:sp>
        <p:nvSpPr>
          <p:cNvPr id="13" name="Βέλος: Δεξιό 12">
            <a:extLst>
              <a:ext uri="{FF2B5EF4-FFF2-40B4-BE49-F238E27FC236}">
                <a16:creationId xmlns:a16="http://schemas.microsoft.com/office/drawing/2014/main" id="{AD58152D-892E-D996-2497-0B61ADED61EB}"/>
              </a:ext>
            </a:extLst>
          </p:cNvPr>
          <p:cNvSpPr/>
          <p:nvPr/>
        </p:nvSpPr>
        <p:spPr>
          <a:xfrm>
            <a:off x="3059723" y="1557651"/>
            <a:ext cx="683288" cy="295326"/>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4" name="Βέλος: Δεξιό 13">
            <a:extLst>
              <a:ext uri="{FF2B5EF4-FFF2-40B4-BE49-F238E27FC236}">
                <a16:creationId xmlns:a16="http://schemas.microsoft.com/office/drawing/2014/main" id="{90CE997F-5D55-8A87-9640-3C078775EBBD}"/>
              </a:ext>
            </a:extLst>
          </p:cNvPr>
          <p:cNvSpPr/>
          <p:nvPr/>
        </p:nvSpPr>
        <p:spPr>
          <a:xfrm>
            <a:off x="3062234" y="2588712"/>
            <a:ext cx="683288" cy="295326"/>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Βέλος: Δεξιό 15">
            <a:extLst>
              <a:ext uri="{FF2B5EF4-FFF2-40B4-BE49-F238E27FC236}">
                <a16:creationId xmlns:a16="http://schemas.microsoft.com/office/drawing/2014/main" id="{317CEE63-612D-C1E8-681A-60922DA74580}"/>
              </a:ext>
            </a:extLst>
          </p:cNvPr>
          <p:cNvSpPr/>
          <p:nvPr/>
        </p:nvSpPr>
        <p:spPr>
          <a:xfrm>
            <a:off x="6226628" y="2073182"/>
            <a:ext cx="683288" cy="295326"/>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7" name="Ορθογώνιο 16">
            <a:extLst>
              <a:ext uri="{FF2B5EF4-FFF2-40B4-BE49-F238E27FC236}">
                <a16:creationId xmlns:a16="http://schemas.microsoft.com/office/drawing/2014/main" id="{068E03F0-D97B-C1B5-9EA9-A79220D07B0C}"/>
              </a:ext>
            </a:extLst>
          </p:cNvPr>
          <p:cNvSpPr/>
          <p:nvPr/>
        </p:nvSpPr>
        <p:spPr>
          <a:xfrm>
            <a:off x="7026830" y="1889258"/>
            <a:ext cx="1533370" cy="663174"/>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Max</a:t>
            </a:r>
            <a:endParaRPr lang="el-GR" dirty="0"/>
          </a:p>
        </p:txBody>
      </p:sp>
      <p:pic>
        <p:nvPicPr>
          <p:cNvPr id="3" name="Εικόνα 2" descr="Εικόνα που περιέχει κείμενο, διάγραμμα, γραμμή, γράφημα&#10;&#10;Περιγραφή που δημιουργήθηκε αυτόματα">
            <a:extLst>
              <a:ext uri="{FF2B5EF4-FFF2-40B4-BE49-F238E27FC236}">
                <a16:creationId xmlns:a16="http://schemas.microsoft.com/office/drawing/2014/main" id="{5BAD845E-5CF5-065F-188B-7FF57A7E27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8272" y="2895756"/>
            <a:ext cx="4728145" cy="3684182"/>
          </a:xfrm>
          <a:prstGeom prst="rect">
            <a:avLst/>
          </a:prstGeom>
        </p:spPr>
      </p:pic>
      <p:pic>
        <p:nvPicPr>
          <p:cNvPr id="15" name="Εικόνα 14" descr="Εικόνα που περιέχει κείμενο, γραμμή, γράφημα, διάγραμμα&#10;&#10;Περιγραφή που δημιουργήθηκε αυτόματα">
            <a:extLst>
              <a:ext uri="{FF2B5EF4-FFF2-40B4-BE49-F238E27FC236}">
                <a16:creationId xmlns:a16="http://schemas.microsoft.com/office/drawing/2014/main" id="{254B7404-7876-A686-BD76-AB30CD4B0F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922" y="3589153"/>
            <a:ext cx="3634155" cy="2831741"/>
          </a:xfrm>
          <a:prstGeom prst="rect">
            <a:avLst/>
          </a:prstGeom>
        </p:spPr>
      </p:pic>
      <p:pic>
        <p:nvPicPr>
          <p:cNvPr id="19" name="Εικόνα 18">
            <a:extLst>
              <a:ext uri="{FF2B5EF4-FFF2-40B4-BE49-F238E27FC236}">
                <a16:creationId xmlns:a16="http://schemas.microsoft.com/office/drawing/2014/main" id="{AED36C7F-2227-C548-928E-F560E9AE7DC9}"/>
              </a:ext>
            </a:extLst>
          </p:cNvPr>
          <p:cNvPicPr>
            <a:picLocks noChangeAspect="1"/>
          </p:cNvPicPr>
          <p:nvPr/>
        </p:nvPicPr>
        <p:blipFill>
          <a:blip r:embed="rId5"/>
          <a:stretch>
            <a:fillRect/>
          </a:stretch>
        </p:blipFill>
        <p:spPr>
          <a:xfrm>
            <a:off x="8735917" y="2008027"/>
            <a:ext cx="3200399" cy="457200"/>
          </a:xfrm>
          <a:prstGeom prst="rect">
            <a:avLst/>
          </a:prstGeom>
        </p:spPr>
      </p:pic>
    </p:spTree>
    <p:extLst>
      <p:ext uri="{BB962C8B-B14F-4D97-AF65-F5344CB8AC3E}">
        <p14:creationId xmlns:p14="http://schemas.microsoft.com/office/powerpoint/2010/main" val="240886712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6E7B403-BF13-1F34-8D16-47626FF94D96}"/>
              </a:ext>
            </a:extLst>
          </p:cNvPr>
          <p:cNvSpPr>
            <a:spLocks noGrp="1"/>
          </p:cNvSpPr>
          <p:nvPr>
            <p:ph type="title"/>
          </p:nvPr>
        </p:nvSpPr>
        <p:spPr>
          <a:xfrm>
            <a:off x="989400" y="1889090"/>
            <a:ext cx="10213200" cy="764546"/>
          </a:xfrm>
        </p:spPr>
        <p:txBody>
          <a:bodyPr>
            <a:normAutofit/>
          </a:bodyPr>
          <a:lstStyle/>
          <a:p>
            <a:pPr algn="ctr"/>
            <a:r>
              <a:rPr lang="el-GR" sz="4400" b="1" dirty="0">
                <a:solidFill>
                  <a:srgbClr val="000000"/>
                </a:solidFill>
                <a:latin typeface="Calibri" panose="020F0502020204030204" pitchFamily="34" charset="0"/>
              </a:rPr>
              <a:t>Ευχαριστώ για την προσοχή σας</a:t>
            </a:r>
          </a:p>
        </p:txBody>
      </p:sp>
      <p:sp>
        <p:nvSpPr>
          <p:cNvPr id="3" name="Τίτλος 1">
            <a:extLst>
              <a:ext uri="{FF2B5EF4-FFF2-40B4-BE49-F238E27FC236}">
                <a16:creationId xmlns:a16="http://schemas.microsoft.com/office/drawing/2014/main" id="{13BBB5BD-41A9-83F5-C41C-9ABFD0B9BFB5}"/>
              </a:ext>
            </a:extLst>
          </p:cNvPr>
          <p:cNvSpPr txBox="1">
            <a:spLocks/>
          </p:cNvSpPr>
          <p:nvPr/>
        </p:nvSpPr>
        <p:spPr>
          <a:xfrm>
            <a:off x="989400" y="3822092"/>
            <a:ext cx="10213200" cy="764546"/>
          </a:xfrm>
          <a:prstGeom prst="rect">
            <a:avLst/>
          </a:prstGeom>
        </p:spPr>
        <p:txBody>
          <a:bodyPr vert="horz" lIns="91440" tIns="45720" rIns="91440" bIns="45720" rtlCol="0" anchor="b" anchorCtr="0">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pPr algn="ctr"/>
            <a:r>
              <a:rPr lang="el-GR" sz="4400" b="1" dirty="0">
                <a:solidFill>
                  <a:srgbClr val="000000"/>
                </a:solidFill>
                <a:latin typeface="Calibri" panose="020F0502020204030204" pitchFamily="34" charset="0"/>
              </a:rPr>
              <a:t>Ερωτήσεις</a:t>
            </a:r>
          </a:p>
        </p:txBody>
      </p:sp>
    </p:spTree>
    <p:extLst>
      <p:ext uri="{BB962C8B-B14F-4D97-AF65-F5344CB8AC3E}">
        <p14:creationId xmlns:p14="http://schemas.microsoft.com/office/powerpoint/2010/main" val="3635377266"/>
      </p:ext>
    </p:extLst>
  </p:cSld>
  <p:clrMapOvr>
    <a:masterClrMapping/>
  </p:clrMapOvr>
  <p:transition spd="slow">
    <p:wipe/>
  </p:transition>
</p:sld>
</file>

<file path=ppt/theme/theme1.xml><?xml version="1.0" encoding="utf-8"?>
<a:theme xmlns:a="http://schemas.openxmlformats.org/drawingml/2006/main" name="FrostyVTI">
  <a:themeElements>
    <a:clrScheme name="AnalogousFromRegularSeedRightStep">
      <a:dk1>
        <a:srgbClr val="000000"/>
      </a:dk1>
      <a:lt1>
        <a:srgbClr val="FFFFFF"/>
      </a:lt1>
      <a:dk2>
        <a:srgbClr val="412439"/>
      </a:dk2>
      <a:lt2>
        <a:srgbClr val="E2E8E4"/>
      </a:lt2>
      <a:accent1>
        <a:srgbClr val="C34DA2"/>
      </a:accent1>
      <a:accent2>
        <a:srgbClr val="B13B5F"/>
      </a:accent2>
      <a:accent3>
        <a:srgbClr val="C35A4D"/>
      </a:accent3>
      <a:accent4>
        <a:srgbClr val="B1793B"/>
      </a:accent4>
      <a:accent5>
        <a:srgbClr val="ACA643"/>
      </a:accent5>
      <a:accent6>
        <a:srgbClr val="87B13B"/>
      </a:accent6>
      <a:hlink>
        <a:srgbClr val="31944D"/>
      </a:hlink>
      <a:folHlink>
        <a:srgbClr val="7F7F7F"/>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1296</Words>
  <Application>Microsoft Office PowerPoint</Application>
  <PresentationFormat>Ευρεία οθόνη</PresentationFormat>
  <Paragraphs>141</Paragraphs>
  <Slides>7</Slides>
  <Notes>5</Notes>
  <HiddenSlides>0</HiddenSlides>
  <MMClips>0</MMClips>
  <ScaleCrop>false</ScaleCrop>
  <HeadingPairs>
    <vt:vector size="6" baseType="variant">
      <vt:variant>
        <vt:lpstr>Γραμματοσειρές που χρησιμοποιούνται</vt:lpstr>
      </vt:variant>
      <vt:variant>
        <vt:i4>6</vt:i4>
      </vt:variant>
      <vt:variant>
        <vt:lpstr>Θέμα</vt:lpstr>
      </vt:variant>
      <vt:variant>
        <vt:i4>1</vt:i4>
      </vt:variant>
      <vt:variant>
        <vt:lpstr>Τίτλοι διαφανειών</vt:lpstr>
      </vt:variant>
      <vt:variant>
        <vt:i4>7</vt:i4>
      </vt:variant>
    </vt:vector>
  </HeadingPairs>
  <TitlesOfParts>
    <vt:vector size="14" baseType="lpstr">
      <vt:lpstr>Arial</vt:lpstr>
      <vt:lpstr>Avenir Next LT Pro</vt:lpstr>
      <vt:lpstr>Calibri</vt:lpstr>
      <vt:lpstr>Goudy Old Style</vt:lpstr>
      <vt:lpstr>Söhne</vt:lpstr>
      <vt:lpstr>Wingdings</vt:lpstr>
      <vt:lpstr>FrostyVTI</vt:lpstr>
      <vt:lpstr>Αναγνώριση Προτύπων</vt:lpstr>
      <vt:lpstr>Μέρος 1 – Ταξινόμηση Εικόνων</vt:lpstr>
      <vt:lpstr>Χρήση προ-εκπαιδευμένου Resnet-18</vt:lpstr>
      <vt:lpstr>Δεδομένα που βρίσκονται σε ενδιάμεση κατάσταση</vt:lpstr>
      <vt:lpstr>Μέρος 2 - Πρόβλεψη πρόσδεσης χημικών μορίων σε βιολογικούς υποδοχείς </vt:lpstr>
      <vt:lpstr>Παρουσίαση του PowerPoint</vt:lpstr>
      <vt:lpstr>Ευχαριστώ για την προσοχή σας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Αναγνώριση Προτύπων</dc:title>
  <dc:creator>Kostas Iatrou</dc:creator>
  <cp:lastModifiedBy>Kostas Iatrou</cp:lastModifiedBy>
  <cp:revision>5</cp:revision>
  <dcterms:created xsi:type="dcterms:W3CDTF">2024-01-20T19:22:00Z</dcterms:created>
  <dcterms:modified xsi:type="dcterms:W3CDTF">2024-01-21T18:29:42Z</dcterms:modified>
</cp:coreProperties>
</file>